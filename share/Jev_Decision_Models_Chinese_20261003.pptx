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4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31.xml" ContentType="application/vnd.openxmlformats-officedocument.presentationml.notesSlide+xml"/>
  <Default Extension="xlsx" ContentType="application/vnd.openxmlformats-officedocument.spreadsheetml.sheet"/>
  <Override PartName="/ppt/theme/ref_theme1.xml" ContentType="application/vnd.openxmlformats-officedocument.theme+xml"/>
  <Override PartName="/ppt/slideMasters/ref_slideMaster1.xml" ContentType="application/vnd.openxmlformats-officedocument.presentationml.slideMaster+xml"/>
  <Override PartName="/ppt/slideMasters/theme/ref_theme2.xml" ContentType="application/vnd.openxmlformats-officedocument.theme+xml"/>
  <Override PartName="/ppt/slideLayouts/ref_slideLayout1.xml" ContentType="application/vnd.openxmlformats-officedocument.presentationml.slideLayout+xml"/>
  <Override PartName="/ppt/slideLayouts/ref_slideLayout2.xml" ContentType="application/vnd.openxmlformats-officedocument.presentationml.slideLayout+xml"/>
  <Override PartName="/ppt/slideLayouts/ref_slideLayout3.xml" ContentType="application/vnd.openxmlformats-officedocument.presentationml.slideLayout+xml"/>
  <Override PartName="/ppt/slideLayouts/ref_slideLayout4.xml" ContentType="application/vnd.openxmlformats-officedocument.presentationml.slideLayout+xml"/>
  <Override PartName="/ppt/slideLayouts/ref_slideLayout5.xml" ContentType="application/vnd.openxmlformats-officedocument.presentationml.slideLayout+xml"/>
  <Override PartName="/ppt/slideLayouts/ref_slideLayout6.xml" ContentType="application/vnd.openxmlformats-officedocument.presentationml.slideLayout+xml"/>
  <Override PartName="/ppt/notesMasters/ref_notesMaster1.xml" ContentType="application/vnd.openxmlformats-officedocument.presentationml.notesMaster+xml"/>
  <Override PartName="/ppt/notesMasters/theme/ref_theme3.xml" ContentType="application/vnd.openxmlformats-officedocument.theme+xml"/>
  <Override PartName="/ppt/ref_presProps.xml" ContentType="application/vnd.openxmlformats-officedocument.presentationml.presProps+xml"/>
  <Override PartName="/ppt/ref_tableStyles.xml" ContentType="application/vnd.openxmlformats-officedocument.presentationml.tableStyles+xml"/>
  <Override PartName="/ppt/slides/ref_slide1.xml" ContentType="application/vnd.openxmlformats-officedocument.presentationml.slide+xml"/>
  <Override PartName="/ppt/notesSlides/ref_notesSlide1.xml" ContentType="application/vnd.openxmlformats-officedocument.presentationml.notesSlide+xml"/>
  <Override PartName="/ppt/slides/ref_slide2.xml" ContentType="application/vnd.openxmlformats-officedocument.presentationml.slide+xml"/>
  <Override PartName="/ppt/notesSlides/ref_notesSlide2.xml" ContentType="application/vnd.openxmlformats-officedocument.presentationml.notesSlide+xml"/>
  <Override PartName="/ppt/slides/ref_slide3.xml" ContentType="application/vnd.openxmlformats-officedocument.presentationml.slide+xml"/>
  <Override PartName="/ppt/notesSlides/ref_notesSlide3.xml" ContentType="application/vnd.openxmlformats-officedocument.presentationml.notesSlide+xml"/>
  <Override PartName="/ppt/slides/ref_slide4.xml" ContentType="application/vnd.openxmlformats-officedocument.presentationml.slide+xml"/>
  <Override PartName="/ppt/notesSlides/ref_notesSlide4.xml" ContentType="application/vnd.openxmlformats-officedocument.presentationml.notesSlide+xml"/>
  <Override PartName="/ppt/slides/ref_slide5.xml" ContentType="application/vnd.openxmlformats-officedocument.presentationml.slide+xml"/>
  <Override PartName="/ppt/notesSlides/ref_notesSlide5.xml" ContentType="application/vnd.openxmlformats-officedocument.presentationml.notesSlide+xml"/>
  <Override PartName="/ppt/slides/ref_slide6.xml" ContentType="application/vnd.openxmlformats-officedocument.presentationml.slide+xml"/>
  <Override PartName="/ppt/notesSlides/ref_notesSlide6.xml" ContentType="application/vnd.openxmlformats-officedocument.presentationml.notesSlide+xml"/>
  <Override PartName="/ppt/slides/ref_slide7.xml" ContentType="application/vnd.openxmlformats-officedocument.presentationml.slide+xml"/>
  <Override PartName="/ppt/notesSlides/ref_notesSlide7.xml" ContentType="application/vnd.openxmlformats-officedocument.presentationml.notesSlide+xml"/>
  <Override PartName="/ppt/slides/ref_slide8.xml" ContentType="application/vnd.openxmlformats-officedocument.presentationml.slide+xml"/>
  <Override PartName="/ppt/notesSlides/ref_notesSlide8.xml" ContentType="application/vnd.openxmlformats-officedocument.presentationml.notesSlide+xml"/>
  <Override PartName="/ppt/slides/ref_slide9.xml" ContentType="application/vnd.openxmlformats-officedocument.presentationml.slide+xml"/>
  <Override PartName="/ppt/notesSlides/ref_notesSlide9.xml" ContentType="application/vnd.openxmlformats-officedocument.presentationml.notesSlide+xml"/>
  <Override PartName="/ppt/slides/ref_slide10.xml" ContentType="application/vnd.openxmlformats-officedocument.presentationml.slide+xml"/>
  <Override PartName="/ppt/notesSlides/ref_notesSlide10.xml" ContentType="application/vnd.openxmlformats-officedocument.presentationml.notesSlide+xml"/>
  <Override PartName="/ppt/slides/ref_slide11.xml" ContentType="application/vnd.openxmlformats-officedocument.presentationml.slide+xml"/>
  <Override PartName="/ppt/notesSlides/ref_notesSlide11.xml" ContentType="application/vnd.openxmlformats-officedocument.presentationml.notesSlide+xml"/>
  <Override PartName="/ppt/slides/ref_slide12.xml" ContentType="application/vnd.openxmlformats-officedocument.presentationml.slide+xml"/>
  <Override PartName="/ppt/notesSlides/ref_notesSlide12.xml" ContentType="application/vnd.openxmlformats-officedocument.presentationml.notesSlide+xml"/>
  <Override PartName="/ppt/slides/ref_slide13.xml" ContentType="application/vnd.openxmlformats-officedocument.presentationml.slide+xml"/>
  <Override PartName="/ppt/notesSlides/ref_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1bdde1db524ba9" /><Relationship Type="http://schemas.openxmlformats.org/officeDocument/2006/relationships/extended-properties" Target="/docProps/app.xml" Id="Rdaedc4ea4be64f51" /><Relationship Type="http://schemas.openxmlformats.org/officeDocument/2006/relationships/officeDocument" Target="/ppt/presentation.xml" Id="R18807f5b140e45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7ded2dcb254b59"/>
    <p:sldMasterId xmlns:ns13="http://schemas.openxmlformats.org/officeDocument/2006/relationships" id="2147483649" ns13:id="rId14"/>
  </p:sldMasterIdLst>
  <p:notesMasterIdLst>
    <p:notesMasterId xmlns:r="http://schemas.openxmlformats.org/officeDocument/2006/relationships" r:id="R37c5281a91954007"/>
  </p:notesMasterIdLst>
  <p:sldIdLst>
    <p:sldId xmlns:r="http://schemas.openxmlformats.org/officeDocument/2006/relationships" id="256" r:id="R443dc2ca84804ed1"/>
    <p:sldId xmlns:r="http://schemas.openxmlformats.org/officeDocument/2006/relationships" id="257" r:id="R502986a19f1f49d5"/>
    <p:sldId xmlns:r="http://schemas.openxmlformats.org/officeDocument/2006/relationships" id="258" r:id="R3d5fe9177fcd414d"/>
    <p:sldId xmlns:r="http://schemas.openxmlformats.org/officeDocument/2006/relationships" id="259" r:id="R8cd17db8d6a74460"/>
    <p:sldId xmlns:r="http://schemas.openxmlformats.org/officeDocument/2006/relationships" id="260" r:id="Rafc915ee9fb640b9"/>
    <p:sldId xmlns:r="http://schemas.openxmlformats.org/officeDocument/2006/relationships" id="261" r:id="R119a274c32854b58"/>
    <p:sldId xmlns:r="http://schemas.openxmlformats.org/officeDocument/2006/relationships" id="262" r:id="R865e503f10cd4e7f"/>
    <p:sldId xmlns:r="http://schemas.openxmlformats.org/officeDocument/2006/relationships" id="263" r:id="R5367a5df12654031"/>
    <p:sldId xmlns:r="http://schemas.openxmlformats.org/officeDocument/2006/relationships" id="264" r:id="R1f87cf0a2bae4312"/>
    <p:sldId xmlns:r="http://schemas.openxmlformats.org/officeDocument/2006/relationships" id="265" r:id="Re5986b293a654e39"/>
    <p:sldId xmlns:r="http://schemas.openxmlformats.org/officeDocument/2006/relationships" id="266" r:id="R7457fcd14d364495"/>
    <p:sldId xmlns:r="http://schemas.openxmlformats.org/officeDocument/2006/relationships" id="267" r:id="R3c66b854655e4948"/>
    <p:sldId xmlns:r="http://schemas.openxmlformats.org/officeDocument/2006/relationships" id="268" r:id="Rea6120e9d38c4a65"/>
    <p:sldId xmlns:r="http://schemas.openxmlformats.org/officeDocument/2006/relationships" id="269" r:id="R2352fcef20214186"/>
    <p:sldId xmlns:r="http://schemas.openxmlformats.org/officeDocument/2006/relationships" id="270" r:id="Rf0b2caef48c74c5a"/>
    <p:sldId xmlns:r="http://schemas.openxmlformats.org/officeDocument/2006/relationships" id="271" r:id="Rc3206037abc24d1e"/>
    <p:sldId xmlns:r="http://schemas.openxmlformats.org/officeDocument/2006/relationships" id="272" r:id="R5757906704654a66"/>
    <p:sldId xmlns:r="http://schemas.openxmlformats.org/officeDocument/2006/relationships" id="273" r:id="Rd5cc9dc9b6334ff7"/>
    <p:sldId xmlns:r="http://schemas.openxmlformats.org/officeDocument/2006/relationships" id="274" r:id="R3627785d73d14bf6"/>
    <p:sldId xmlns:r="http://schemas.openxmlformats.org/officeDocument/2006/relationships" id="275" r:id="R85c29e6731a84f5c"/>
    <p:sldId xmlns:r="http://schemas.openxmlformats.org/officeDocument/2006/relationships" id="276" r:id="R80be0e83c894493d"/>
    <p:sldId xmlns:r="http://schemas.openxmlformats.org/officeDocument/2006/relationships" id="277" r:id="R273290c68d0c4cee"/>
    <p:sldId xmlns:r="http://schemas.openxmlformats.org/officeDocument/2006/relationships" id="278" r:id="R2e93cfea1ab04af1"/>
    <p:sldId xmlns:r="http://schemas.openxmlformats.org/officeDocument/2006/relationships" id="279" r:id="R877c459d3bca4945"/>
    <p:sldId xmlns:r="http://schemas.openxmlformats.org/officeDocument/2006/relationships" id="280" r:id="Rb9fad557e0ee4293"/>
    <p:sldId xmlns:r="http://schemas.openxmlformats.org/officeDocument/2006/relationships" id="281" r:id="R7f08451378fc42d0"/>
    <p:sldId xmlns:r="http://schemas.openxmlformats.org/officeDocument/2006/relationships" id="282" r:id="Rf2a31913f0f44053"/>
    <p:sldId xmlns:r="http://schemas.openxmlformats.org/officeDocument/2006/relationships" id="283" r:id="R64743c2455f6468a"/>
    <p:sldId xmlns:r="http://schemas.openxmlformats.org/officeDocument/2006/relationships" id="284" r:id="Raadde260ab2a4da3"/>
    <p:sldId xmlns:r="http://schemas.openxmlformats.org/officeDocument/2006/relationships" id="285" r:id="Ra426e1034a1c4141"/>
    <p:sldId xmlns:r="http://schemas.openxmlformats.org/officeDocument/2006/relationships" id="286" r:id="R5858b33779fa4a30"/>
    <p:sldId xmlns:ns0="http://schemas.openxmlformats.org/officeDocument/2006/relationships" id="287" ns0:id="rId1"/>
    <p:sldId xmlns:ns1="http://schemas.openxmlformats.org/officeDocument/2006/relationships" id="288" ns1:id="rId2"/>
    <p:sldId xmlns:ns2="http://schemas.openxmlformats.org/officeDocument/2006/relationships" id="289" ns2:id="rId3"/>
    <p:sldId xmlns:ns3="http://schemas.openxmlformats.org/officeDocument/2006/relationships" id="290" ns3:id="rId4"/>
    <p:sldId xmlns:ns4="http://schemas.openxmlformats.org/officeDocument/2006/relationships" id="291" ns4:id="rId5"/>
    <p:sldId xmlns:ns5="http://schemas.openxmlformats.org/officeDocument/2006/relationships" id="292" ns5:id="rId6"/>
    <p:sldId xmlns:ns6="http://schemas.openxmlformats.org/officeDocument/2006/relationships" id="293" ns6:id="rId7"/>
    <p:sldId xmlns:ns7="http://schemas.openxmlformats.org/officeDocument/2006/relationships" id="294" ns7:id="rId8"/>
    <p:sldId xmlns:ns8="http://schemas.openxmlformats.org/officeDocument/2006/relationships" id="295" ns8:id="rId9"/>
    <p:sldId xmlns:ns9="http://schemas.openxmlformats.org/officeDocument/2006/relationships" id="296" ns9:id="rId10"/>
    <p:sldId xmlns:ns10="http://schemas.openxmlformats.org/officeDocument/2006/relationships" id="297" ns10:id="rId11"/>
    <p:sldId xmlns:ns11="http://schemas.openxmlformats.org/officeDocument/2006/relationships" id="298" ns11:id="rId12"/>
    <p:sldId xmlns:ns12="http://schemas.openxmlformats.org/officeDocument/2006/relationships" id="299" ns12:id="rId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ref_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ref_tableStyles.xml><?xml version="1.0" encoding="utf-8"?>
<a:tblStyleLst xmlns:a="http://schemas.openxmlformats.org/drawingml/2006/main" def="{5C22544A-7EE6-4342-B048-85BDC9FD1C3A}"/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a0c9dd05f2e649c5"/><Relationship Type="http://schemas.openxmlformats.org/officeDocument/2006/relationships/slideMaster" Target="/ppt/slideMasters/slideMaster1.xml" Id="Rd87ded2dcb254b59"/><Relationship Type="http://schemas.openxmlformats.org/officeDocument/2006/relationships/notesMaster" Target="/ppt/notesMasters/notesMaster1.xml" Id="R37c5281a91954007"/><Relationship Type="http://schemas.openxmlformats.org/officeDocument/2006/relationships/presProps" Target="/ppt/presProps.xml" Id="R392c95e1225e4ef3"/><Relationship Type="http://schemas.openxmlformats.org/officeDocument/2006/relationships/tableStyles" Target="/ppt/tableStyles.xml" Id="Rb57ee0247b1d4e63"/><Relationship Type="http://schemas.openxmlformats.org/officeDocument/2006/relationships/slide" Target="/ppt/slides/slide1.xml" Id="R443dc2ca84804ed1"/><Relationship Type="http://schemas.openxmlformats.org/officeDocument/2006/relationships/slide" Target="/ppt/slides/slide2.xml" Id="R502986a19f1f49d5"/><Relationship Type="http://schemas.openxmlformats.org/officeDocument/2006/relationships/slide" Target="/ppt/slides/slide3.xml" Id="R3d5fe9177fcd414d"/><Relationship Type="http://schemas.openxmlformats.org/officeDocument/2006/relationships/slide" Target="/ppt/slides/slide4.xml" Id="R8cd17db8d6a74460"/><Relationship Type="http://schemas.openxmlformats.org/officeDocument/2006/relationships/slide" Target="/ppt/slides/slide5.xml" Id="Rafc915ee9fb640b9"/><Relationship Type="http://schemas.openxmlformats.org/officeDocument/2006/relationships/slide" Target="/ppt/slides/slide6.xml" Id="R119a274c32854b58"/><Relationship Type="http://schemas.openxmlformats.org/officeDocument/2006/relationships/slide" Target="/ppt/slides/slide7.xml" Id="R865e503f10cd4e7f"/><Relationship Type="http://schemas.openxmlformats.org/officeDocument/2006/relationships/slide" Target="/ppt/slides/slide8.xml" Id="R5367a5df12654031"/><Relationship Type="http://schemas.openxmlformats.org/officeDocument/2006/relationships/slide" Target="/ppt/slides/slide9.xml" Id="R1f87cf0a2bae4312"/><Relationship Type="http://schemas.openxmlformats.org/officeDocument/2006/relationships/slide" Target="/ppt/slides/slide10.xml" Id="Re5986b293a654e39"/><Relationship Type="http://schemas.openxmlformats.org/officeDocument/2006/relationships/slide" Target="/ppt/slides/slide11.xml" Id="R7457fcd14d364495"/><Relationship Type="http://schemas.openxmlformats.org/officeDocument/2006/relationships/slide" Target="/ppt/slides/slide12.xml" Id="R3c66b854655e4948"/><Relationship Type="http://schemas.openxmlformats.org/officeDocument/2006/relationships/slide" Target="/ppt/slides/slide13.xml" Id="Rea6120e9d38c4a65"/><Relationship Type="http://schemas.openxmlformats.org/officeDocument/2006/relationships/slide" Target="/ppt/slides/slide14.xml" Id="R2352fcef20214186"/><Relationship Type="http://schemas.openxmlformats.org/officeDocument/2006/relationships/slide" Target="/ppt/slides/slide15.xml" Id="Rf0b2caef48c74c5a"/><Relationship Type="http://schemas.openxmlformats.org/officeDocument/2006/relationships/slide" Target="/ppt/slides/slide16.xml" Id="Rc3206037abc24d1e"/><Relationship Type="http://schemas.openxmlformats.org/officeDocument/2006/relationships/slide" Target="/ppt/slides/slide17.xml" Id="R5757906704654a66"/><Relationship Type="http://schemas.openxmlformats.org/officeDocument/2006/relationships/slide" Target="/ppt/slides/slide18.xml" Id="Rd5cc9dc9b6334ff7"/><Relationship Type="http://schemas.openxmlformats.org/officeDocument/2006/relationships/slide" Target="/ppt/slides/slide19.xml" Id="R3627785d73d14bf6"/><Relationship Type="http://schemas.openxmlformats.org/officeDocument/2006/relationships/slide" Target="/ppt/slides/slide20.xml" Id="R85c29e6731a84f5c"/><Relationship Type="http://schemas.openxmlformats.org/officeDocument/2006/relationships/slide" Target="/ppt/slides/slide21.xml" Id="R80be0e83c894493d"/><Relationship Type="http://schemas.openxmlformats.org/officeDocument/2006/relationships/slide" Target="/ppt/slides/slide22.xml" Id="R273290c68d0c4cee"/><Relationship Type="http://schemas.openxmlformats.org/officeDocument/2006/relationships/slide" Target="/ppt/slides/slide23.xml" Id="R2e93cfea1ab04af1"/><Relationship Type="http://schemas.openxmlformats.org/officeDocument/2006/relationships/slide" Target="/ppt/slides/slide24.xml" Id="R877c459d3bca4945"/><Relationship Type="http://schemas.openxmlformats.org/officeDocument/2006/relationships/slide" Target="/ppt/slides/slide25.xml" Id="Rb9fad557e0ee4293"/><Relationship Type="http://schemas.openxmlformats.org/officeDocument/2006/relationships/slide" Target="/ppt/slides/slide26.xml" Id="R7f08451378fc42d0"/><Relationship Type="http://schemas.openxmlformats.org/officeDocument/2006/relationships/slide" Target="/ppt/slides/slide27.xml" Id="Rf2a31913f0f44053"/><Relationship Type="http://schemas.openxmlformats.org/officeDocument/2006/relationships/slide" Target="/ppt/slides/slide28.xml" Id="R64743c2455f6468a"/><Relationship Type="http://schemas.openxmlformats.org/officeDocument/2006/relationships/slide" Target="/ppt/slides/slide29.xml" Id="Raadde260ab2a4da3"/><Relationship Type="http://schemas.openxmlformats.org/officeDocument/2006/relationships/slide" Target="/ppt/slides/slide30.xml" Id="Ra426e1034a1c4141"/><Relationship Type="http://schemas.openxmlformats.org/officeDocument/2006/relationships/slide" Target="/ppt/slides/slide31.xml" Id="R5858b33779fa4a30"/><Relationship Id="rId1" Type="http://schemas.openxmlformats.org/officeDocument/2006/relationships/slide" Target="slides/ref_slide1.xml"/><Relationship Id="rId2" Type="http://schemas.openxmlformats.org/officeDocument/2006/relationships/slide" Target="slides/ref_slide2.xml"/><Relationship Id="rId3" Type="http://schemas.openxmlformats.org/officeDocument/2006/relationships/slide" Target="slides/ref_slide3.xml"/><Relationship Id="rId4" Type="http://schemas.openxmlformats.org/officeDocument/2006/relationships/slide" Target="slides/ref_slide4.xml"/><Relationship Id="rId5" Type="http://schemas.openxmlformats.org/officeDocument/2006/relationships/slide" Target="slides/ref_slide5.xml"/><Relationship Id="rId6" Type="http://schemas.openxmlformats.org/officeDocument/2006/relationships/slide" Target="slides/ref_slide6.xml"/><Relationship Id="rId7" Type="http://schemas.openxmlformats.org/officeDocument/2006/relationships/slide" Target="slides/ref_slide7.xml"/><Relationship Id="rId8" Type="http://schemas.openxmlformats.org/officeDocument/2006/relationships/slide" Target="slides/ref_slide8.xml"/><Relationship Id="rId9" Type="http://schemas.openxmlformats.org/officeDocument/2006/relationships/slide" Target="slides/ref_slide9.xml"/><Relationship Id="rId10" Type="http://schemas.openxmlformats.org/officeDocument/2006/relationships/slide" Target="slides/ref_slide10.xml"/><Relationship Id="rId11" Type="http://schemas.openxmlformats.org/officeDocument/2006/relationships/slide" Target="slides/ref_slide11.xml"/><Relationship Id="rId12" Type="http://schemas.openxmlformats.org/officeDocument/2006/relationships/slide" Target="slides/ref_slide12.xml"/><Relationship Id="rId13" Type="http://schemas.openxmlformats.org/officeDocument/2006/relationships/slide" Target="slides/ref_slide13.xml"/><Relationship Id="rId14" Type="http://schemas.openxmlformats.org/officeDocument/2006/relationships/slideMaster" Target="slideMasters/ref_slideMaster1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f1348d3834482b" /></Relationships>
</file>

<file path=ppt/notesMasters/_rels/ref_notesMaster1.xml.rels><?xml version='1.0' encoding='UTF-8' standalone='yes'?>
<Relationships xmlns="http://schemas.openxmlformats.org/package/2006/relationships"><Relationship Type="http://schemas.openxmlformats.org/officeDocument/2006/relationships/theme" Target="theme/ref_theme3.xml" Id="R7ae1afbbcba3473c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ref_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ref_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34f0ac66af44e9" /><Relationship Type="http://schemas.openxmlformats.org/officeDocument/2006/relationships/notesMaster" Target="/ppt/notesMasters/notesMaster1.xml" Id="R1354cbe946fe4f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05711722614aec" /><Relationship Type="http://schemas.openxmlformats.org/officeDocument/2006/relationships/notesMaster" Target="/ppt/notesMasters/notesMaster1.xml" Id="R64d198782cf84e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c61f31204941d2" /><Relationship Type="http://schemas.openxmlformats.org/officeDocument/2006/relationships/notesMaster" Target="/ppt/notesMasters/notesMaster1.xml" Id="Rb0e77e1543a447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79ec7ec2104dc5" /><Relationship Type="http://schemas.openxmlformats.org/officeDocument/2006/relationships/notesMaster" Target="/ppt/notesMasters/notesMaster1.xml" Id="R73f6fe41dcb949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f16c6d30f04005" /><Relationship Type="http://schemas.openxmlformats.org/officeDocument/2006/relationships/notesMaster" Target="/ppt/notesMasters/notesMaster1.xml" Id="R931a8786131649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2f097ce07f4560" /><Relationship Type="http://schemas.openxmlformats.org/officeDocument/2006/relationships/notesMaster" Target="/ppt/notesMasters/notesMaster1.xml" Id="Rf6b249664fcd46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840c42f2d44b83" /><Relationship Type="http://schemas.openxmlformats.org/officeDocument/2006/relationships/notesMaster" Target="/ppt/notesMasters/notesMaster1.xml" Id="R832b358405aa47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397ed53c47476e" /><Relationship Type="http://schemas.openxmlformats.org/officeDocument/2006/relationships/notesMaster" Target="/ppt/notesMasters/notesMaster1.xml" Id="R110d2873433747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1feecbe70c41d4" /><Relationship Type="http://schemas.openxmlformats.org/officeDocument/2006/relationships/notesMaster" Target="/ppt/notesMasters/notesMaster1.xml" Id="Rf5851e04b3434d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4c35b72959411f" /><Relationship Type="http://schemas.openxmlformats.org/officeDocument/2006/relationships/notesMaster" Target="/ppt/notesMasters/notesMaster1.xml" Id="R36dbb63329d647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9a881297a34476" /><Relationship Type="http://schemas.openxmlformats.org/officeDocument/2006/relationships/notesMaster" Target="/ppt/notesMasters/notesMaster1.xml" Id="R333622e51a164cd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197b41d5734cf4" /><Relationship Type="http://schemas.openxmlformats.org/officeDocument/2006/relationships/notesMaster" Target="/ppt/notesMasters/notesMaster1.xml" Id="R009fd32c2d93453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ce4cfae734640ab" /><Relationship Type="http://schemas.openxmlformats.org/officeDocument/2006/relationships/notesMaster" Target="/ppt/notesMasters/notesMaster1.xml" Id="R846b333f26cc4f3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741f0f2a8454137" /><Relationship Type="http://schemas.openxmlformats.org/officeDocument/2006/relationships/notesMaster" Target="/ppt/notesMasters/notesMaster1.xml" Id="Rd8f8be3b2c04430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edac7c97a43411c" /><Relationship Type="http://schemas.openxmlformats.org/officeDocument/2006/relationships/notesMaster" Target="/ppt/notesMasters/notesMaster1.xml" Id="R6117e1625ff94c0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66ae8ef69c04266" /><Relationship Type="http://schemas.openxmlformats.org/officeDocument/2006/relationships/notesMaster" Target="/ppt/notesMasters/notesMaster1.xml" Id="R970cc41bf0cf4f1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4e975c40f2a48cb" /><Relationship Type="http://schemas.openxmlformats.org/officeDocument/2006/relationships/notesMaster" Target="/ppt/notesMasters/notesMaster1.xml" Id="Rdf7d1c3862b74bf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d4bc3c7950042b7" /><Relationship Type="http://schemas.openxmlformats.org/officeDocument/2006/relationships/notesMaster" Target="/ppt/notesMasters/notesMaster1.xml" Id="R1283fd6a0ce04cb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3b05cb73c9f4fcc" /><Relationship Type="http://schemas.openxmlformats.org/officeDocument/2006/relationships/notesMaster" Target="/ppt/notesMasters/notesMaster1.xml" Id="Rc34094e3fa65487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65f023509a94149" /><Relationship Type="http://schemas.openxmlformats.org/officeDocument/2006/relationships/notesMaster" Target="/ppt/notesMasters/notesMaster1.xml" Id="Rd16e52196aa0454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1572e34a74545dd" /><Relationship Type="http://schemas.openxmlformats.org/officeDocument/2006/relationships/notesMaster" Target="/ppt/notesMasters/notesMaster1.xml" Id="R45ab3231064b461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3e53295638d420d" /><Relationship Type="http://schemas.openxmlformats.org/officeDocument/2006/relationships/notesMaster" Target="/ppt/notesMasters/notesMaster1.xml" Id="R54b201c2b8574c4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4f6e457c10540ce" /><Relationship Type="http://schemas.openxmlformats.org/officeDocument/2006/relationships/notesMaster" Target="/ppt/notesMasters/notesMaster1.xml" Id="R4d57720fbb43404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0c5627d746a413c" /><Relationship Type="http://schemas.openxmlformats.org/officeDocument/2006/relationships/notesMaster" Target="/ppt/notesMasters/notesMaster1.xml" Id="R0087e75c9eba456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c35f19eb68b483f" /><Relationship Type="http://schemas.openxmlformats.org/officeDocument/2006/relationships/notesMaster" Target="/ppt/notesMasters/notesMaster1.xml" Id="R52bb9d2965c6444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72f94580a674180" /><Relationship Type="http://schemas.openxmlformats.org/officeDocument/2006/relationships/notesMaster" Target="/ppt/notesMasters/notesMaster1.xml" Id="Reef9b7f5202945a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0fac483d44144e8" /><Relationship Type="http://schemas.openxmlformats.org/officeDocument/2006/relationships/notesMaster" Target="/ppt/notesMasters/notesMaster1.xml" Id="R8941a437ddd74bb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53d85533c81453f" /><Relationship Type="http://schemas.openxmlformats.org/officeDocument/2006/relationships/notesMaster" Target="/ppt/notesMasters/notesMaster1.xml" Id="Rc09f680a44da498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25664d8fea24fb3" /><Relationship Type="http://schemas.openxmlformats.org/officeDocument/2006/relationships/notesMaster" Target="/ppt/notesMasters/notesMaster1.xml" Id="Rbca9ed27f0da4de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5e524d55abc4b37" /><Relationship Type="http://schemas.openxmlformats.org/officeDocument/2006/relationships/notesMaster" Target="/ppt/notesMasters/notesMaster1.xml" Id="Rb9874e16cf3c418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cfde880401941b3" /><Relationship Type="http://schemas.openxmlformats.org/officeDocument/2006/relationships/notesMaster" Target="/ppt/notesMasters/notesMaster1.xml" Id="Rca80c842dac14037" /></Relationships>
</file>

<file path=ppt/notesSlides/_rels/ref_notesSlide1.xml.rels><?xml version='1.0' encoding='UTF-8' standalone='yes'?>
<Relationships xmlns="http://schemas.openxmlformats.org/package/2006/relationships"><Relationship Type="http://schemas.openxmlformats.org/officeDocument/2006/relationships/slide" Target="../slides/ref_slide1.xml" Id="Rc7899ee8e2ae4271"/><Relationship Type="http://schemas.openxmlformats.org/officeDocument/2006/relationships/notesMaster" Target="../notesMasters/ref_notesMaster1.xml" Id="R286f836492804bec"/></Relationships>
</file>

<file path=ppt/notesSlides/_rels/ref_notesSlide2.xml.rels><?xml version='1.0' encoding='UTF-8' standalone='yes'?>
<Relationships xmlns="http://schemas.openxmlformats.org/package/2006/relationships"><Relationship Type="http://schemas.openxmlformats.org/officeDocument/2006/relationships/slide" Target="../slides/ref_slide2.xml" Id="R608586efd90e4de4"/><Relationship Type="http://schemas.openxmlformats.org/officeDocument/2006/relationships/notesMaster" Target="../notesMasters/ref_notesMaster1.xml" Id="Rfa6288ec75bd4776"/></Relationships>
</file>

<file path=ppt/notesSlides/_rels/ref_notesSlide3.xml.rels><?xml version='1.0' encoding='UTF-8' standalone='yes'?>
<Relationships xmlns="http://schemas.openxmlformats.org/package/2006/relationships"><Relationship Type="http://schemas.openxmlformats.org/officeDocument/2006/relationships/slide" Target="../slides/ref_slide3.xml" Id="R5875607cf2ef4762"/><Relationship Type="http://schemas.openxmlformats.org/officeDocument/2006/relationships/notesMaster" Target="../notesMasters/ref_notesMaster1.xml" Id="Rfefa18da3de6424d"/></Relationships>
</file>

<file path=ppt/notesSlides/_rels/ref_notesSlide4.xml.rels><?xml version='1.0' encoding='UTF-8' standalone='yes'?>
<Relationships xmlns="http://schemas.openxmlformats.org/package/2006/relationships"><Relationship Type="http://schemas.openxmlformats.org/officeDocument/2006/relationships/slide" Target="../slides/ref_slide4.xml" Id="Rc48eba0b70c24b5e"/><Relationship Type="http://schemas.openxmlformats.org/officeDocument/2006/relationships/notesMaster" Target="../notesMasters/ref_notesMaster1.xml" Id="Rc3729d3375574967"/></Relationships>
</file>

<file path=ppt/notesSlides/_rels/ref_notesSlide5.xml.rels><?xml version='1.0' encoding='UTF-8' standalone='yes'?>
<Relationships xmlns="http://schemas.openxmlformats.org/package/2006/relationships"><Relationship Type="http://schemas.openxmlformats.org/officeDocument/2006/relationships/slide" Target="../slides/ref_slide5.xml" Id="R1310826a2d90431b"/><Relationship Type="http://schemas.openxmlformats.org/officeDocument/2006/relationships/notesMaster" Target="../notesMasters/ref_notesMaster1.xml" Id="Rb19acacd81334c34"/></Relationships>
</file>

<file path=ppt/notesSlides/_rels/ref_notesSlide6.xml.rels><?xml version='1.0' encoding='UTF-8' standalone='yes'?>
<Relationships xmlns="http://schemas.openxmlformats.org/package/2006/relationships"><Relationship Type="http://schemas.openxmlformats.org/officeDocument/2006/relationships/slide" Target="../slides/ref_slide6.xml" Id="R47d9aaf9bf5046b8"/><Relationship Type="http://schemas.openxmlformats.org/officeDocument/2006/relationships/notesMaster" Target="../notesMasters/ref_notesMaster1.xml" Id="R2e51b76978a54d5b"/></Relationships>
</file>

<file path=ppt/notesSlides/_rels/ref_notesSlide7.xml.rels><?xml version='1.0' encoding='UTF-8' standalone='yes'?>
<Relationships xmlns="http://schemas.openxmlformats.org/package/2006/relationships"><Relationship Type="http://schemas.openxmlformats.org/officeDocument/2006/relationships/slide" Target="../slides/ref_slide7.xml" Id="R944674e8420b44f8"/><Relationship Type="http://schemas.openxmlformats.org/officeDocument/2006/relationships/notesMaster" Target="../notesMasters/ref_notesMaster1.xml" Id="R65548da007954edc"/></Relationships>
</file>

<file path=ppt/notesSlides/_rels/ref_notesSlide8.xml.rels><?xml version='1.0' encoding='UTF-8' standalone='yes'?>
<Relationships xmlns="http://schemas.openxmlformats.org/package/2006/relationships"><Relationship Type="http://schemas.openxmlformats.org/officeDocument/2006/relationships/slide" Target="../slides/ref_slide8.xml" Id="R0c8dc2385b224df0"/><Relationship Type="http://schemas.openxmlformats.org/officeDocument/2006/relationships/notesMaster" Target="../notesMasters/ref_notesMaster1.xml" Id="Rbcc32f05506c44f9"/></Relationships>
</file>

<file path=ppt/notesSlides/_rels/ref_notesSlide9.xml.rels><?xml version='1.0' encoding='UTF-8' standalone='yes'?>
<Relationships xmlns="http://schemas.openxmlformats.org/package/2006/relationships"><Relationship Type="http://schemas.openxmlformats.org/officeDocument/2006/relationships/slide" Target="../slides/ref_slide9.xml" Id="R15432283e3304e58"/><Relationship Type="http://schemas.openxmlformats.org/officeDocument/2006/relationships/notesMaster" Target="../notesMasters/ref_notesMaster1.xml" Id="Rffb5a77141fb4413"/></Relationships>
</file>

<file path=ppt/notesSlides/_rels/ref_notesSlide10.xml.rels><?xml version='1.0' encoding='UTF-8' standalone='yes'?>
<Relationships xmlns="http://schemas.openxmlformats.org/package/2006/relationships"><Relationship Type="http://schemas.openxmlformats.org/officeDocument/2006/relationships/slide" Target="../slides/ref_slide10.xml" Id="Rbd329792e86d43e8"/><Relationship Type="http://schemas.openxmlformats.org/officeDocument/2006/relationships/notesMaster" Target="../notesMasters/ref_notesMaster1.xml" Id="R43eb23b50462408c"/></Relationships>
</file>

<file path=ppt/notesSlides/_rels/ref_notesSlide11.xml.rels><?xml version='1.0' encoding='UTF-8' standalone='yes'?>
<Relationships xmlns="http://schemas.openxmlformats.org/package/2006/relationships"><Relationship Type="http://schemas.openxmlformats.org/officeDocument/2006/relationships/slide" Target="../slides/ref_slide11.xml" Id="Rbf720a0985654935"/><Relationship Type="http://schemas.openxmlformats.org/officeDocument/2006/relationships/notesMaster" Target="../notesMasters/ref_notesMaster1.xml" Id="R421ff3fbc80f4510"/></Relationships>
</file>

<file path=ppt/notesSlides/_rels/ref_notesSlide12.xml.rels><?xml version='1.0' encoding='UTF-8' standalone='yes'?>
<Relationships xmlns="http://schemas.openxmlformats.org/package/2006/relationships"><Relationship Type="http://schemas.openxmlformats.org/officeDocument/2006/relationships/slide" Target="../slides/ref_slide12.xml" Id="R989a3207032e4f74"/><Relationship Type="http://schemas.openxmlformats.org/officeDocument/2006/relationships/notesMaster" Target="../notesMasters/ref_notesMaster1.xml" Id="Re1a95dbf1a6d4f90"/></Relationships>
</file>

<file path=ppt/notesSlides/_rels/ref_notesSlide13.xml.rels><?xml version='1.0' encoding='UTF-8' standalone='yes'?>
<Relationships xmlns="http://schemas.openxmlformats.org/package/2006/relationships"><Relationship Type="http://schemas.openxmlformats.org/officeDocument/2006/relationships/slide" Target="../slides/ref_slide13.xml" Id="Rf53d103edb824d20"/><Relationship Type="http://schemas.openxmlformats.org/officeDocument/2006/relationships/notesMaster" Target="../notesMasters/ref_notesMaster1.xml" Id="R83686f0ea1d54a28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0.7分钟。开场先读这句话，请大家想一下：如果产品里分别有翻译入口、数字人入口和工作流入口，这句话该送到哪儿？我们今天一直沿着这个问题走。前半场看决策接口究竟做什么，后半场看一组真实运行记录：模型多答对了哪些题，哪些错还在，以及分数能不能直接拿来做自动处理。</a:t>
            </a:r>
          </a:p>
          <a:p xmlns:a="http://schemas.openxmlformats.org/drawingml/2006/main">
            <a:r>
              <a:t>这里的业务句子是教学例子，实验数字来自已完成的合成教学试点。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来源：https://docs.typesafe.ai/primitives/choice</a:t>
            </a:r>
          </a:p>
          <a:p xmlns:a="http://schemas.openxmlformats.org/drawingml/2006/main">
            <a:r>
              <a:t>https://github.com/datawhalechina/jev-cookbook</a:t>
            </a:r>
          </a:p>
          <a:p xmlns:a="http://schemas.openxmlformats.org/drawingml/2006/main">
            <a:r>
              <a:t>全部为合成、AI复核的教学试点。数据集tutorial-intent-v1.0，train150/dev50/calibration50/test50行，来源组144/45/45/45。来源组、ID及规范化精确文本跨split无重合，但不证明语义独立。test已查看，本次补跑不应称为新鲜独立盲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1分钟。这里不是在找一句话里出现了哪个关键词。翻译和数字人两个词都出现了，但用户给了明确的先后关系和最终目标，所以整体归工作流。否则，系统可能做对了一个局部任务，却漏掉用户真正要完成的整件事。只有入口互斥且用户没决定，或者连处理类型都判断不出来，才归clarify。缺少欢迎词文本是后续执行参数问题，不会自动让入口变成clarif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来源：本次tutorial-intent-v1.0标注规范第4–6节。此页为解释性示例，不是新增测试结果。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1分钟。可以在这页播放短片①，沿着一条请求依次点亮处理环节。图左是一次决策，图右才是工作流执行。模型选中agent_workflow并不表示已经调用翻译服务、上传文本或者开始播报，也不替用户批准任何动作。我们可以把它比作分流员，但这只是功能比喻，不表示模型具有人类的理解或推理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来源：https://docs.typesafe.ai/primitives/choice</a:t>
            </a:r>
          </a:p>
          <a:p xmlns:a="http://schemas.openxmlformats.org/drawingml/2006/main">
            <a:r>
              <a:t>本次标注规范：路由判断、执行参数收集、安全判断、权限确认分别处理。图为业务流程设计，不是Jev网络结构。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1.5分钟。左边是一组三选一的人工概率：工作流60%、翻译30%、数字人10%。choice取最高的那个。probabilities保留整个候选分布。TypeSafe还单独返回一个叫confidence的数：三选一时，随机平均点是三分之一，这里按公式把0.60重新换算成0.40。这与最大选项概率0.60是不同字段，更不是“这条一定有40%的概率答对”。后面讲校准时，我们看的都是最高选项概率与实际命中率的关系。真实五分类实验还包含clarify和oth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来源：https://docs.typesafe.ai/confidence</a:t>
            </a:r>
          </a:p>
          <a:p xmlns:a="http://schemas.openxmlformats.org/drawingml/2006/main">
            <a:r>
              <a:t>https://docs.typesafe.ai/primitives/choice</a:t>
            </a:r>
          </a:p>
          <a:p xmlns:a="http://schemas.openxmlformats.org/drawingml/2006/main">
            <a:r>
              <a:t>Choice confidence=(max(p)−1/N)/(1−1/N)。本页N=3，max(p)=0.6，confidence=0.4。不同项目同名字段可能使用不同公式，不可直接共用阈值。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1分钟。把术语落到同一份译文上。要把请求送到哪个入口，是选一个类别。要问某个条件有没有遗漏，是判断一个命题。要评价流畅程度，需要事先定义差、中、好这样的有序等级。示例译文漏掉了时间条件，所以不能只凭读着顺就放行。实际业务还要定义每项标准，并验证模型能否稳定识别这些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来源：https://docs.typesafe.ai/introduction</a:t>
            </a:r>
          </a:p>
          <a:p xmlns:a="http://schemas.openxmlformats.org/drawingml/2006/main">
            <a:r>
              <a:t>https://docs.typesafe.ai/confidence</a:t>
            </a:r>
          </a:p>
          <a:p xmlns:a="http://schemas.openxmlformats.org/drawingml/2006/main">
            <a:r>
              <a:t>Choice、Score返回confidence；Noul返回0–1真值概率，没有单独confidence字段。示例译文及判断仅用于教学。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1分钟。有限选项的好处是容易接代码，代价是正确选项必须先在集合里。本例没有要求外部工具执行，只是想听电影推荐，按标签政策归other。给出的三个业务入口都不适合。即使某个选项拿了最高分，也不表示它是正确的业务动作。因此我们保留other和clarify两个出口，并单独测试它们。添加名字还不够，模型必须真的学会什么时候使用它们。分流以后，实际动作仍需要已有的认证和授权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来源：https://docs.typesafe.ai/primitives/choice</a:t>
            </a:r>
          </a:p>
          <a:p xmlns:a="http://schemas.openxmlformats.org/drawingml/2006/main">
            <a:r>
              <a:t>https://docs.typesafe.ai/guides/jaggedness</a:t>
            </a:r>
          </a:p>
          <a:p xmlns:a="http://schemas.openxmlformats.org/drawingml/2006/main">
            <a:r>
              <a:t>https://developers.google.com/machine-learning/crash-course/classification?hl=zh-cn</a:t>
            </a:r>
          </a:p>
          <a:p xmlns:a="http://schemas.openxmlformats.org/drawingml/2006/main">
            <a:r>
              <a:t>本页为候选边界示意，未展示实测概率。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1分钟。先看一种能检查源码的实现。文字和候选进入Laya的编码器，变成供后面计算使用的特征，决策头再对候选打分。后面的训练实验就围绕“改最后一关，还是在前面也加可训练部分”来做。官方Jev的完整内部结构没有公开。网上的黑箱研究提出因果骨干、共享前缀缓存、读出头等假说，但同一种外部行为可能对应多种内部实现，因此不能把猜测画成官方架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来源：https://github.com/NandhaKishorM/laya</a:t>
            </a:r>
          </a:p>
          <a:p xmlns:a="http://schemas.openxmlformats.org/drawingml/2006/main">
            <a:r>
              <a:t>https://archerhume.com/posts/jevs-architecture-unmasked</a:t>
            </a:r>
          </a:p>
          <a:p xmlns:a="http://schemas.openxmlformats.org/drawingml/2006/main">
            <a:r>
              <a:t>https://typesafe.ai/blog/introducing-system-one-models-and-jev</a:t>
            </a:r>
          </a:p>
          <a:p xmlns:a="http://schemas.openxmlformats.org/drawingml/2006/main">
            <a:r>
              <a:t>Hume研究对象Jev 1.13.0，2026-09-17。因果骨干、共享前缀KV缓存、读出头形状，尤其稀疏MoE均为独立假说。BERT分类、零样本NLI、RouteLLM和GLiClass等已有相关前身，不能把分类或动态标签宣称为Jev独创。System 1/2只作工程类比，不证明网络结构。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1分钟。如果目标是先尝试接口，可以直接调用托管Jev，先把业务规则、上下文和候选写清楚。官方说明同一套权重服务不同账户，目前不提供客户微调或LoRA。如果希望检查内部计算、控制本地环境，或者针对业务样本训练，可以选择开放路线。本次实际训练的是Laya，不能写成“我们训练了官方Jev”。PyTRIO是训练基础设施，其社区教程是一套Qwen3.5-4B LoRA监督训练配方。Intern-Decision提供另一套基于Qwen3.5的开放实现，细节放在附录。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来源：https://docs.typesafe.ai/models</a:t>
            </a:r>
          </a:p>
          <a:p xmlns:a="http://schemas.openxmlformats.org/drawingml/2006/main">
            <a:r>
              <a:t>https://github.com/NandhaKishorM/laya</a:t>
            </a:r>
          </a:p>
          <a:p xmlns:a="http://schemas.openxmlformats.org/drawingml/2006/main">
            <a:r>
              <a:t>https://pytrio.com/</a:t>
            </a:r>
          </a:p>
          <a:p xmlns:a="http://schemas.openxmlformats.org/drawingml/2006/main">
            <a:r>
              <a:t>https://github.com/KMnO4-zx/agentic-rl-lab/tree/main/09-pytrio-jev</a:t>
            </a:r>
          </a:p>
          <a:p xmlns:a="http://schemas.openxmlformats.org/drawingml/2006/main">
            <a:r>
              <a:t>https://github.com/InternLM/Intern-Decision/blob/main/README_zh-CN.md</a:t>
            </a:r>
          </a:p>
          <a:p xmlns:a="http://schemas.openxmlformats.org/drawingml/2006/main">
            <a:r>
              <a:t>相似API不等于相同内部架构；第三方结果需独立业务复测。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1.5分钟。把模型想成前面的文字特征处理加最后的决策头。Head-only固定前面的原权重，只训练最后的决策头。LoRA仍然固定原始骨干权重，但在编码器的注意力层加入少量可训练适配参数，本次也一起训练决策头。它给模型更多适配业务边界的空间，并不保证一定会理解得更深，最终还要看没用于训练的样本。两种方法都使用监督交叉熵，不是复现官方RLC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来源：https://arxiv.org/abs/2106.09685</a:t>
            </a:r>
          </a:p>
          <a:p xmlns:a="http://schemas.openxmlformats.org/drawingml/2006/main">
            <a:r>
              <a:t>本次experiment.json记录：ModernBERT LoRA (Wqkv and attention Wo) + decision head；act_head frozen；rank=8，alpha=16，dropout=0.05。灰色指原权重固定，蓝色指训练对象。</a:t>
            </a:r>
          </a:p>
          <a:p xmlns:a="http://schemas.openxmlformats.org/drawingml/2006/main">
            <a:r>
              <a:t>原始结果：https://chatgpt.com/api/library/files/libfile_d4910201fa50819194bebcca6788715a/download</a:t>
            </a:r>
          </a:p>
          <a:p xmlns:a="http://schemas.openxmlformats.org/drawingml/2006/main">
            <a:r>
              <a:t>原始截图：https://chatgpt.com/api/library/files/libfile_b7e320e21f9c8191bc15c3425ee19cfd/download</a:t>
            </a:r>
          </a:p>
          <a:p xmlns:a="http://schemas.openxmlformats.org/drawingml/2006/main">
            <a:r>
              <a:t>LoRA补跑：https://chatgpt.com/api/library/files/libfile_01a051c957c08191915b178b6ae0028f/download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1.5分钟。四份数据分工不同。train用来改变参数。dev帮助选哪一轮模型。calibration只用来调整分数的刻度。test拿来看最终表现。不能拿考试成绩反复挑规则，然后还叫它独立考试。这里每类数量均衡，四份实际来源组分别144、45、45、45。我们检查了来源组、ID和规范化精确文本没有跨份重合，但这不能证明语义独立。所有样本都由AI合成并复核，还没有人工审阅，也不能代表线上请求分布。</a:t>
            </a:r>
          </a:p>
          <a:p xmlns:a="http://schemas.openxmlformats.org/drawingml/2006/main">
            <a:r>
              <a:t>本轮LoRA补跑时，Head-only test结果已经看过，因此整个流程不能称为新鲜的独立盲测。另有20条challenge保留在数据包中，未计入本页300条，也未用于本轮训练或温度拟合。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来源：tutorial-intent-v1.0标注规范及数据文件。</a:t>
            </a:r>
          </a:p>
          <a:p xmlns:a="http://schemas.openxmlformats.org/drawingml/2006/main">
            <a:r>
              <a:t>全部为合成、AI复核的教学试点。数据集tutorial-intent-v1.0，train150/dev50/calibration50/test50行，来源组144/45/45/45。来源组、ID及规范化精确文本跨split无重合，但不证明语义独立。test已查看，本次补跑不应称为新鲜独立盲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1分钟。smoke就是冒烟测试，先确认请求能成功发送、结果字段能解析、候选标签能对上。这十道合成题里，DeepSeek命中9道，Jev8道，Laya7道。样本太少，运行条件也不同，所以不把这张图当排行榜。DeepSeek的提示要求生成完整的五类概率JSON，不是只输出一个标签。它生成的数字也不能直接当成经过校准的概率。</a:t>
            </a:r>
          </a:p>
          <a:p xmlns:a="http://schemas.openxmlformats.org/drawingml/2006/main">
            <a:r>
              <a:t>具体到demo-000，让主持数字人使用已确认台词播报，三者都选digital_human，最高概率依次90%、76%、97.66%。分数字段的含义与算法不同，因此不靠这些数字判断谁更可靠。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来源：E01/E02真实smoke响应。DeepSeek deepseek-chat；Jev jev-1.13.0；Laya laya-rl-agent。</a:t>
            </a:r>
          </a:p>
          <a:p xmlns:a="http://schemas.openxmlformats.org/drawingml/2006/main">
            <a:r>
              <a:t>原始结果：https://chatgpt.com/api/library/files/libfile_d4910201fa50819194bebcca6788715a/download</a:t>
            </a:r>
          </a:p>
          <a:p xmlns:a="http://schemas.openxmlformats.org/drawingml/2006/main">
            <a:r>
              <a:t>原始截图：https://chatgpt.com/api/library/files/libfile_b7e320e21f9c8191bc15c3425ee19cfd/download</a:t>
            </a:r>
          </a:p>
          <a:p xmlns:a="http://schemas.openxmlformats.org/drawingml/2006/main">
            <a:r>
              <a:t>LoRA补跑：https://chatgpt.com/api/library/files/libfile_01a051c957c08191915b178b6ae0028f/download</a:t>
            </a:r>
          </a:p>
          <a:p xmlns:a="http://schemas.openxmlformats.org/drawingml/2006/main">
            <a:r>
              <a:t>硬件、网络与服务条件不同，不比较速度倍数。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1.5分钟。先看左图。Head-only每一轮都答对27道，准确率一直54%。LoRA后几轮逐步上升，第四轮答对35道，70%。右图是交叉熵，可以先理解为给参考答案的概率太低时会被扣分。即使第一名还没换，给正确答案多一点概率，扣分也可能下降，所以Head-only右图下降与左图不变并不矛盾。两种方法都按dev交叉熵选第4轮。接着还要看test，不能只拿开发集作为最终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来源：E03原始CSV训练曲线。Head-only CE 1.666407→1.237449；LoRA 1.666407→0.809985。训练为4090 D。原始结果：https://chatgpt.com/api/library/files/libfile_d4910201fa50819194bebcca6788715a/download</a:t>
            </a:r>
          </a:p>
          <a:p xmlns:a="http://schemas.openxmlformats.org/drawingml/2006/main">
            <a:r>
              <a:t>原始截图：https://chatgpt.com/api/library/files/libfile_b7e320e21f9c8191bc15c3425ee19cfd/download</a:t>
            </a:r>
          </a:p>
          <a:p xmlns:a="http://schemas.openxmlformats.org/drawingml/2006/main">
            <a:r>
              <a:t>LoRA补跑：https://chatgpt.com/api/library/files/libfile_01a051c957c08191915b178b6ae0028f/download</a:t>
            </a:r>
          </a:p>
          <a:p xmlns:a="http://schemas.openxmlformats.org/drawingml/2006/main">
            <a:r>
              <a:t>全部为合成、AI复核的教学试点。数据集tutorial-intent-v1.0，train150/dev50/calibration50/test50行，来源组144/45/45/45。来源组、ID及规范化精确文本跨split无重合，但不证明语义独立。test已查看，本次补跑不应称为新鲜独立盲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1.5分钟。每个格子是一条真实测试记录，不是为了凑24和35画出来的示意。两边位置完全对应：每行一个类别，列是ID最后的001到010。蓝色表示命中参考标签。看整体，48%升到70%，净增加11题。逐题对照后发现，不是恰好把11道错题改对，而是改对13题，又把2道原来正确的翻译题改错。22题一直对，13题一直错。</a:t>
            </a:r>
          </a:p>
          <a:p xmlns:a="http://schemas.openxmlformats.org/drawingml/2006/main">
            <a:r>
              <a:t>尤其看需澄清这一行：两边都是空的。整体分数好看了，不代表每类都进步。Macro-F1为0.423→0.625，类别召回数字人9→10、翻译10→8、工作流2→8、澄清0→0、其他3→9，每类分母都是10。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来源：E04逐题预测及独立复算。原始结果：https://chatgpt.com/api/library/files/libfile_d4910201fa50819194bebcca6788715a/download</a:t>
            </a:r>
          </a:p>
          <a:p xmlns:a="http://schemas.openxmlformats.org/drawingml/2006/main">
            <a:r>
              <a:t>原始截图：https://chatgpt.com/api/library/files/libfile_b7e320e21f9c8191bc15c3425ee19cfd/download</a:t>
            </a:r>
          </a:p>
          <a:p xmlns:a="http://schemas.openxmlformats.org/drawingml/2006/main">
            <a:r>
              <a:t>LoRA补跑：https://chatgpt.com/api/library/files/libfile_01a051c957c08191915b178b6ae0028f/download</a:t>
            </a:r>
          </a:p>
          <a:p xmlns:a="http://schemas.openxmlformats.org/drawingml/2006/main">
            <a:r>
              <a:t>全部为合成、AI复核的教学试点。数据集tutorial-intent-v1.0，train150/dev50/calibration50/test50行，来源组144/45/45/45。来源组、ID及规范化精确文本跨split无重合，但不证明语义独立。test已查看，本次补跑不应称为新鲜独立盲测。</a:t>
            </a:r>
          </a:p>
          <a:p xmlns:a="http://schemas.openxmlformats.org/drawingml/2006/main">
            <a:r>
              <a:t>Head测试4090 D，LoRA补跑4080 SUPER，不能直接比较速度。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1.5分钟。把总成绩放一边，单独看产品最需要停下来追问的十道题。LoRA一条clarify都没有预测出来。Head-only虽然在其他题上输出过clarify，但两者都没有接住真正需要澄清的这10题。LoRA把它们分给数字人1条、翻译1条、工作流4条、其他4条。底下的中文是对实际英文错例“Change it according to what the other person asked for.”的解释：当前看不到要改什么，也看不到对方说了什么。原记录里模型选other，原始最高概率98.97%，校准后仍92.49%。</a:t>
            </a:r>
          </a:p>
          <a:p xmlns:a="http://schemas.openxmlformats.org/drawingml/2006/main">
            <a:r>
              <a:t>这说明追问出口不能只写在候选列表里。下一轮需要真实的入口不明样本和明确标注边界，再验证追问是否有帮助。这里的补问方案还没有实际运行。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来源：E04 LoRA混淆矩阵与tutorial-test-clarify-002。clarify recall=0/10，precision因为没有clarify预测而未定义，不能写成测得0。原始结果：https://chatgpt.com/api/library/files/libfile_d4910201fa50819194bebcca6788715a/download</a:t>
            </a:r>
          </a:p>
          <a:p xmlns:a="http://schemas.openxmlformats.org/drawingml/2006/main">
            <a:r>
              <a:t>原始截图：https://chatgpt.com/api/library/files/libfile_b7e320e21f9c8191bc15c3425ee19cfd/download</a:t>
            </a:r>
          </a:p>
          <a:p xmlns:a="http://schemas.openxmlformats.org/drawingml/2006/main">
            <a:r>
              <a:t>LoRA补跑：https://chatgpt.com/api/library/files/libfile_01a051c957c08191915b178b6ae0028f/download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1.5分钟。这道题把开场例子换成了真实测试记录。翻译是为后面的平台导入服务，完整任务的参考入口是agent_workflow。Head-only选translation，最高概率96.58%；LoRA还是translation，而且报到98.49%。如果业务代码只照这个标签派单，就可能交出一份正确译文，却没创建用户要的问卷草稿。这里说“可能”是因为本次只运行了分类，没有真的执行外部业务流程。</a:t>
            </a:r>
          </a:p>
          <a:p xmlns:a="http://schemas.openxmlformats.org/drawingml/2006/main">
            <a:r>
              <a:t>可以提出一个补救方向：专门检查是否存在后续工具执行步骤，再决定交给工作流或追问。但这是下一轮待验证的方案，不能把它写成已经修好的功能。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来源：E06真实逐题结果。LoRA原始向量[.0003,.9849,.0106,.0004,.0037]，分别对应数字人、翻译、工作流、澄清、其他。SDK confidence=.9442与最高类别概率不同。原始结果：https://chatgpt.com/api/library/files/libfile_d4910201fa50819194bebcca6788715a/download</a:t>
            </a:r>
          </a:p>
          <a:p xmlns:a="http://schemas.openxmlformats.org/drawingml/2006/main">
            <a:r>
              <a:t>原始截图：https://chatgpt.com/api/library/files/libfile_b7e320e21f9c8191bc15c3425ee19cfd/download</a:t>
            </a:r>
          </a:p>
          <a:p xmlns:a="http://schemas.openxmlformats.org/drawingml/2006/main">
            <a:r>
              <a:t>LoRA补跑：https://chatgpt.com/api/library/files/libfile_01a051c957c08191915b178b6ae0028f/download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1.5分钟。校准可以从天气预报来理解：很多报八成概率的事件，长期看是不是大约八成发生？放到分类上，就是把最高选项概率相近的预测放在一起，再看这组有多少命中参考答案。此处只画十个点说明概念，八对两错是理想关系，不是我们测出来的某个分箱。真正实验里每箱样本很少，命中率会有波动。</a:t>
            </a:r>
          </a:p>
          <a:p xmlns:a="http://schemas.openxmlformats.org/drawingml/2006/main">
            <a:r>
              <a:t>注意我们讨论的是选项概率，不是前面那个API confidence字段。校准也不能告诉我们眼前这条一定对不对，它只能改善一组概率与观察频率的对应关系。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来源：https://proceedings.mlr.press/v70/guo17a/guo17a.pdf</a:t>
            </a:r>
          </a:p>
          <a:p xmlns:a="http://schemas.openxmlformats.org/drawingml/2006/main">
            <a:r>
              <a:t>https://developers.google.com/machine-learning/crash-course/classification?hl=zh-cn</a:t>
            </a:r>
          </a:p>
          <a:p xmlns:a="http://schemas.openxmlformats.org/drawingml/2006/main">
            <a:r>
              <a:t>https://docs.typesafe.ai/confidence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1.5分钟。我们没有重新训练模型，而是用单独的50条calibration拟合一个温度T，得到1.575，再把同样变换应用到test。图里灰柱是每组平均最高概率，蓝柱是该组实际命中率。两根柱子越接近，表示该组越符合概率含义。横轴还写了每组有几条，样本少的一组尤其不要过度解读。</a:t>
            </a:r>
          </a:p>
          <a:p xmlns:a="http://schemas.openxmlformats.org/drawingml/2006/main">
            <a:r>
              <a:t>平均指标确实改善了：NLL、Brier和ECE都下降。但是用一个正的共同温度缩放不会改变候选排序，所以全部50题第一名都没变，准确率仍是70%。可以播放短片②，观察第15页的问卷错例的“翻译”概率从98.5%变成91.1%，却仍是第一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来源：E05。T相对于已服务概率，p′=softmax(log(max(p,1e-12))/T)，不是模型配置温度。test精确值：NLL .750529→.703757，Brier .412481→.385707，ECE .161587→.140578。校准集NLL .921424904→.837088330。Head拟合T=1无改善。原始结果：https://chatgpt.com/api/library/files/libfile_d4910201fa50819194bebcca6788715a/download</a:t>
            </a:r>
          </a:p>
          <a:p xmlns:a="http://schemas.openxmlformats.org/drawingml/2006/main">
            <a:r>
              <a:t>原始截图：https://chatgpt.com/api/library/files/libfile_b7e320e21f9c8191bc15c3425ee19cfd/download</a:t>
            </a:r>
          </a:p>
          <a:p xmlns:a="http://schemas.openxmlformats.org/drawingml/2006/main">
            <a:r>
              <a:t>LoRA补跑：https://chatgpt.com/api/library/files/libfile_01a051c957c08191915b178b6ae0028f/download</a:t>
            </a:r>
          </a:p>
          <a:p xmlns:a="http://schemas.openxmlformats.org/drawingml/2006/main">
            <a:r>
              <a:t>https://proceedings.mlr.press/v70/guo17a/guo17a.pdf</a:t>
            </a:r>
          </a:p>
          <a:p xmlns:a="http://schemas.openxmlformats.org/drawingml/2006/main">
            <a:r>
              <a:t>全部为合成、AI复核的教学试点。数据集tutorial-intent-v1.0，train150/dev50/calibration50/test50行，来源组144/45/45/45。来源组、ID及规范化精确文本跨split无重合，但不证明语义独立。test已查看，本次补跑不应称为新鲜独立盲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1.5分钟。这页专门防止一个很容易出现的误解：校准指标更好了，是否直接沿用90%门槛就会更安全？在这份test上，校准前有26条达到90%，其中错2条；校准后只有13条达到90%，但仍然是那两条错例。接受集合变小，错误比例从2/26上升到2/13。蓝点是接受的正确预测，红点是接受的错误预测，点的位置只是计数展示。</a:t>
            </a:r>
          </a:p>
          <a:p xmlns:a="http://schemas.openxmlformats.org/drawingml/2006/main">
            <a:r>
              <a:t>因此门槛需要按业务风险与覆盖率选，并用新的独立数据验证。我们也观察到95%门槛下接受10条、错0条，但零除以十不是生产安全保证。本页所有阈值都来自事后扫描，没有冻结门槛，也没有验证真实回退效果。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来源：E05 test阈值扫描。原始结果：https://chatgpt.com/api/library/files/libfile_d4910201fa50819194bebcca6788715a/download</a:t>
            </a:r>
          </a:p>
          <a:p xmlns:a="http://schemas.openxmlformats.org/drawingml/2006/main">
            <a:r>
              <a:t>原始截图：https://chatgpt.com/api/library/files/libfile_b7e320e21f9c8191bc15c3425ee19cfd/download</a:t>
            </a:r>
          </a:p>
          <a:p xmlns:a="http://schemas.openxmlformats.org/drawingml/2006/main">
            <a:r>
              <a:t>LoRA补跑：https://chatgpt.com/api/library/files/libfile_01a051c957c08191915b178b6ae0028f/download</a:t>
            </a:r>
          </a:p>
          <a:p xmlns:a="http://schemas.openxmlformats.org/drawingml/2006/main">
            <a:r>
              <a:t>校准前0.90：accepted26/errors2；校准后0.90：accepted13/errors2。比较的是最高类别概率，不是SDK confidence字段。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1.5分钟。到这里才开始谈产品怎么接。入口明确也可能缺参数，执行阶段再补齐。入口不明则应该追问。对高风险或疑难样本，可以考虑更强模型或人工复核，但需要逐条记录回退到底修好多少，又引入多少新错。大模型可能与小模型在同一题上出错，所以不能把“有回退”当作安全结论。</a:t>
            </a:r>
          </a:p>
          <a:p xmlns:a="http://schemas.openxmlformats.org/drawingml/2006/main">
            <a:r>
              <a:t>翻译质检可以再分工：占位符、URL、金额和日期交给代码核对，条件遗漏和语义偏移交给有边界的判断，改写交给生成模型，改完重新检查。发送、发布、付款等动作仍走业务授权。这些流程是建议，尚未在本试点实际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来源：https://docs.typesafe.ai/guides/jaggedness</a:t>
            </a:r>
          </a:p>
          <a:p xmlns:a="http://schemas.openxmlformats.org/drawingml/2006/main">
            <a:r>
              <a:t>https://arxiv.org/abs/2609.29769</a:t>
            </a:r>
          </a:p>
          <a:p xmlns:a="http://schemas.openxmlformats.org/drawingml/2006/main">
            <a:r>
              <a:t>本页为拟议流程，不表示已执行的系统。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1分钟。最后用两句话收尾。第一，我们已经把数据、监督训练、测试和温度校准流程真实跑通，并在这份合成test上观察到LoRA净多答对11题。第二，clarify盲点与高分错路由还在，当前证据还不足以直接放到生产自动执行。</a:t>
            </a:r>
          </a:p>
          <a:p xmlns:a="http://schemas.openxmlformats.org/drawingml/2006/main">
            <a:r>
              <a:t>建议下一步用真实请求做影子运行：系统正常处理，我们在旁边记录路由结果，请人复核标签。冻结候选和门槛后，用新的数据比较同一覆盖率下的关键错误。把追问、回退和回滚真正跑一遍，同时记录端到端p95和每千次总成本。这里给的是下一阶段验证方向，不是已经达成的验收承诺。主讲到这里结束，后面附录供技术问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全部为合成、AI复核的教学试点。数据集tutorial-intent-v1.0，train150/dev50/calibration50/test50行，来源组144/45/45/45。来源组、ID及规范化精确文本跨split无重合，但不证明语义独立。test已查看，本次补跑不应称为新鲜独立盲测。</a:t>
            </a:r>
          </a:p>
          <a:p xmlns:a="http://schemas.openxmlformats.org/drawingml/2006/main">
            <a:r>
              <a:t>原始结果：https://chatgpt.com/api/library/files/libfile_d4910201fa50819194bebcca6788715a/download</a:t>
            </a:r>
          </a:p>
          <a:p xmlns:a="http://schemas.openxmlformats.org/drawingml/2006/main">
            <a:r>
              <a:t>原始截图：https://chatgpt.com/api/library/files/libfile_b7e320e21f9c8191bc15c3425ee19cfd/download</a:t>
            </a:r>
          </a:p>
          <a:p xmlns:a="http://schemas.openxmlformats.org/drawingml/2006/main">
            <a:r>
              <a:t>LoRA补跑：https://chatgpt.com/api/library/files/libfile_01a051c957c08191915b178b6ae0028f/download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选讲：1.5分钟。PyTRIO是训练基础设施，不是一个新预训练模型。社区配方所有类型先映射到A/B等单token符号，再回到原始值。data.py把所有问题放在同一user序列，未实现隔离注意力，所以README关于问题顺序不影响结果的说法不能作为代码保证。inference.py调用sample(max_tokens=1)获取prompt logprobs，忽略生成内容，但top-k只取最大选项数，缺失合法候选用最小已返回logprob减10近似。正式部署前应检查缺失候选频率，不能把此分布视为所有合法logit的精确读出。作者自报宏平均提升，但Hard子集下降，且Typed Decision与训练共享工作流族。本页不引用其分数作为我们的实验结论。</a:t>
            </a:r>
          </a:p>
          <a:p xmlns:a="http://schemas.openxmlformats.org/drawingml/2006/main">
            <a:r>
              <a:t>来源：https://pytrio.com/</a:t>
            </a:r>
          </a:p>
          <a:p xmlns:a="http://schemas.openxmlformats.org/drawingml/2006/main">
            <a:r>
              <a:t>https://docs.pytrio.com/en/docs/guide/train</a:t>
            </a:r>
          </a:p>
          <a:p xmlns:a="http://schemas.openxmlformats.org/drawingml/2006/main">
            <a:r>
              <a:t>https://github.com/KMnO4-zx/agentic-rl-lab/tree/main/09-pytrio-jev</a:t>
            </a:r>
          </a:p>
          <a:p xmlns:a="http://schemas.openxmlformats.org/drawingml/2006/main">
            <a:r>
              <a:t>https://github.com/KMnO4-zx/agentic-rl-lab/blob/d2ba99ce6964f0525c0c0ab25dcefed50ee50e6b/09-pytrio-jev/data.py</a:t>
            </a:r>
          </a:p>
          <a:p xmlns:a="http://schemas.openxmlformats.org/drawingml/2006/main">
            <a:r>
              <a:t>https://github.com/KMnO4-zx/agentic-rl-lab/blob/d2ba99ce6964f0525c0c0ab25dcefed50ee50e6b/09-pytrio-jev/inference.py</a:t>
            </a:r>
          </a:p>
          <a:p xmlns:a="http://schemas.openxmlformats.org/drawingml/2006/main">
            <a:r>
              <a:t>核验：2026-10-04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选讲：1.5分钟。Intern-Decision基于Qwen3.5，不是基于InternLM语言模型。HF实现把所有答案占位位置的前一logit取出，对合法单token符号softmax，无需自由文本采样。它使用因果监督CE，不是BERT式双向MLM，也不是RL。配置中的262144位置上限不能当作已验证262K决策能力；训练及默认runtime为8192。代码和模型标注Apache-2.0，数据权利单独核对。作者的7-suite宏平均与Hard-only Brier/ECE不能混读。公共Jevbench属于开发诊断，外部基线历史响应、私有校准拟合数据和完整训练数据未提供，不能宣称完全独立重现整张比较榜单。4B模型卡的T约1.992与XTuner历史拟合相关，换HF/backend应在业务calibration重新拟合。</a:t>
            </a:r>
          </a:p>
          <a:p xmlns:a="http://schemas.openxmlformats.org/drawingml/2006/main">
            <a:r>
              <a:t>来源：https://github.com/InternLM/Intern-Decision/tree/main</a:t>
            </a:r>
          </a:p>
          <a:p xmlns:a="http://schemas.openxmlformats.org/drawingml/2006/main">
            <a:r>
              <a:t>https://github.com/InternLM/Intern-Decision/blob/main/README_zh-CN.md</a:t>
            </a:r>
          </a:p>
          <a:p xmlns:a="http://schemas.openxmlformats.org/drawingml/2006/main">
            <a:r>
              <a:t>https://github.com/InternLM/Intern-Decision/blob/3572c8a68b5df5dafe02d0e093989ba8ec0183bc/src/inference/hf_backend.py</a:t>
            </a:r>
          </a:p>
          <a:p xmlns:a="http://schemas.openxmlformats.org/drawingml/2006/main">
            <a:r>
              <a:t>https://github.com/InternLM/Intern-Decision/blob/3572c8a68b5df5dafe02d0e093989ba8ec0183bc/configs/training/qwen35.py</a:t>
            </a:r>
          </a:p>
          <a:p xmlns:a="http://schemas.openxmlformats.org/drawingml/2006/main">
            <a:r>
              <a:t>https://github.com/InternLM/Intern-Decision/blob/main/docs/EVALUATION.md</a:t>
            </a:r>
          </a:p>
          <a:p xmlns:a="http://schemas.openxmlformats.org/drawingml/2006/main">
            <a:r>
              <a:t>https://huggingface.co/internlm/Intern-Decision-4B</a:t>
            </a:r>
          </a:p>
          <a:p xmlns:a="http://schemas.openxmlformats.org/drawingml/2006/main">
            <a:r>
              <a:t>核验：2026-10-04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附录参考页。技术事实优先看官方文档、源码和模型卡，社区宣传语不能替代业务测量。以下包含本次新增的五个链接：</a:t>
            </a:r>
          </a:p>
          <a:p xmlns:a="http://schemas.openxmlformats.org/drawingml/2006/main">
            <a:r>
              <a:t>https://github.com/KMnO4-zx/agentic-rl-lab/tree/main/09-pytrio-jev</a:t>
            </a:r>
          </a:p>
          <a:p xmlns:a="http://schemas.openxmlformats.org/drawingml/2006/main">
            <a:r>
              <a:t>https://pytrio.com/</a:t>
            </a:r>
          </a:p>
          <a:p xmlns:a="http://schemas.openxmlformats.org/drawingml/2006/main">
            <a:r>
              <a:t>https://archerhume.com/posts/jevs-architecture-unmasked</a:t>
            </a:r>
          </a:p>
          <a:p xmlns:a="http://schemas.openxmlformats.org/drawingml/2006/main">
            <a:r>
              <a:t>https://github.com/InternLM/Intern-Decision/tree/main</a:t>
            </a:r>
          </a:p>
          <a:p xmlns:a="http://schemas.openxmlformats.org/drawingml/2006/main">
            <a:r>
              <a:t>https://github.com/InternLM/Intern-Decision/blob/main/README_zh-CN.md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原有阅读：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讲解：附录可供答疑时展开。文档更新快，实验记录中应保存实际版本、配置和访问日期。社区项目的 README 宣传语不能代替本业务测量。源码、模型卡和锁定数据比榜单截图更有用。JevMade 是社区目录，可继续追到原始项目。Jev Ultrafast 用 DOM 元素表供 Jev 选择操作与目标，LLM 只在需要输入内容时生成文字，执行器独立检查成功与否。TypeSafe Mario 从模拟器遥测与 RAM 整理 JSON，Jev 在合法按键中选择，时序与数学交给代码。它没有把截图直接输入 Jev。这些演示说明有限动作、快速循环和执行守卫的组合方式，不构成生产可靠性证明。</a:t>
            </a:r>
          </a:p>
          <a:p xmlns:a="http://schemas.openxmlformats.org/drawingml/2006/main">
            <a:r>
              <a:t>互动：你准备复现的结果能否追溯到数据与模型版本？</a:t>
            </a:r>
          </a:p>
          <a:p xmlns:a="http://schemas.openxmlformats.org/drawingml/2006/main">
            <a:r>
              <a:t>资料核验日期：2026-10-03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https://docs.typesafe.ai/introduction</a:t>
            </a:r>
          </a:p>
          <a:p xmlns:a="http://schemas.openxmlformats.org/drawingml/2006/main">
            <a:r>
              <a:t>https://docs.typesafe.ai/models</a:t>
            </a:r>
          </a:p>
          <a:p xmlns:a="http://schemas.openxmlformats.org/drawingml/2006/main">
            <a:r>
              <a:t>https://docs.typesafe.ai/confidence</a:t>
            </a:r>
          </a:p>
          <a:p xmlns:a="http://schemas.openxmlformats.org/drawingml/2006/main">
            <a:r>
              <a:t>https://docs.typesafe.ai/model-jaggedness/jev-1.13</a:t>
            </a:r>
          </a:p>
          <a:p xmlns:a="http://schemas.openxmlformats.org/drawingml/2006/main">
            <a:r>
              <a:t>https://github.com/datawhalechina/jev-cookbook</a:t>
            </a:r>
          </a:p>
          <a:p xmlns:a="http://schemas.openxmlformats.org/drawingml/2006/main">
            <a:r>
              <a:t>https://github.com/NandhaKishorM/laya</a:t>
            </a:r>
          </a:p>
          <a:p xmlns:a="http://schemas.openxmlformats.org/drawingml/2006/main">
            <a:r>
              <a:t>https://huggingface.co/convaiinnovations/laya-multilingual</a:t>
            </a:r>
          </a:p>
          <a:p xmlns:a="http://schemas.openxmlformats.org/drawingml/2006/main">
            <a:r>
              <a:t>https://arxiv.org/html/2609.37647v1</a:t>
            </a:r>
          </a:p>
          <a:p xmlns:a="http://schemas.openxmlformats.org/drawingml/2006/main">
            <a:r>
              <a:t>https://jevmade.com/experiments</a:t>
            </a:r>
          </a:p>
          <a:p xmlns:a="http://schemas.openxmlformats.org/drawingml/2006/main">
            <a:r>
              <a:t>https://github.com/browser-use/jev-ultrafast</a:t>
            </a:r>
          </a:p>
          <a:p xmlns:a="http://schemas.openxmlformats.org/drawingml/2006/main">
            <a:r>
              <a:t>https://github.com/fhshaik/typesafe-mario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完整参考条目：</a:t>
            </a:r>
          </a:p>
          <a:p xmlns:a="http://schemas.openxmlformats.org/drawingml/2006/main">
            <a:r>
              <a:t>想查什么｜优先阅读｜本材料如何使用</a:t>
            </a:r>
          </a:p>
          <a:p xmlns:a="http://schemas.openxmlformats.org/drawingml/2006/main">
            <a:r>
              <a:t>官方接口与边界｜TypeSafe Introduction / Models｜接口事实，不推断内部结构</a:t>
            </a:r>
          </a:p>
          <a:p xmlns:a="http://schemas.openxmlformats.org/drawingml/2006/main">
            <a:r>
              <a:t>概率、置信度和弱点｜Confidence / Jev 1.13 jaggedness｜阈值设计与失败测试</a:t>
            </a:r>
          </a:p>
          <a:p xmlns:a="http://schemas.openxmlformats.org/drawingml/2006/main">
            <a:r>
              <a:t>中文实践路径｜datawhalechina/jev-cookbook｜重点看评测与本地训练</a:t>
            </a:r>
          </a:p>
          <a:p xmlns:a="http://schemas.openxmlformats.org/drawingml/2006/main">
            <a:r>
              <a:t>开源权重与本地推理｜Laya 仓库与 multilingual 模型卡｜固定版本，重新校准</a:t>
            </a:r>
          </a:p>
          <a:p xmlns:a="http://schemas.openxmlformats.org/drawingml/2006/main">
            <a:r>
              <a:t>独立评测视角｜arXiv:2609.37647v1｜预印本，按任务和设置解读</a:t>
            </a:r>
          </a:p>
          <a:p xmlns:a="http://schemas.openxmlformats.org/drawingml/2006/main">
            <a:r>
              <a:t>社区应用案例｜JevMade：Ultrafast / Mario｜沿原始仓库看执行守卫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说明：原始截图保持内容未改动，作为证据缩图。第11页为smoke，第12–13页为训练和test，第15页为错例、第17–18页为校准与门槛，第31页有详细图。原报告中的train/dev组数实际计行数；真实来源组144/45已在第10页备注说明。Head/LoRA训练与Head test使用4090D，LoRA补跑test使用4080 SUPER。</a:t>
            </a:r>
          </a:p>
          <a:p xmlns:a="http://schemas.openxmlformats.org/drawingml/2006/main">
            <a:r>
              <a:t>原始结果：https://chatgpt.com/api/library/files/libfile_d4910201fa50819194bebcca6788715a/download</a:t>
            </a:r>
          </a:p>
          <a:p xmlns:a="http://schemas.openxmlformats.org/drawingml/2006/main">
            <a:r>
              <a:t>原始截图：https://chatgpt.com/api/library/files/libfile_b7e320e21f9c8191bc15c3425ee19cfd/download</a:t>
            </a:r>
          </a:p>
          <a:p xmlns:a="http://schemas.openxmlformats.org/drawingml/2006/main">
            <a:r>
              <a:t>LoRA补跑：https://chatgpt.com/api/library/files/libfile_01a051c957c08191915b178b6ae0028f/download</a:t>
            </a:r>
          </a:p>
          <a:p xmlns:a="http://schemas.openxmlformats.org/drawingml/2006/main">
            <a:r>
              <a:t>全部为合成、AI复核的教学试点。数据集tutorial-intent-v1.0，train150/dev50/calibration50/test50行，来源组144/45/45/45。来源组、ID及规范化精确文本跨split无重合，但不证明语义独立。test已查看，本次补跑不应称为新鲜独立盲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选讲：1分钟。RLHF通常以人类偏好为反馈，RLVR关注可验证的结果，例如数学答案或测试结果。TypeSafe用RLCD描述关注决策质量与概率校准的训练目标。这些目标可以并存，没有逐代替换关系，也不直接指定网络结构。</a:t>
            </a:r>
          </a:p>
          <a:p xmlns:a="http://schemas.openxmlformats.org/drawingml/2006/main">
            <a:r>
              <a:t>来源：https://docs.typesafe.ai/introduction/machine-learning-primer</a:t>
            </a:r>
          </a:p>
          <a:p xmlns:a="http://schemas.openxmlformats.org/drawingml/2006/main">
            <a:r>
              <a:t>Cookbook的RLCD示例包含特定数据规模和伪标签假设，复现前检查入口、依赖、数据与奖励。NanoJev公开游戏模型和PyTRIO这个社区配方使用CE。Laya作者也使用RLCD术语描述自己的proper-rule训练，但不代表公开了TypeSafe私有配方。</a:t>
            </a:r>
          </a:p>
          <a:p xmlns:a="http://schemas.openxmlformats.org/drawingml/2006/main">
            <a:r>
              <a:t>补充来源：https://github.com/KMnO4-zx/agentic-rl-lab/tree/main/09-pytrio-jev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讲解：先确认输入 schema、数据来源和损失，再使用训练名字。监督 CE 可以训练决策模型，不必声称它是 RL。温度校准不更新 backbone。Cookbook 的训练入口和依赖路径需要按所用 commit 检查，RLCD 脚本中的数据规模与伪标签假设也需要修改。请跟随实验指南的源码检查步骤，不能把示例命令当成通用一键业务训练。NanoJev 当前公开游戏模型采用完整问题的交叉熵训练。</a:t>
            </a:r>
          </a:p>
          <a:p xmlns:a="http://schemas.openxmlformats.org/drawingml/2006/main">
            <a:r>
              <a:t>互动：看到一个仓库写 RLCD，你会优先打开哪几个文件检查？</a:t>
            </a:r>
          </a:p>
          <a:p xmlns:a="http://schemas.openxmlformats.org/drawingml/2006/main">
            <a:r>
              <a:t>资料核验日期：2026-10-03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https://github.com/datawhalechina/jev-cookbook</a:t>
            </a:r>
          </a:p>
          <a:p xmlns:a="http://schemas.openxmlformats.org/drawingml/2006/main">
            <a:r>
              <a:t>https://huggingface.co/convaiinnovations/laya-multilingual</a:t>
            </a:r>
          </a:p>
          <a:p xmlns:a="http://schemas.openxmlformats.org/drawingml/2006/main">
            <a:r>
              <a:t>https://github.com/TianyuCodings/NanoJev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完整参考条目：</a:t>
            </a:r>
          </a:p>
          <a:p xmlns:a="http://schemas.openxmlformats.org/drawingml/2006/main">
            <a:r>
              <a:t>阶段｜更新什么｜能说明什么</a:t>
            </a:r>
          </a:p>
          <a:p xmlns:a="http://schemas.openxmlformats.org/drawingml/2006/main">
            <a:r>
              <a:t>监督训练 SFT / CE｜权重或任务头｜能否学到本业务的标签边界</a:t>
            </a:r>
          </a:p>
          <a:p xmlns:a="http://schemas.openxmlformats.org/drawingml/2006/main">
            <a:r>
              <a:t>温度校准｜概率变换参数｜在独立数据上修正分布锐度</a:t>
            </a:r>
          </a:p>
          <a:p xmlns:a="http://schemas.openxmlformats.org/drawingml/2006/main">
            <a:r>
              <a:t>阈值选择｜业务接受与回退门槛｜质量与自动处理覆盖率的取舍</a:t>
            </a:r>
          </a:p>
          <a:p xmlns:a="http://schemas.openxmlformats.org/drawingml/2006/main">
            <a:r>
              <a:t>RLCD 研究扩展｜取决于具体实现及奖励设计｜需要核对数据、奖励与训练代码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附录选讲：1分钟。保留四个原有项目及layaMOE扩展。当前Laya README的confidence为1减归一化熵，与Jev Choice公式不同，所以不要迁移同一阈值。layaMOE是Vishal Mysore的独立扩展，prompted router需要第二次编码，trained router复用编码状态，不能把所有实现都称单次前向。其小样本评估不证明生产泛化。</a:t>
            </a:r>
          </a:p>
          <a:p xmlns:a="http://schemas.openxmlformats.org/drawingml/2006/main">
            <a:r>
              <a:t>补充当前来源：https://github.com/NandhaKishorM/laya</a:t>
            </a:r>
          </a:p>
          <a:p xmlns:a="http://schemas.openxmlformats.org/drawingml/2006/main">
            <a:r>
              <a:t>核验：2026-10-04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讲解：Laya、NanoJev 和 SemIf 都是独立开源方向。NanoJev 有公开的 Qwen3-0.6B 决策头与 CE 训练说明，SemIf 明确声明不复现 Jev 未公开的内部模型和训练。OpenJev 名称存在歧义，因此不笼统比较“OpenJev 比 Jev 好”。verdict 项目仅作为生态指引，本页没有采用其榜单数字作为业务性能证据。</a:t>
            </a:r>
          </a:p>
          <a:p xmlns:a="http://schemas.openxmlformats.org/drawingml/2006/main">
            <a:r>
              <a:t>互动：你希望改动的是输出接口、模型权重，还是业务规则？这会决定选择哪个项目。</a:t>
            </a:r>
          </a:p>
          <a:p xmlns:a="http://schemas.openxmlformats.org/drawingml/2006/main">
            <a:r>
              <a:t>资料核验日期：2026-10-03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https://github.com/NandhaKishorM/laya</a:t>
            </a:r>
          </a:p>
          <a:p xmlns:a="http://schemas.openxmlformats.org/drawingml/2006/main">
            <a:r>
              <a:t>https://huggingface.co/convaiinnovations/laya-multilingual</a:t>
            </a:r>
          </a:p>
          <a:p xmlns:a="http://schemas.openxmlformats.org/drawingml/2006/main">
            <a:r>
              <a:t>https://github.com/TianyuCodings/NanoJev</a:t>
            </a:r>
          </a:p>
          <a:p xmlns:a="http://schemas.openxmlformats.org/drawingml/2006/main">
            <a:r>
              <a:t>https://github.com/TheoLeeCJ/SemIf-OpenJev</a:t>
            </a:r>
          </a:p>
          <a:p xmlns:a="http://schemas.openxmlformats.org/drawingml/2006/main">
            <a:r>
              <a:t>https://github.com/Heman10x-NGU/openJev-verdict-2.0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完整参考条目：</a:t>
            </a:r>
          </a:p>
          <a:p xmlns:a="http://schemas.openxmlformats.org/drawingml/2006/main">
            <a:r>
              <a:t>项目｜已公开的实现方向｜适合延伸讨论</a:t>
            </a:r>
          </a:p>
          <a:p xmlns:a="http://schemas.openxmlformats.org/drawingml/2006/main">
            <a:r>
              <a:t>Laya multilingual｜mmBERT-base 编码器，约 322M｜本地多语言决策与业务校准</a:t>
            </a:r>
          </a:p>
          <a:p xmlns:a="http://schemas.openxmlformats.org/drawingml/2006/main">
            <a:r>
              <a:t>NanoJev｜Qwen3-0.6B 加决策头｜动态候选、并行问题与训练流水线</a:t>
            </a:r>
          </a:p>
          <a:p xmlns:a="http://schemas.openxmlformats.org/drawingml/2006/main">
            <a:r>
              <a:t>SemIf（原 OpenJev）｜冻结语言模型，读取候选 logits｜已有模型的直接选项读出与校准</a:t>
            </a:r>
          </a:p>
          <a:p xmlns:a="http://schemas.openxmlformats.org/drawingml/2006/main">
            <a:r>
              <a:t>openJev-verdict-2.0｜独立社区决策模型项目｜核对具体仓库、权重与评测协议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补充社区案例：vishalmysore/layaMOE 是 Vishal Mysore 的独立扩展，不是 canonical Laya 项目或其官方 checkpoint。它探索共享冻结编码器、领域决策头和轻量路由器的组合，可用客服工单、配送异常和邮件分流讲解如何加入公司语义。prompted router 需第二次编码；trained router 复用编码状态，不能笼统把所有实现称为单次前向。作者的评测规模很小，且路由设计受评测领域启发，不用于证明独立泛化或生产可靠性，本材料不引用其准确率作为性能结论。</a:t>
            </a:r>
          </a:p>
          <a:p xmlns:a="http://schemas.openxmlformats.org/drawingml/2006/main">
            <a:r>
              <a:t>来源：https://github.com/vishalmysore/layaMOE</a:t>
            </a:r>
          </a:p>
          <a:p xmlns:a="http://schemas.openxmlformats.org/drawingml/2006/main">
            <a:r>
              <a:t>官方 Laya：https://github.com/NandhaKishorM/laya</a:t>
            </a:r>
          </a:p>
          <a:p xmlns:a="http://schemas.openxmlformats.org/drawingml/2006/main">
            <a:r>
              <a:t>https://huggingface.co/convaiinnovations/laya-typed-decisions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附录选讲：1分钟。这与Intern-Decision/PyTRIO的词表符号读出是不同路线。CLM公开artifact含投影头，需要匹配编码器和pooling。默认截断2048可以与server/client限制一起提高，不能当作架构固有上限。MLX 8-bit为社区运行时移植，量化可能改变近似打平候选的顺序。TypeSafe兼容接口不属于OpenAI产品。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讲解：这里介绍已核验的 CLM-v0.1-8B，完整名称为 Contrastive Language Model。模型卡公开了冻结 Qwen3-8B 和两个投影头，采用双向 InfoNCE。其输出概率相对于提供的候选集。公开 verifier 高分来自任务微调，不宜当作零样本通用能力。社区改造要分成任务头微调、运行时移植和 API 集成。MLX 8-bit 是社区 Apple Silicon 移植，编码器量化而保留原投影头，近似打平的候选可能改变排名。不能把移植当成独立模型质量突破。CLM 的 TypeSafe 兼容接口也不属于 OpenAI 产品。</a:t>
            </a:r>
          </a:p>
          <a:p xmlns:a="http://schemas.openxmlformats.org/drawingml/2006/main">
            <a:r>
              <a:t>互动：如果候选里没有正确动作，排序最高的动作意味着什么？</a:t>
            </a:r>
          </a:p>
          <a:p xmlns:a="http://schemas.openxmlformats.org/drawingml/2006/main">
            <a:r>
              <a:t>资料核验日期：2026-10-03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https://huggingface.co/Contrastive-LM/CLM-v0.1-8B</a:t>
            </a:r>
          </a:p>
          <a:p xmlns:a="http://schemas.openxmlformats.org/drawingml/2006/main">
            <a:r>
              <a:t>https://github.com/Contrastive-LM/CLM</a:t>
            </a:r>
          </a:p>
          <a:p xmlns:a="http://schemas.openxmlformats.org/drawingml/2006/main">
            <a:r>
              <a:t>https://huggingface.co/mlx-community/CLM-v0.1-8B-MLX-8bit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附录选讲：1分钟。OpenAI官方2026-09-29公告明确介绍Decisions API，使用Luna回答用户自定义问题和有限预设答案，支持文本与图片上下文，公告时有限预览。未检查当前账户权限。公告不充分披露底层结构、schema、价格、分数语义或校准性质，所以不采用第三方关于150ms、单次前向或自动校准的推断。Responses API配合Structured Outputs是另一生成式基线。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讲解：OpenAI 在 2026 年 9 月 29 日的 DevDay 官方公告中明确介绍 Decisions API。它将 Luna 用于用户自定义问题与有限预设答案，上下文可以是文本或图片。公告称当时处于有限预览，并计划随后扩大发布。本材料没有检查当前账户权限，不能承诺可以直接调用。公告未充分说明底层结构、具体请求 schema、价格、分数含义或校准性质，因此不采用第三方文章的约 150 毫秒、单次前向或自动校准等说法。Responses API 配合 Structured Outputs 是另一个生成式基线，不能与 Decisions API 混称。</a:t>
            </a:r>
          </a:p>
          <a:p xmlns:a="http://schemas.openxmlformats.org/drawingml/2006/main">
            <a:r>
              <a:t>互动：如果获得预览权限，你会把它加入哪一个固定测试集，优先验证哪条指标？</a:t>
            </a:r>
          </a:p>
          <a:p xmlns:a="http://schemas.openxmlformats.org/drawingml/2006/main">
            <a:r>
              <a:t>资料核验日期：2026-10-03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https://openai.com/index/devday-2026-recap/</a:t>
            </a:r>
          </a:p>
          <a:p xmlns:a="http://schemas.openxmlformats.org/drawingml/2006/main">
            <a:r>
              <a:t>https://developers.openai.com/api/docs/guides/structured-outputs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选讲：1分钟。路由与级联需要区分。分类校准综述对本次Choice概率更加直接。LLM拒答研究提供问题框架，不能当作任何决策模型已具备拒答能力的证据。补充阅读：Liu等LLM不确定性和置信校准综述arXiv:2503.15850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这页是与有限候选决策系统相关的研究方向阅读地图，不把这些文章称为 Jev 专题综述。读者可以先理解模型路由与级联，再检查分类概率的可靠性，最后设计拒答和升级流程。</a:t>
            </a:r>
          </a:p>
          <a:p xmlns:a="http://schemas.openxmlformats.org/drawingml/2006/main">
            <a:r>
              <a:t>1. Yasmin Moslem and John D. Kelleher. Dynamic Model Routing and Cascading for Efficient LLM Inference: A Survey. 2026，引用 v3（2026-08-30）。帮助区分请求前选择模型的 routing 与先调用、再决定是否升级的 cascading。</a:t>
            </a:r>
          </a:p>
          <a:p xmlns:a="http://schemas.openxmlformats.org/drawingml/2006/main">
            <a:r>
              <a:t>https://arxiv.org/abs/2603.04445v3</a:t>
            </a:r>
          </a:p>
          <a:p xmlns:a="http://schemas.openxmlformats.org/drawingml/2006/main">
            <a:r>
              <a:t>2. Telmo Silva Filho 等. Classifier Calibration: A survey on how to assess and improve predicted class probabilities. arXiv 首发2021，Machine Learning 2023，引用 v2。对本讲 Choice 类预测概率更直接：校准评估、后处理、训练期方法及实践陷阱。</a:t>
            </a:r>
          </a:p>
          <a:p xmlns:a="http://schemas.openxmlformats.org/drawingml/2006/main">
            <a:r>
              <a:t>https://arxiv.org/abs/2112.10327v2</a:t>
            </a:r>
          </a:p>
          <a:p xmlns:a="http://schemas.openxmlformats.org/drawingml/2006/main">
            <a:r>
              <a:t>3. Bingbing Wen 等. Know Your Limits: A Survey of Abstention in Large Language Models. arXiv首发2024，2025-02-12修订。帮助区分拒答、选择性预测、风险与覆盖率等问题。其LLM论述不能直接当作某个决策模型已具备的能力。</a:t>
            </a:r>
          </a:p>
          <a:p xmlns:a="http://schemas.openxmlformats.org/drawingml/2006/main">
            <a:r>
              <a:t>https://arxiv.org/abs/2407.18418</a:t>
            </a:r>
          </a:p>
          <a:p xmlns:a="http://schemas.openxmlformats.org/drawingml/2006/main">
            <a:r>
              <a:t>补充阅读：Liu 等. Uncertainty Quantification and Confidence Calibration in Large Language Models: A Survey. 2025，v2 2025-06-03。用于进一步区分信心分数、不确定性与可用于决策的概率。</a:t>
            </a:r>
          </a:p>
          <a:p xmlns:a="http://schemas.openxmlformats.org/drawingml/2006/main">
            <a:r>
              <a:t>https://arxiv.org/abs/2503.15850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选讲：1分钟。两篇直接研究Jev的独立评测不等于对所有任务的普遍结论。论文中的延迟或费用不应当作本次测得结果。下一轮可固定workflow-disjoint业务test，记录checkpoint、backend、输入长度、batch、缓存、设备与完整端到端时间。报告准确率、风险/覆盖率、Brier/NLL和分切片可靠性。作者报告和自己的复测结果应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本页是直接研究 Jev 的两篇近期评测论文，不是综述。它们提供独立实验视角；不把文中的速度、价格或准确率当作本次中文业务实验的已测结果。</a:t>
            </a:r>
          </a:p>
          <a:p xmlns:a="http://schemas.openxmlformats.org/drawingml/2006/main">
            <a:r>
              <a:t>1. Tobias Deußer、Lorenz Sparrenberg、Rafet Sifa. Evaluating and Benchmarking the System One Model Jev. 2026-09-29。比较跨任务表现，并讨论二元概率阈值与任务差异。阅读时核对模型版本、数据、指标、阈值选择和对照组，不能仅根据总榜单归纳所有业务。</a:t>
            </a:r>
          </a:p>
          <a:p xmlns:a="http://schemas.openxmlformats.org/drawingml/2006/main">
            <a:r>
              <a:t>https://arxiv.org/abs/2609.37647v1</a:t>
            </a:r>
          </a:p>
          <a:p xmlns:a="http://schemas.openxmlformats.org/drawingml/2006/main">
            <a:r>
              <a:t>2. Delip Rao and Chris Callison-Burch. JEV vs. LLMs as Rubric Judges: Cheaper, Faster, and Wrong in the Same Places. 2026-09-24首发，引用v2（2026-09-28）。聚焦按rubric进行评审的场景。重要工程启示是错误的相关性：若备用LLM在同类样本上也犯错，升级并不保证提高准确率。这里的回退互补性是要在本业务锁定数据上重新验证的设计要求，不是对所有Jev/LLM组合的普遍定论。</a:t>
            </a:r>
          </a:p>
          <a:p xmlns:a="http://schemas.openxmlformats.org/drawingml/2006/main">
            <a:r>
              <a:t>https://arxiv.org/abs/2609.29769v2</a:t>
            </a:r>
          </a:p>
          <a:p xmlns:a="http://schemas.openxmlformats.org/drawingml/2006/main">
            <a:r>
              <a:t>对本次试点的启示：除了自动处理覆盖率、被接受样本的风险与成本，还要按样本记录首选模型、备用模型和人工结果，评估升级能纠正多少错误、又引入多少新错误。真实业务的权限校验与人工出口仍保留。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选讲：1分钟。左图是校准后的七个非空bin，横轴显示样本数n，0–0.3区间没有样本。图右按阈值0.4、0.5、0.6、0.7、0.8、0.9、0.95、0.99顺序连接：accepted_n分别49、42、34、28、21、13、10、3，error_n分别14、11、6、3、2、2、0、0。横轴分母为全部50条，纵轴分母为accepted_n。校准前同阈值0.9接受26/50，错2/26=7.69%。这说明平均概率指标改善不保证同一阈值风险改善。任何基于此test曲线选择的门槛都属于事后探索，需要新的独立数据验证。原始结果：https://chatgpt.com/api/library/files/libfile_d4910201fa50819194bebcca6788715a/download</a:t>
            </a:r>
          </a:p>
          <a:p xmlns:a="http://schemas.openxmlformats.org/drawingml/2006/main">
            <a:r>
              <a:t>原始截图：https://chatgpt.com/api/library/files/libfile_b7e320e21f9c8191bc15c3425ee19cfd/download</a:t>
            </a:r>
          </a:p>
          <a:p xmlns:a="http://schemas.openxmlformats.org/drawingml/2006/main">
            <a:r>
              <a:t>LoRA补跑：https://chatgpt.com/api/library/files/libfile_01a051c957c08191915b178b6ae0028f/download</a:t>
            </a:r>
          </a:p>
          <a:p xmlns:a="http://schemas.openxmlformats.org/drawingml/2006/main">
            <a:r>
              <a:t>全部为合成、AI复核的教学试点。数据集tutorial-intent-v1.0，train150/dev50/calibration50/test50行，来源组144/45/45/45。来源组、ID及规范化精确文本跨split无重合，但不证明语义独立。test已查看，本次补跑不应称为新鲜独立盲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ref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TypeSafe 官方文档；先弄清楚输入、候选与分数分别表示什么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[1] Introduction — TypeSafe AI</a:t>
            </a:r>
          </a:p>
          <a:p xmlns:a="http://schemas.openxmlformats.org/drawingml/2006/main">
            <a:r>
              <a:t>https://docs.typesafe.ai/introduction</a:t>
            </a:r>
          </a:p>
          <a:p xmlns:a="http://schemas.openxmlformats.org/drawingml/2006/main">
            <a:r>
              <a:t>Jev 的输入、三种问题原语、并行独立判断与代码组合方式。</a:t>
            </a:r>
          </a:p>
          <a:p xmlns:a="http://schemas.openxmlformats.org/drawingml/2006/main">
            <a:r>
              <a:t>资料类型：TypeSafe 官方资料</a:t>
            </a:r>
          </a:p>
          <a:p xmlns:a="http://schemas.openxmlformats.org/drawingml/2006/main">
            <a:r>
              <a:t>作者/年份： 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Models — TypeSafe AI</a:t>
            </a:r>
          </a:p>
          <a:p xmlns:a="http://schemas.openxmlformats.org/drawingml/2006/main">
            <a:r>
              <a:t>https://docs.typesafe.ai/models</a:t>
            </a:r>
          </a:p>
          <a:p xmlns:a="http://schemas.openxmlformats.org/drawingml/2006/main">
            <a:r>
              <a:t>核对模型版本、文本输入、上下文预算和服务规格；以访问日期为准。</a:t>
            </a:r>
          </a:p>
          <a:p xmlns:a="http://schemas.openxmlformats.org/drawingml/2006/main">
            <a:r>
              <a:t>资料类型：TypeSafe 官方资料</a:t>
            </a:r>
          </a:p>
          <a:p xmlns:a="http://schemas.openxmlformats.org/drawingml/2006/main">
            <a:r>
              <a:t>作者/年份： 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Choice — TypeSafe AI</a:t>
            </a:r>
          </a:p>
          <a:p xmlns:a="http://schemas.openxmlformats.org/drawingml/2006/main">
            <a:r>
              <a:t>https://docs.typesafe.ai/primitives/choice</a:t>
            </a:r>
          </a:p>
          <a:p xmlns:a="http://schemas.openxmlformats.org/drawingml/2006/main">
            <a:r>
              <a:t>固定候选选择接口及完整候选概率；候选覆盖仍由调用者负责。</a:t>
            </a:r>
          </a:p>
          <a:p xmlns:a="http://schemas.openxmlformats.org/drawingml/2006/main">
            <a:r>
              <a:t>资料类型：TypeSafe 官方资料</a:t>
            </a:r>
          </a:p>
          <a:p xmlns:a="http://schemas.openxmlformats.org/drawingml/2006/main">
            <a:r>
              <a:t>作者/年份： 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Confidence — TypeSafe AI</a:t>
            </a:r>
          </a:p>
          <a:p xmlns:a="http://schemas.openxmlformats.org/drawingml/2006/main">
            <a:r>
              <a:t>https://docs.typesafe.ai/confidence</a:t>
            </a:r>
          </a:p>
          <a:p xmlns:a="http://schemas.openxmlformats.org/drawingml/2006/main">
            <a:r>
              <a:t>Choice 与 Score 的 confidence 计算规则；须与正确率概率及业务阈值区分。</a:t>
            </a:r>
          </a:p>
          <a:p xmlns:a="http://schemas.openxmlformats.org/drawingml/2006/main">
            <a:r>
              <a:t>资料类型：TypeSafe 官方资料</a:t>
            </a:r>
          </a:p>
          <a:p xmlns:a="http://schemas.openxmlformats.org/drawingml/2006/main">
            <a:r>
              <a:t>作者/年份： 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ref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TypeSafe 公开说明及 OpenAI 官方预览公告；具体产品状态以原文为准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Introducing System One Models &amp; Jev</a:t>
            </a:r>
          </a:p>
          <a:p xmlns:a="http://schemas.openxmlformats.org/drawingml/2006/main">
            <a:r>
              <a:t>https://typesafe.ai/blog/introducing-system-one-models-and-jev</a:t>
            </a:r>
          </a:p>
          <a:p xmlns:a="http://schemas.openxmlformats.org/drawingml/2006/main">
            <a:r>
              <a:t>TypeSafe 首发说明与 RLCD 命名；厂商报告不等于独立实验或架构披露。</a:t>
            </a:r>
          </a:p>
          <a:p xmlns:a="http://schemas.openxmlformats.org/drawingml/2006/main">
            <a:r>
              <a:t>资料类型：TypeSafe 官方资料</a:t>
            </a:r>
          </a:p>
          <a:p xmlns:a="http://schemas.openxmlformats.org/drawingml/2006/main">
            <a:r>
              <a:t>作者/年份：Diogo Almeida 2026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[6] AI primer — TypeSafe AI</a:t>
            </a:r>
          </a:p>
          <a:p xmlns:a="http://schemas.openxmlformats.org/drawingml/2006/main">
            <a:r>
              <a:t>https://docs.typesafe.ai/introduction/machine-learning-primer</a:t>
            </a:r>
          </a:p>
          <a:p xmlns:a="http://schemas.openxmlformats.org/drawingml/2006/main">
            <a:r>
              <a:t>官方对概率决策与训练目标的解释；未公开完整训练算法。</a:t>
            </a:r>
          </a:p>
          <a:p xmlns:a="http://schemas.openxmlformats.org/drawingml/2006/main">
            <a:r>
              <a:t>资料类型：TypeSafe 官方资料</a:t>
            </a:r>
          </a:p>
          <a:p xmlns:a="http://schemas.openxmlformats.org/drawingml/2006/main">
            <a:r>
              <a:t>作者/年份： 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Jev 1.13 jaggedness — TypeSafe AI</a:t>
            </a:r>
          </a:p>
          <a:p xmlns:a="http://schemas.openxmlformats.org/drawingml/2006/main">
            <a:r>
              <a:t>https://docs.typesafe.ai/model-jaggedness/jev-1.13</a:t>
            </a:r>
          </a:p>
          <a:p xmlns:a="http://schemas.openxmlformats.org/drawingml/2006/main">
            <a:r>
              <a:t>官方能力边界和失效情形；用于补充候选顺序、上下文和精确运算测试。</a:t>
            </a:r>
          </a:p>
          <a:p xmlns:a="http://schemas.openxmlformats.org/drawingml/2006/main">
            <a:r>
              <a:t>资料类型：TypeSafe 官方资料</a:t>
            </a:r>
          </a:p>
          <a:p xmlns:a="http://schemas.openxmlformats.org/drawingml/2006/main">
            <a:r>
              <a:t>作者/年份： </a:t>
            </a:r>
          </a:p>
          <a:p xmlns:a="http://schemas.openxmlformats.org/drawingml/2006/main">
            <a:r>
              <a:t>相关原文：https://docs.typesafe.ai/guides/jaggedness</a:t>
            </a:r>
          </a:p>
          <a:p xmlns:a="http://schemas.openxmlformats.org/drawingml/2006/main">
            <a:r>
              <a:t>来源核验说明：当前链接可读；旧 /guides/jaggedness 本次工具无法读取，已保留旧链接映射。</a:t>
            </a:r>
          </a:p>
          <a:p xmlns:a="http://schemas.openxmlformats.org/drawingml/2006/main">
            <a:r>
              <a:t>核验状态：verified_live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DevDay 2026 Recap</a:t>
            </a:r>
          </a:p>
          <a:p xmlns:a="http://schemas.openxmlformats.org/drawingml/2006/main">
            <a:r>
              <a:t>https://openai.com/index/devday-2026-recap/</a:t>
            </a:r>
          </a:p>
          <a:p xmlns:a="http://schemas.openxmlformats.org/drawingml/2006/main">
            <a:r>
              <a:t>Decisions API 的官方预览公告：有限答案、文本/图片上下文；不扩展到未披露性质。</a:t>
            </a:r>
          </a:p>
          <a:p xmlns:a="http://schemas.openxmlformats.org/drawingml/2006/main">
            <a:r>
              <a:t>资料类型：其他官方接口与演示</a:t>
            </a:r>
          </a:p>
          <a:p xmlns:a="http://schemas.openxmlformats.org/drawingml/2006/main">
            <a:r>
              <a:t>作者/年份：OpenAI 2026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ref_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中文教程、工程文章与黑盒研究；架构猜测须与官方披露分开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[9] datawhalechina/jev-cookbook</a:t>
            </a:r>
          </a:p>
          <a:p xmlns:a="http://schemas.openxmlformats.org/drawingml/2006/main">
            <a:r>
              <a:t>https://github.com/datawhalechina/jev-cookbook</a:t>
            </a:r>
          </a:p>
          <a:p xmlns:a="http://schemas.openxmlformats.org/drawingml/2006/main">
            <a:r>
              <a:t>中文入门、问题原语、应用配方与本地训练示例；实现须按具体版本核对。</a:t>
            </a:r>
          </a:p>
          <a:p xmlns:a="http://schemas.openxmlformats.org/drawingml/2006/main">
            <a:r>
              <a:t>资料类型：入门与工程解读</a:t>
            </a:r>
          </a:p>
          <a:p xmlns:a="http://schemas.openxmlformats.org/drawingml/2006/main">
            <a:r>
              <a:t>作者/年份： 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What is Jev? TypeSafe's decision-making AI model and real benchmarks</a:t>
            </a:r>
          </a:p>
          <a:p xmlns:a="http://schemas.openxmlformats.org/drawingml/2006/main">
            <a:r>
              <a:t>https://greennode.ai/blog/what-is-jev</a:t>
            </a:r>
          </a:p>
          <a:p xmlns:a="http://schemas.openxmlformats.org/drawingml/2006/main">
            <a:r>
              <a:t>第三方入门与评测汇总；涉及指标时应回溯原始实验及其时间和协议。</a:t>
            </a:r>
          </a:p>
          <a:p xmlns:a="http://schemas.openxmlformats.org/drawingml/2006/main">
            <a:r>
              <a:t>资料类型：入门与工程解读</a:t>
            </a:r>
          </a:p>
          <a:p xmlns:a="http://schemas.openxmlformats.org/drawingml/2006/main">
            <a:r>
              <a:t>作者/年份：Phuoc Han 2026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Jev Engineering 101</a:t>
            </a:r>
          </a:p>
          <a:p xmlns:a="http://schemas.openxmlformats.org/drawingml/2006/main">
            <a:r>
              <a:t>https://craftbettersoftware.com/p/jev-engineering-101</a:t>
            </a:r>
          </a:p>
          <a:p xmlns:a="http://schemas.openxmlformats.org/drawingml/2006/main">
            <a:r>
              <a:t>用 LLM、决策模型与代码分工解释工程接入；性能数字为转述。</a:t>
            </a:r>
          </a:p>
          <a:p xmlns:a="http://schemas.openxmlformats.org/drawingml/2006/main">
            <a:r>
              <a:t>资料类型：入门与工程解读</a:t>
            </a:r>
          </a:p>
          <a:p xmlns:a="http://schemas.openxmlformats.org/drawingml/2006/main">
            <a:r>
              <a:t>作者/年份：Daniel Moka 2026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Jev’s Architecture Unmasked</a:t>
            </a:r>
          </a:p>
          <a:p xmlns:a="http://schemas.openxmlformats.org/drawingml/2006/main">
            <a:r>
              <a:t>https://archerhume.com/posts/jevs-architecture-unmasked</a:t>
            </a:r>
          </a:p>
          <a:p xmlns:a="http://schemas.openxmlformats.org/drawingml/2006/main">
            <a:r>
              <a:t>黑盒行为测试与架构假说；注意观测、推断和官方披露的证据层级。</a:t>
            </a:r>
          </a:p>
          <a:p xmlns:a="http://schemas.openxmlformats.org/drawingml/2006/main">
            <a:r>
              <a:t>资料类型：入门与工程解读</a:t>
            </a:r>
          </a:p>
          <a:p xmlns:a="http://schemas.openxmlformats.org/drawingml/2006/main">
            <a:r>
              <a:t>作者/年份：Archer Hume 2026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ref_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项目一手资料；通用模型、多语言模型和领域 checkpoint 分开看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NandhaKishorM/laya</a:t>
            </a:r>
          </a:p>
          <a:p xmlns:a="http://schemas.openxmlformats.org/drawingml/2006/main">
            <a:r>
              <a:t>https://github.com/NandhaKishorM/laya</a:t>
            </a:r>
          </a:p>
          <a:p xmlns:a="http://schemas.openxmlformats.org/drawingml/2006/main">
            <a:r>
              <a:t>Laya 的代码、接口、路由与部署资料；接口相似不表示复现 Jev 内部模型。</a:t>
            </a:r>
          </a:p>
          <a:p xmlns:a="http://schemas.openxmlformats.org/drawingml/2006/main">
            <a:r>
              <a:t>资料类型：Laya 模型与扩展</a:t>
            </a:r>
          </a:p>
          <a:p xmlns:a="http://schemas.openxmlformats.org/drawingml/2006/main">
            <a:r>
              <a:t>作者/年份： 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convaiinnovations/laya</a:t>
            </a:r>
          </a:p>
          <a:p xmlns:a="http://schemas.openxmlformats.org/drawingml/2006/main">
            <a:r>
              <a:t>https://huggingface.co/convaiinnovations/laya</a:t>
            </a:r>
          </a:p>
          <a:p xmlns:a="http://schemas.openxmlformats.org/drawingml/2006/main">
            <a:r>
              <a:t>英语 Laya 模型卡：ModernBERT 编码器与候选决策头。</a:t>
            </a:r>
          </a:p>
          <a:p xmlns:a="http://schemas.openxmlformats.org/drawingml/2006/main">
            <a:r>
              <a:t>资料类型：Laya 模型与扩展</a:t>
            </a:r>
          </a:p>
          <a:p xmlns:a="http://schemas.openxmlformats.org/drawingml/2006/main">
            <a:r>
              <a:t>作者/年份： 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convaiinnovations/laya-multilingual</a:t>
            </a:r>
          </a:p>
          <a:p xmlns:a="http://schemas.openxmlformats.org/drawingml/2006/main">
            <a:r>
              <a:t>https://huggingface.co/convaiinnovations/laya-multilingual</a:t>
            </a:r>
          </a:p>
          <a:p xmlns:a="http://schemas.openxmlformats.org/drawingml/2006/main">
            <a:r>
              <a:t>多语言 Laya 模型卡：mmBERT 路线；预算与校准需按任务复测。</a:t>
            </a:r>
          </a:p>
          <a:p xmlns:a="http://schemas.openxmlformats.org/drawingml/2006/main">
            <a:r>
              <a:t>资料类型：Laya 模型与扩展</a:t>
            </a:r>
          </a:p>
          <a:p xmlns:a="http://schemas.openxmlformats.org/drawingml/2006/main">
            <a:r>
              <a:t>作者/年份： 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convaiinnovations/laya-typed-decisions</a:t>
            </a:r>
          </a:p>
          <a:p xmlns:a="http://schemas.openxmlformats.org/drawingml/2006/main">
            <a:r>
              <a:t>https://huggingface.co/convaiinnovations/laya-typed-decisions</a:t>
            </a:r>
          </a:p>
          <a:p xmlns:a="http://schemas.openxmlformats.org/drawingml/2006/main">
            <a:r>
              <a:t>面向 typed-decisions 工作流微调的专用 checkpoint，区别于通用零样本设置。</a:t>
            </a:r>
          </a:p>
          <a:p xmlns:a="http://schemas.openxmlformats.org/drawingml/2006/main">
            <a:r>
              <a:t>资料类型：Laya 模型与扩展</a:t>
            </a:r>
          </a:p>
          <a:p xmlns:a="http://schemas.openxmlformats.org/drawingml/2006/main">
            <a:r>
              <a:t>作者/年份： 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ref_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不同作者的独立项目；名称或接口相似不代表底层架构相同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vishalmysore/layaMOE</a:t>
            </a:r>
          </a:p>
          <a:p xmlns:a="http://schemas.openxmlformats.org/drawingml/2006/main">
            <a:r>
              <a:t>https://github.com/vishalmysore/layaMOE</a:t>
            </a:r>
          </a:p>
          <a:p xmlns:a="http://schemas.openxmlformats.org/drawingml/2006/main">
            <a:r>
              <a:t>独立社区扩展：共享冻结编码器、领域决策头与路由；小样本结果需谨慎解读。</a:t>
            </a:r>
          </a:p>
          <a:p xmlns:a="http://schemas.openxmlformats.org/drawingml/2006/main">
            <a:r>
              <a:t>资料类型：Laya 模型与扩展</a:t>
            </a:r>
          </a:p>
          <a:p xmlns:a="http://schemas.openxmlformats.org/drawingml/2006/main">
            <a:r>
              <a:t>作者/年份： 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TianyuCodings/NanoJev</a:t>
            </a:r>
          </a:p>
          <a:p xmlns:a="http://schemas.openxmlformats.org/drawingml/2006/main">
            <a:r>
              <a:t>https://github.com/TianyuCodings/NanoJev</a:t>
            </a:r>
          </a:p>
          <a:p xmlns:a="http://schemas.openxmlformats.org/drawingml/2006/main">
            <a:r>
              <a:t>公开的轻量决策头、动态候选与训练流水线；与 TypeSafe 私有架构区分。</a:t>
            </a:r>
          </a:p>
          <a:p xmlns:a="http://schemas.openxmlformats.org/drawingml/2006/main">
            <a:r>
              <a:t>资料类型：社区决策模型</a:t>
            </a:r>
          </a:p>
          <a:p xmlns:a="http://schemas.openxmlformats.org/drawingml/2006/main">
            <a:r>
              <a:t>作者/年份： 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TheoLeeCJ/SemIf-OpenJev</a:t>
            </a:r>
          </a:p>
          <a:p xmlns:a="http://schemas.openxmlformats.org/drawingml/2006/main">
            <a:r>
              <a:t>https://github.com/TheoLeeCJ/SemIf-OpenJev</a:t>
            </a:r>
          </a:p>
          <a:p xmlns:a="http://schemas.openxmlformats.org/drawingml/2006/main">
            <a:r>
              <a:t>SemIf（原 OpenJev）探索开放模型直接候选读出；明确独立于 TypeSafe。</a:t>
            </a:r>
          </a:p>
          <a:p xmlns:a="http://schemas.openxmlformats.org/drawingml/2006/main">
            <a:r>
              <a:t>资料类型：社区决策模型</a:t>
            </a:r>
          </a:p>
          <a:p xmlns:a="http://schemas.openxmlformats.org/drawingml/2006/main">
            <a:r>
              <a:t>作者/年份： 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[20] Heman10x-NGU/openJev-verdict-2.0</a:t>
            </a:r>
          </a:p>
          <a:p xmlns:a="http://schemas.openxmlformats.org/drawingml/2006/main">
            <a:r>
              <a:t>https://github.com/Heman10x-NGU/openJev-verdict-2.0</a:t>
            </a:r>
          </a:p>
          <a:p xmlns:a="http://schemas.openxmlformats.org/drawingml/2006/main">
            <a:r>
              <a:t>独立社区项目索引；同名 OpenJev 需注明 owner，榜单应核对协议。</a:t>
            </a:r>
          </a:p>
          <a:p xmlns:a="http://schemas.openxmlformats.org/drawingml/2006/main">
            <a:r>
              <a:t>资料类型：社区决策模型</a:t>
            </a:r>
          </a:p>
          <a:p xmlns:a="http://schemas.openxmlformats.org/drawingml/2006/main">
            <a:r>
              <a:t>作者/年份： 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ref_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项目代码、原始模型卡与社区运行时；后端改变后仍需重新核对表现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[21] Contrastive-LM/CLM</a:t>
            </a:r>
          </a:p>
          <a:p xmlns:a="http://schemas.openxmlformats.org/drawingml/2006/main">
            <a:r>
              <a:t>https://github.com/Contrastive-LM/CLM</a:t>
            </a:r>
          </a:p>
          <a:p xmlns:a="http://schemas.openxmlformats.org/drawingml/2006/main">
            <a:r>
              <a:t>CLM 实现、推理与任务头微调；状态与候选动作分别编码。</a:t>
            </a:r>
          </a:p>
          <a:p xmlns:a="http://schemas.openxmlformats.org/drawingml/2006/main">
            <a:r>
              <a:t>资料类型：CLM 模型与运行时</a:t>
            </a:r>
          </a:p>
          <a:p xmlns:a="http://schemas.openxmlformats.org/drawingml/2006/main">
            <a:r>
              <a:t>作者/年份： 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[22] Contrastive-LM/CLM-v0.1-8B</a:t>
            </a:r>
          </a:p>
          <a:p xmlns:a="http://schemas.openxmlformats.org/drawingml/2006/main">
            <a:r>
              <a:t>https://huggingface.co/Contrastive-LM/CLM-v0.1-8B</a:t>
            </a:r>
          </a:p>
          <a:p xmlns:a="http://schemas.openxmlformats.org/drawingml/2006/main">
            <a:r>
              <a:t>冻结 Qwen3-8B 加状态/动作投影头、双向 InfoNCE；概率相对于给定候选集。</a:t>
            </a:r>
          </a:p>
          <a:p xmlns:a="http://schemas.openxmlformats.org/drawingml/2006/main">
            <a:r>
              <a:t>资料类型：CLM 模型与运行时</a:t>
            </a:r>
          </a:p>
          <a:p xmlns:a="http://schemas.openxmlformats.org/drawingml/2006/main">
            <a:r>
              <a:t>作者/年份： 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[23] mlx-community/CLM-v0.1-8B-MLX-8bit</a:t>
            </a:r>
          </a:p>
          <a:p xmlns:a="http://schemas.openxmlformats.org/drawingml/2006/main">
            <a:r>
              <a:t>https://huggingface.co/mlx-community/CLM-v0.1-8B-MLX-8bit</a:t>
            </a:r>
          </a:p>
          <a:p xmlns:a="http://schemas.openxmlformats.org/drawingml/2006/main">
            <a:r>
              <a:t>Apple Silicon 的社区量化运行时移植；后端变化不等于独立质量提升。</a:t>
            </a:r>
          </a:p>
          <a:p xmlns:a="http://schemas.openxmlformats.org/drawingml/2006/main">
            <a:r>
              <a:t>资料类型：CLM 模型与运行时</a:t>
            </a:r>
          </a:p>
          <a:p xmlns:a="http://schemas.openxmlformats.org/drawingml/2006/main">
            <a:r>
              <a:t>作者/年份： 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ref_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平台文档、社区配方及 LoRA 论文；SFT 配方不能直接当作 Jev 的 RLCD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[24] 大模型后训练平台与 Training API | PyTRIO</a:t>
            </a:r>
          </a:p>
          <a:p xmlns:a="http://schemas.openxmlformats.org/drawingml/2006/main">
            <a:r>
              <a:t>https://pytrio.com/</a:t>
            </a:r>
          </a:p>
          <a:p xmlns:a="http://schemas.openxmlformats.org/drawingml/2006/main">
            <a:r>
              <a:t>后训练平台入口；平台支持 RL 不代表每个社区训练配方都使用 RL。</a:t>
            </a:r>
          </a:p>
          <a:p xmlns:a="http://schemas.openxmlformats.org/drawingml/2006/main">
            <a:r>
              <a:t>资料类型：训练平台与实现配方</a:t>
            </a:r>
          </a:p>
          <a:p xmlns:a="http://schemas.openxmlformats.org/drawingml/2006/main">
            <a:r>
              <a:t>作者/年份： 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来源核验说明：网页标题可读取，正文由客户端渲染；训练能力另以官方 Training 文档核实。</a:t>
            </a:r>
          </a:p>
          <a:p xmlns:a="http://schemas.openxmlformats.org/drawingml/2006/main">
            <a:r>
              <a:t>核验状态：verified_live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[25] Training — PyTRIO Docs</a:t>
            </a:r>
          </a:p>
          <a:p xmlns:a="http://schemas.openxmlformats.org/drawingml/2006/main">
            <a:r>
              <a:t>https://docs.pytrio.com/en/docs/guide/train</a:t>
            </a:r>
          </a:p>
          <a:p xmlns:a="http://schemas.openxmlformats.org/drawingml/2006/main">
            <a:r>
              <a:t>官方训练 API：前后向计算、优化器更新和检查点等流程。</a:t>
            </a:r>
          </a:p>
          <a:p xmlns:a="http://schemas.openxmlformats.org/drawingml/2006/main">
            <a:r>
              <a:t>资料类型：训练平台与实现配方</a:t>
            </a:r>
          </a:p>
          <a:p xmlns:a="http://schemas.openxmlformats.org/drawingml/2006/main">
            <a:r>
              <a:t>作者/年份： 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[26] 第 9.5 篇，一顿麦当劳早餐，人人都可训练自己的 Jev 决策模型！</a:t>
            </a:r>
          </a:p>
          <a:p xmlns:a="http://schemas.openxmlformats.org/drawingml/2006/main">
            <a:r>
              <a:t>https://raw.githubusercontent.com/KMnO4-zx/agentic-rl-lab/d2ba99ce6964f0525c0c0ab25dcefed50ee50e6b/09-pytrio-jev/readme.md</a:t>
            </a:r>
          </a:p>
          <a:p xmlns:a="http://schemas.openxmlformats.org/drawingml/2006/main">
            <a:r>
              <a:t>agentic-rl-lab 的 PyTRIO 配方：masked CE、LoRA 与温度校准；作者结果非本实验复测。</a:t>
            </a:r>
          </a:p>
          <a:p xmlns:a="http://schemas.openxmlformats.org/drawingml/2006/main">
            <a:r>
              <a:t>资料类型：训练平台与实现配方</a:t>
            </a:r>
          </a:p>
          <a:p xmlns:a="http://schemas.openxmlformats.org/drawingml/2006/main">
            <a:r>
              <a:t>作者/年份： </a:t>
            </a:r>
          </a:p>
          <a:p xmlns:a="http://schemas.openxmlformats.org/drawingml/2006/main">
            <a:r>
              <a:t>相关原文：https://github.com/KMnO4-zx/agentic-rl-lab/tree/main/09-pytrio-jev</a:t>
            </a:r>
          </a:p>
          <a:p xmlns:a="http://schemas.openxmlformats.org/drawingml/2006/main">
            <a:r>
              <a:t>https://github.com/KMnO4-zx/agentic-rl-lab/blob/d2ba99ce6964f0525c0c0ab25dcefed50ee50e6b/09-pytrio-jev/data.py</a:t>
            </a:r>
          </a:p>
          <a:p xmlns:a="http://schemas.openxmlformats.org/drawingml/2006/main">
            <a:r>
              <a:t>https://github.com/KMnO4-zx/agentic-rl-lab/blob/d2ba99ce6964f0525c0c0ab25dcefed50ee50e6b/09-pytrio-jev/inference.py</a:t>
            </a:r>
          </a:p>
          <a:p xmlns:a="http://schemas.openxmlformats.org/drawingml/2006/main">
            <a:r>
              <a:t>https://github.com/KMnO4-zx/agentic-rl-lab</a:t>
            </a:r>
          </a:p>
          <a:p xmlns:a="http://schemas.openxmlformats.org/drawingml/2006/main">
            <a:r>
              <a:t>来源核验说明：GitHub 子目录和 blob 页面本次工具读取失败；已通过同一固定 commit 的 raw README 及主仓库核实题名与内容。</a:t>
            </a:r>
          </a:p>
          <a:p xmlns:a="http://schemas.openxmlformats.org/drawingml/2006/main">
            <a:r>
              <a:t>核验状态：verified_live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[27] LoRA: Low-Rank Adaptation of Large Language Models</a:t>
            </a:r>
          </a:p>
          <a:p xmlns:a="http://schemas.openxmlformats.org/drawingml/2006/main">
            <a:r>
              <a:t>https://arxiv.org/abs/2106.09685</a:t>
            </a:r>
          </a:p>
          <a:p xmlns:a="http://schemas.openxmlformats.org/drawingml/2006/main">
            <a:r>
              <a:t>低秩权重更新的方法基础；用于区分任务头训练与 LoRA 适配。</a:t>
            </a:r>
          </a:p>
          <a:p xmlns:a="http://schemas.openxmlformats.org/drawingml/2006/main">
            <a:r>
              <a:t>资料类型：概率校准与微调基础</a:t>
            </a:r>
          </a:p>
          <a:p xmlns:a="http://schemas.openxmlformats.org/drawingml/2006/main">
            <a:r>
              <a:t>作者/年份： 2021 / 2022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ref_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项目一手资料和官方 API 文档；模型决策与输出格式约束分别阅读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[28] Intern-Decision</a:t>
            </a:r>
          </a:p>
          <a:p xmlns:a="http://schemas.openxmlformats.org/drawingml/2006/main">
            <a:r>
              <a:t>https://github.com/InternLM/Intern-Decision/blob/main/README_zh-CN.md</a:t>
            </a:r>
          </a:p>
          <a:p xmlns:a="http://schemas.openxmlformats.org/drawingml/2006/main">
            <a:r>
              <a:t>Qwen3.5 多模态结构化决策实现；训练、校准、评测与开放范围见中文说明。</a:t>
            </a:r>
          </a:p>
          <a:p xmlns:a="http://schemas.openxmlformats.org/drawingml/2006/main">
            <a:r>
              <a:t>资料类型：训练平台与实现配方</a:t>
            </a:r>
          </a:p>
          <a:p xmlns:a="http://schemas.openxmlformats.org/drawingml/2006/main">
            <a:r>
              <a:t>作者/年份： </a:t>
            </a:r>
          </a:p>
          <a:p xmlns:a="http://schemas.openxmlformats.org/drawingml/2006/main">
            <a:r>
              <a:t>相关原文：https://github.com/InternLM/Intern-Decision/tree/main</a:t>
            </a:r>
          </a:p>
          <a:p xmlns:a="http://schemas.openxmlformats.org/drawingml/2006/main">
            <a:r>
              <a:t>https://github.com/InternLM/Intern-Decision/blob/main/docs/EVALUATION.md</a:t>
            </a:r>
          </a:p>
          <a:p xmlns:a="http://schemas.openxmlformats.org/drawingml/2006/main">
            <a:r>
              <a:t>https://github.com/InternLM/Intern-Decision/blob/3572c8a68b5df5dafe02d0e093989ba8ec0183bc/src/inference/hf_backend.py</a:t>
            </a:r>
          </a:p>
          <a:p xmlns:a="http://schemas.openxmlformats.org/drawingml/2006/main">
            <a:r>
              <a:t>https://github.com/InternLM/Intern-Decision/blob/3572c8a68b5df5dafe02d0e093989ba8ec0183bc/configs/training/qwen35.py</a:t>
            </a:r>
          </a:p>
          <a:p xmlns:a="http://schemas.openxmlformats.org/drawingml/2006/main">
            <a:r>
              <a:t>https://github.com/InternLM/Intern-Decision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[29] internlm/Intern-Decision-4B</a:t>
            </a:r>
          </a:p>
          <a:p xmlns:a="http://schemas.openxmlformats.org/drawingml/2006/main">
            <a:r>
              <a:t>https://huggingface.co/internlm/Intern-Decision-4B</a:t>
            </a:r>
          </a:p>
          <a:p xmlns:a="http://schemas.openxmlformats.org/drawingml/2006/main">
            <a:r>
              <a:t>4B 模型卡与响应格式；作为待评估多模态扩展，不冒充本地已测基线。</a:t>
            </a:r>
          </a:p>
          <a:p xmlns:a="http://schemas.openxmlformats.org/drawingml/2006/main">
            <a:r>
              <a:t>资料类型：训练平台与实现配方</a:t>
            </a:r>
          </a:p>
          <a:p xmlns:a="http://schemas.openxmlformats.org/drawingml/2006/main">
            <a:r>
              <a:t>作者/年份： 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[30] Structured model outputs</a:t>
            </a:r>
          </a:p>
          <a:p xmlns:a="http://schemas.openxmlformats.org/drawingml/2006/main">
            <a:r>
              <a:t>https://developers.openai.com/api/docs/guides/structured-outputs</a:t>
            </a:r>
          </a:p>
          <a:p xmlns:a="http://schemas.openxmlformats.org/drawingml/2006/main">
            <a:r>
              <a:t>OpenAI Structured Outputs 的 schema 接口文档；与 Decisions API 分别引用。</a:t>
            </a:r>
          </a:p>
          <a:p xmlns:a="http://schemas.openxmlformats.org/drawingml/2006/main">
            <a:r>
              <a:t>资料类型：其他官方接口与演示</a:t>
            </a:r>
          </a:p>
          <a:p xmlns:a="http://schemas.openxmlformats.org/drawingml/2006/main">
            <a:r>
              <a:t>作者/年份：OpenAI 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ref_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相关研究方向的阅读地图；这些综述不专门介绍 Jev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[31] Dynamic Model Routing and Cascading for Efficient LLM Inference: A Survey</a:t>
            </a:r>
          </a:p>
          <a:p xmlns:a="http://schemas.openxmlformats.org/drawingml/2006/main">
            <a:r>
              <a:t>https://arxiv.org/abs/2603.04445v3</a:t>
            </a:r>
          </a:p>
          <a:p xmlns:a="http://schemas.openxmlformats.org/drawingml/2006/main">
            <a:r>
              <a:t>区分请求前选模型的 routing 与先调用再升级的 cascading；非 Jev 专题综述。</a:t>
            </a:r>
          </a:p>
          <a:p xmlns:a="http://schemas.openxmlformats.org/drawingml/2006/main">
            <a:r>
              <a:t>资料类型：综述与研究地图</a:t>
            </a:r>
          </a:p>
          <a:p xmlns:a="http://schemas.openxmlformats.org/drawingml/2006/main">
            <a:r>
              <a:t>作者/年份：Yasmin Moslem; John D. Kelleher 2026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[32] Classifier Calibration: A survey on how to assess and improve predicted class probabilities</a:t>
            </a:r>
          </a:p>
          <a:p xmlns:a="http://schemas.openxmlformats.org/drawingml/2006/main">
            <a:r>
              <a:t>https://arxiv.org/abs/2112.10327v2</a:t>
            </a:r>
          </a:p>
          <a:p xmlns:a="http://schemas.openxmlformats.org/drawingml/2006/main">
            <a:r>
              <a:t>分类概率的评估、后处理与训练期校准方法，直接关联 Choice 的概率解释。</a:t>
            </a:r>
          </a:p>
          <a:p xmlns:a="http://schemas.openxmlformats.org/drawingml/2006/main">
            <a:r>
              <a:t>资料类型：综述与研究地图</a:t>
            </a:r>
          </a:p>
          <a:p xmlns:a="http://schemas.openxmlformats.org/drawingml/2006/main">
            <a:r>
              <a:t>作者/年份：Telmo Silva Filho et al. 2021 / 2023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[33] Know Your Limits: A Survey of Abstention in Large Language Models</a:t>
            </a:r>
          </a:p>
          <a:p xmlns:a="http://schemas.openxmlformats.org/drawingml/2006/main">
            <a:r>
              <a:t>https://arxiv.org/abs/2407.18418</a:t>
            </a:r>
          </a:p>
          <a:p xmlns:a="http://schemas.openxmlformats.org/drawingml/2006/main">
            <a:r>
              <a:t>拒答、选择性预测与风险—覆盖率框架；不能视为特定模型已具备的能力。</a:t>
            </a:r>
          </a:p>
          <a:p xmlns:a="http://schemas.openxmlformats.org/drawingml/2006/main">
            <a:r>
              <a:t>资料类型：综述与研究地图</a:t>
            </a:r>
          </a:p>
          <a:p xmlns:a="http://schemas.openxmlformats.org/drawingml/2006/main">
            <a:r>
              <a:t>作者/年份：Bingbing Wen et al. 2024 / 2025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[34] Uncertainty Quantification and Confidence Calibration in Large Language Models: A Survey</a:t>
            </a:r>
          </a:p>
          <a:p xmlns:a="http://schemas.openxmlformats.org/drawingml/2006/main">
            <a:r>
              <a:t>https://arxiv.org/abs/2503.15850</a:t>
            </a:r>
          </a:p>
          <a:p xmlns:a="http://schemas.openxmlformats.org/drawingml/2006/main">
            <a:r>
              <a:t>区分不确定性、置信分数与校准方法；用于拓展概率语义和评估设计。</a:t>
            </a:r>
          </a:p>
          <a:p xmlns:a="http://schemas.openxmlformats.org/drawingml/2006/main">
            <a:r>
              <a:t>资料类型：综述与研究地图</a:t>
            </a:r>
          </a:p>
          <a:p xmlns:a="http://schemas.openxmlformats.org/drawingml/2006/main">
            <a:r>
              <a:t>作者/年份： 2025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ref_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Jev 预印本、社区比较和早期 verifier 论文；外部结果不并入本次实验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[35] Evaluating and Benchmarking the System One Model Jev</a:t>
            </a:r>
          </a:p>
          <a:p xmlns:a="http://schemas.openxmlformats.org/drawingml/2006/main">
            <a:r>
              <a:t>https://arxiv.org/abs/2609.37647v1</a:t>
            </a:r>
          </a:p>
          <a:p xmlns:a="http://schemas.openxmlformats.org/drawingml/2006/main">
            <a:r>
              <a:t>跨任务独立评测与概率阈值分析；结论限定于论文版本、数据及对照设置。</a:t>
            </a:r>
          </a:p>
          <a:p xmlns:a="http://schemas.openxmlformats.org/drawingml/2006/main">
            <a:r>
              <a:t>资料类型：Jev 独立评测</a:t>
            </a:r>
          </a:p>
          <a:p xmlns:a="http://schemas.openxmlformats.org/drawingml/2006/main">
            <a:r>
              <a:t>作者/年份：Tobias Deußer; Lorenz Sparrenberg; Rafet Sifa 2026</a:t>
            </a:r>
          </a:p>
          <a:p xmlns:a="http://schemas.openxmlformats.org/drawingml/2006/main">
            <a:r>
              <a:t>相关原文：https://arxiv.org/html/2609.37647v1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[36] JEV vs. LLMs as Rubric Judges: Cheaper, Faster, and Wrong in the Same Places</a:t>
            </a:r>
          </a:p>
          <a:p xmlns:a="http://schemas.openxmlformats.org/drawingml/2006/main">
            <a:r>
              <a:t>https://arxiv.org/abs/2609.29769v2</a:t>
            </a:r>
          </a:p>
          <a:p xmlns:a="http://schemas.openxmlformats.org/drawingml/2006/main">
            <a:r>
              <a:t>rubric 评审与错误相关性研究；回退模型是否互补仍需业务逐样本验证。</a:t>
            </a:r>
          </a:p>
          <a:p xmlns:a="http://schemas.openxmlformats.org/drawingml/2006/main">
            <a:r>
              <a:t>资料类型：Jev 独立评测</a:t>
            </a:r>
          </a:p>
          <a:p xmlns:a="http://schemas.openxmlformats.org/drawingml/2006/main">
            <a:r>
              <a:t>作者/年份：Delip Rao; Chris Callison-Burch 2026</a:t>
            </a:r>
          </a:p>
          <a:p xmlns:a="http://schemas.openxmlformats.org/drawingml/2006/main">
            <a:r>
              <a:t>相关原文：https://arxiv.org/abs/2609.29769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[37] Jev vs Laya: SQL review benchmark</a:t>
            </a:r>
          </a:p>
          <a:p xmlns:a="http://schemas.openxmlformats.org/drawingml/2006/main">
            <a:r>
              <a:t>https://github.com/DDnim/jev-vs-laya</a:t>
            </a:r>
          </a:p>
          <a:p xmlns:a="http://schemas.openxmlformats.org/drawingml/2006/main">
            <a:r>
              <a:t>小样本 SQL 审查、任务路由和领域微调案例；硬件与数据限制不支持普遍性能排名。</a:t>
            </a:r>
          </a:p>
          <a:p xmlns:a="http://schemas.openxmlformats.org/drawingml/2006/main">
            <a:r>
              <a:t>资料类型：Jev 独立评测</a:t>
            </a:r>
          </a:p>
          <a:p xmlns:a="http://schemas.openxmlformats.org/drawingml/2006/main">
            <a:r>
              <a:t>作者/年份：DDnim 2026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[38] Training Verifiers to Solve Math Word Problems</a:t>
            </a:r>
          </a:p>
          <a:p xmlns:a="http://schemas.openxmlformats.org/drawingml/2006/main">
            <a:r>
              <a:t>https://arxiv.org/abs/2110.14168</a:t>
            </a:r>
          </a:p>
          <a:p xmlns:a="http://schemas.openxmlformats.org/drawingml/2006/main">
            <a:r>
              <a:t>生成多个解答并由 verifier 评分选择；为生成与判别分工提供历史背景。</a:t>
            </a:r>
          </a:p>
          <a:p xmlns:a="http://schemas.openxmlformats.org/drawingml/2006/main">
            <a:r>
              <a:t>资料类型：技术基础与历史</a:t>
            </a:r>
          </a:p>
          <a:p xmlns:a="http://schemas.openxmlformats.org/drawingml/2006/main">
            <a:r>
              <a:t>作者/年份：Karl Cobbe et al. 2021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ref_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原始论文；帮助判断哪些思想已有基础，哪些组合值得进一步验证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[39] BERT: Pre-training of Deep Bidirectional Transformers for Language Understanding</a:t>
            </a:r>
          </a:p>
          <a:p xmlns:a="http://schemas.openxmlformats.org/drawingml/2006/main">
            <a:r>
              <a:t>https://arxiv.org/abs/1810.04805</a:t>
            </a:r>
          </a:p>
          <a:p xmlns:a="http://schemas.openxmlformats.org/drawingml/2006/main">
            <a:r>
              <a:t>双向 Transformer 预训练与分类微调基础，用于理解编码器决策路线。</a:t>
            </a:r>
          </a:p>
          <a:p xmlns:a="http://schemas.openxmlformats.org/drawingml/2006/main">
            <a:r>
              <a:t>资料类型：技术基础与历史</a:t>
            </a:r>
          </a:p>
          <a:p xmlns:a="http://schemas.openxmlformats.org/drawingml/2006/main">
            <a:r>
              <a:t>作者/年份： 2018 / 2019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[40] Benchmarking Zero-shot Text Classification: Datasets, Evaluation and Entailment Approach</a:t>
            </a:r>
          </a:p>
          <a:p xmlns:a="http://schemas.openxmlformats.org/drawingml/2006/main">
            <a:r>
              <a:t>https://arxiv.org/abs/1909.00161</a:t>
            </a:r>
          </a:p>
          <a:p xmlns:a="http://schemas.openxmlformats.org/drawingml/2006/main">
            <a:r>
              <a:t>将标签描述转为文本蕴涵判断，连接 NLI 与零样本分类。</a:t>
            </a:r>
          </a:p>
          <a:p xmlns:a="http://schemas.openxmlformats.org/drawingml/2006/main">
            <a:r>
              <a:t>资料类型：技术基础与历史</a:t>
            </a:r>
          </a:p>
          <a:p xmlns:a="http://schemas.openxmlformats.org/drawingml/2006/main">
            <a:r>
              <a:t>作者/年份：Wenpeng Yin; Jamaal Hay; Dan Roth 2019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来源核验说明：论文题名和内容已在线核实；这是对任务所称 NLI 历史方向的明确选篇，不声称它出现在当前 PPT 注释中。</a:t>
            </a:r>
          </a:p>
          <a:p xmlns:a="http://schemas.openxmlformats.org/drawingml/2006/main">
            <a:r>
              <a:t>核验状态：verified_live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[41] Learning Transferable Visual Models From Natural Language Supervision</a:t>
            </a:r>
          </a:p>
          <a:p xmlns:a="http://schemas.openxmlformats.org/drawingml/2006/main">
            <a:r>
              <a:t>https://arxiv.org/abs/2103.00020</a:t>
            </a:r>
          </a:p>
          <a:p xmlns:a="http://schemas.openxmlformats.org/drawingml/2006/main">
            <a:r>
              <a:t>CLIP 的图文对比学习与文本候选匹配，为相似度式决策提供背景。</a:t>
            </a:r>
          </a:p>
          <a:p xmlns:a="http://schemas.openxmlformats.org/drawingml/2006/main">
            <a:r>
              <a:t>资料类型：技术基础与历史</a:t>
            </a:r>
          </a:p>
          <a:p xmlns:a="http://schemas.openxmlformats.org/drawingml/2006/main">
            <a:r>
              <a:t>作者/年份： 2021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[42] GLiClass: Generalist Lightweight Model for Sequence Classification Tasks</a:t>
            </a:r>
          </a:p>
          <a:p xmlns:a="http://schemas.openxmlformats.org/drawingml/2006/main">
            <a:r>
              <a:t>https://arxiv.org/abs/2508.07662</a:t>
            </a:r>
          </a:p>
          <a:p xmlns:a="http://schemas.openxmlformats.org/drawingml/2006/main">
            <a:r>
              <a:t>轻量通用序列分类与单次前向候选判别，连接零样本分类生态。</a:t>
            </a:r>
          </a:p>
          <a:p xmlns:a="http://schemas.openxmlformats.org/drawingml/2006/main">
            <a:r>
              <a:t>资料类型：技术基础与历史</a:t>
            </a:r>
          </a:p>
          <a:p xmlns:a="http://schemas.openxmlformats.org/drawingml/2006/main">
            <a:r>
              <a:t>作者/年份： 2025</a:t>
            </a:r>
          </a:p>
          <a:p xmlns:a="http://schemas.openxmlformats.org/drawingml/2006/main">
            <a:r>
              <a:t>相关原文：https://github.com/Knowledgator/GLiClass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ref_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原始论文及 Google 官方课程；高分、正确率与业务放行阈值需要区分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[43] On Calibration of Modern Neural Networks</a:t>
            </a:r>
          </a:p>
          <a:p xmlns:a="http://schemas.openxmlformats.org/drawingml/2006/main">
            <a:r>
              <a:t>https://proceedings.mlr.press/v70/guo17a.html</a:t>
            </a:r>
          </a:p>
          <a:p xmlns:a="http://schemas.openxmlformats.org/drawingml/2006/main">
            <a:r>
              <a:t>温度缩放与神经网络置信校准；保持固定 logits 时不改变 argmax。</a:t>
            </a:r>
          </a:p>
          <a:p xmlns:a="http://schemas.openxmlformats.org/drawingml/2006/main">
            <a:r>
              <a:t>资料类型：概率校准与微调基础</a:t>
            </a:r>
          </a:p>
          <a:p xmlns:a="http://schemas.openxmlformats.org/drawingml/2006/main">
            <a:r>
              <a:t>作者/年份：Chuan Guo; Geoff Pleiss; Yu Sun; Kilian Q. Weinberger 2017</a:t>
            </a:r>
          </a:p>
          <a:p xmlns:a="http://schemas.openxmlformats.org/drawingml/2006/main">
            <a:r>
              <a:t>相关原文：https://proceedings.mlr.press/v70/guo17a/guo17a.pdf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[44] Strictly Proper Scoring Rules, Prediction, and Estimation</a:t>
            </a:r>
          </a:p>
          <a:p xmlns:a="http://schemas.openxmlformats.org/drawingml/2006/main">
            <a:r>
              <a:t>https://sites.stat.washington.edu/people/raftery/Research/PDF/Gneiting2007jasa.pdf</a:t>
            </a:r>
          </a:p>
          <a:p xmlns:a="http://schemas.openxmlformats.org/drawingml/2006/main">
            <a:r>
              <a:t>proper scoring rule 的概率预测基础；不据此推断 TypeSafe 私有 RLCD 损失。</a:t>
            </a:r>
          </a:p>
          <a:p xmlns:a="http://schemas.openxmlformats.org/drawingml/2006/main">
            <a:r>
              <a:t>资料类型：概率校准与微调基础</a:t>
            </a:r>
          </a:p>
          <a:p xmlns:a="http://schemas.openxmlformats.org/drawingml/2006/main">
            <a:r>
              <a:t>作者/年份：Tilmann Gneiting; Adrian E. Raftery 2007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来源核验说明：作者所在大学托管 PDF 已读取；DOI 在检索中可核实，但本次直接打开 DOI 跳转失败。</a:t>
            </a:r>
          </a:p>
          <a:p xmlns:a="http://schemas.openxmlformats.org/drawingml/2006/main">
            <a:r>
              <a:t>核验状态：verified_live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[45] 分类 — Google 机器学习速成课程</a:t>
            </a:r>
          </a:p>
          <a:p xmlns:a="http://schemas.openxmlformats.org/drawingml/2006/main">
            <a:r>
              <a:t>https://developers.google.com/machine-learning/crash-course/classification?hl=zh-cn</a:t>
            </a:r>
          </a:p>
          <a:p xmlns:a="http://schemas.openxmlformats.org/drawingml/2006/main">
            <a:r>
              <a:t>分类概率、阈值及评估指标的中文入门课程。</a:t>
            </a:r>
          </a:p>
          <a:p xmlns:a="http://schemas.openxmlformats.org/drawingml/2006/main">
            <a:r>
              <a:t>资料类型：概率校准与微调基础</a:t>
            </a:r>
          </a:p>
          <a:p xmlns:a="http://schemas.openxmlformats.org/drawingml/2006/main">
            <a:r>
              <a:t>作者/年份： 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[46] 阈值和混淆矩阵 — Google 机器学习速成课程</a:t>
            </a:r>
          </a:p>
          <a:p xmlns:a="http://schemas.openxmlformats.org/drawingml/2006/main">
            <a:r>
              <a:t>https://developers.google.com/machine-learning/crash-course/classification/thresholding?hl=zh-cn</a:t>
            </a:r>
          </a:p>
          <a:p xmlns:a="http://schemas.openxmlformats.org/drawingml/2006/main">
            <a:r>
              <a:t>互动阈值教材：观察假正例、假负例和业务错误代价的变化。</a:t>
            </a:r>
          </a:p>
          <a:p xmlns:a="http://schemas.openxmlformats.org/drawingml/2006/main">
            <a:r>
              <a:t>资料类型：概率校准与微调基础</a:t>
            </a:r>
          </a:p>
          <a:p xmlns:a="http://schemas.openxmlformats.org/drawingml/2006/main">
            <a:r>
              <a:t>作者/年份： 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ref_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论文、教学图解和社区 demo；演示不替代业务数据上的评测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[47] RouteLLM: Learning to Route LLMs with Preference Data</a:t>
            </a:r>
          </a:p>
          <a:p xmlns:a="http://schemas.openxmlformats.org/drawingml/2006/main">
            <a:r>
              <a:t>https://arxiv.org/abs/2406.18665</a:t>
            </a:r>
          </a:p>
          <a:p xmlns:a="http://schemas.openxmlformats.org/drawingml/2006/main">
            <a:r>
              <a:t>利用偏好数据学习强弱模型路由；质量、成本与迁移能力应共同评估。</a:t>
            </a:r>
          </a:p>
          <a:p xmlns:a="http://schemas.openxmlformats.org/drawingml/2006/main">
            <a:r>
              <a:t>资料类型：技术基础与历史</a:t>
            </a:r>
          </a:p>
          <a:p xmlns:a="http://schemas.openxmlformats.org/drawingml/2006/main">
            <a:r>
              <a:t>作者/年份： 2024 / 2025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[48] The Illustrated Transformer</a:t>
            </a:r>
          </a:p>
          <a:p xmlns:a="http://schemas.openxmlformats.org/drawingml/2006/main">
            <a:r>
              <a:t>https://jalammar.github.io/illustrated-transformer/</a:t>
            </a:r>
          </a:p>
          <a:p xmlns:a="http://schemas.openxmlformats.org/drawingml/2006/main">
            <a:r>
              <a:t>Jay Alammar 的可视化 Transformer 教程，用于注意力和编码/解码结构背景。</a:t>
            </a:r>
          </a:p>
          <a:p xmlns:a="http://schemas.openxmlformats.org/drawingml/2006/main">
            <a:r>
              <a:t>资料类型：技术基础与历史</a:t>
            </a:r>
          </a:p>
          <a:p xmlns:a="http://schemas.openxmlformats.org/drawingml/2006/main">
            <a:r>
              <a:t>作者/年份：Jay Alammar 2018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[49] Jev experiments — JevMade</a:t>
            </a:r>
          </a:p>
          <a:p xmlns:a="http://schemas.openxmlformats.org/drawingml/2006/main">
            <a:r>
              <a:t>https://jevmade.com/experiments</a:t>
            </a:r>
          </a:p>
          <a:p xmlns:a="http://schemas.openxmlformats.org/drawingml/2006/main">
            <a:r>
              <a:t>社区案例目录，可用来找应用点子；列表介绍需回到具体项目核对。</a:t>
            </a:r>
          </a:p>
          <a:p xmlns:a="http://schemas.openxmlformats.org/drawingml/2006/main">
            <a:r>
              <a:t>资料类型：其他官方接口与演示</a:t>
            </a:r>
          </a:p>
          <a:p xmlns:a="http://schemas.openxmlformats.org/drawingml/2006/main">
            <a:r>
              <a:t>作者/年份： 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[50] browser-use/jev-ultrafast</a:t>
            </a:r>
          </a:p>
          <a:p xmlns:a="http://schemas.openxmlformats.org/drawingml/2006/main">
            <a:r>
              <a:t>https://github.com/browser-use/jev-ultrafast</a:t>
            </a:r>
          </a:p>
          <a:p xmlns:a="http://schemas.openxmlformats.org/drawingml/2006/main">
            <a:r>
              <a:t>浏览器动作选择演示；演示效果不代替统一任务集上的评测。</a:t>
            </a:r>
          </a:p>
          <a:p xmlns:a="http://schemas.openxmlformats.org/drawingml/2006/main">
            <a:r>
              <a:t>资料类型：其他官方接口与演示</a:t>
            </a:r>
          </a:p>
          <a:p xmlns:a="http://schemas.openxmlformats.org/drawingml/2006/main">
            <a:r>
              <a:t>作者/年份： 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[51] fhshaik/typesafe-mario</a:t>
            </a:r>
          </a:p>
          <a:p xmlns:a="http://schemas.openxmlformats.org/drawingml/2006/main">
            <a:r>
              <a:t>https://github.com/fhshaik/typesafe-mario</a:t>
            </a:r>
          </a:p>
          <a:p xmlns:a="http://schemas.openxmlformats.org/drawingml/2006/main">
            <a:r>
              <a:t>从模拟器结构化状态选择游戏控制的演示，不是原始图像输入能力证明。</a:t>
            </a:r>
          </a:p>
          <a:p xmlns:a="http://schemas.openxmlformats.org/drawingml/2006/main">
            <a:r>
              <a:t>资料类型：其他官方接口与演示</a:t>
            </a:r>
          </a:p>
          <a:p xmlns:a="http://schemas.openxmlformats.org/drawingml/2006/main">
            <a:r>
              <a:t>作者/年份： </a:t>
            </a:r>
          </a:p>
          <a:p xmlns:a="http://schemas.openxmlformats.org/drawingml/2006/main">
            <a:r>
              <a:t>相关原文：</a:t>
            </a:r>
          </a:p>
          <a:p xmlns:a="http://schemas.openxmlformats.org/drawingml/2006/main">
            <a:r>
              <a:t>来源核验说明：</a:t>
            </a:r>
          </a:p>
          <a:p xmlns:a="http://schemas.openxmlformats.org/drawingml/2006/main">
            <a:r>
              <a:t>核验状态：verified_live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ref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ref_slideMaster1.xml" Id="R97968897fb454312"/></Relationships>
</file>

<file path=ppt/slideLayouts/_rels/ref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ref_slideMaster1.xml" Id="R670d71c91b104c17"/></Relationships>
</file>

<file path=ppt/slideLayouts/_rels/ref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ref_slideMaster1.xml" Id="R4aee1f67dea64188"/></Relationships>
</file>

<file path=ppt/slideLayouts/_rels/ref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ref_slideMaster1.xml" Id="Raa6225bd9a844402"/></Relationships>
</file>

<file path=ppt/slideLayouts/_rels/ref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ref_slideMaster1.xml" Id="Re767a4a6eefa4d93"/></Relationships>
</file>

<file path=ppt/slideLayouts/_rels/ref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ref_slideMaster1.xml" Id="R75cefa0b7c1d48c3"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97bc3b2bdb4199" /></Relationships>
</file>

<file path=ppt/slideLayouts/ref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FCE53D-0075-40D6-BD2C-838EA74B7B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83B8DD5-F27E-4478-959E-8EC2A073DCB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ref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E6ADE1C-D7B1-4CBF-9185-99A6E5E08A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ref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23D2CFD-CA2C-4A4C-AC8B-B86BA306D1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9AD76FF-E737-4994-87DF-EBB248FBAB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ref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E269360-D423-47D8-92B3-471ADBABBD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6FFCE56-F81F-40FF-94D7-A1B5FE3F2D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13FD0A4-71D9-4609-8CCD-FE8F416AE2D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ref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67A57F-5BB1-40CC-B4C4-E77BAC9E3C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BB06A24-993C-4388-8545-939F19B6FB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ref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ref_slideMaster1.xml.rels><?xml version='1.0' encoding='UTF-8' standalone='yes'?>
<Relationships xmlns="http://schemas.openxmlformats.org/package/2006/relationships"><Relationship Type="http://schemas.openxmlformats.org/officeDocument/2006/relationships/theme" Target="theme/ref_theme2.xml" Id="Rd47b743936714382"/><Relationship Type="http://schemas.openxmlformats.org/officeDocument/2006/relationships/slideLayout" Target="../slideLayouts/ref_slideLayout1.xml" Id="Rd36fa424e47c475d"/><Relationship Type="http://schemas.openxmlformats.org/officeDocument/2006/relationships/slideLayout" Target="../slideLayouts/ref_slideLayout2.xml" Id="R59988809536d4063"/><Relationship Type="http://schemas.openxmlformats.org/officeDocument/2006/relationships/slideLayout" Target="../slideLayouts/ref_slideLayout3.xml" Id="R6f78477a377f47c5"/><Relationship Type="http://schemas.openxmlformats.org/officeDocument/2006/relationships/slideLayout" Target="../slideLayouts/ref_slideLayout4.xml" Id="R2bafe150ad7944e7"/><Relationship Type="http://schemas.openxmlformats.org/officeDocument/2006/relationships/slideLayout" Target="../slideLayouts/ref_slideLayout5.xml" Id="R11cc7963e5cf4bfe"/><Relationship Type="http://schemas.openxmlformats.org/officeDocument/2006/relationships/slideLayout" Target="../slideLayouts/ref_slideLayout6.xml" Id="R2dd3b27309d54f48"/></Relationships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840aa8240e4a87" /><Relationship Type="http://schemas.openxmlformats.org/officeDocument/2006/relationships/slideLayout" Target="/ppt/slideLayouts/slideLayout1.xml" Id="Rb28e2c8c5a424775" /></Relationships>
</file>

<file path=ppt/slideMasters/ref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6fa424e47c475d"/>
    <p:sldLayoutId xmlns:r="http://schemas.openxmlformats.org/officeDocument/2006/relationships" id="2147483650" r:id="R59988809536d4063"/>
    <p:sldLayoutId xmlns:r="http://schemas.openxmlformats.org/officeDocument/2006/relationships" id="2147483651" r:id="R6f78477a377f47c5"/>
    <p:sldLayoutId xmlns:r="http://schemas.openxmlformats.org/officeDocument/2006/relationships" id="2147483652" r:id="R2bafe150ad7944e7"/>
    <p:sldLayoutId xmlns:r="http://schemas.openxmlformats.org/officeDocument/2006/relationships" id="2147483653" r:id="R11cc7963e5cf4bfe"/>
    <p:sldLayoutId xmlns:r="http://schemas.openxmlformats.org/officeDocument/2006/relationships" id="2147483654" r:id="R2dd3b27309d54f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8e2c8c5a4247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ref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ref_slide1.xml.rels><?xml version='1.0' encoding='UTF-8' standalone='yes'?>
<Relationships xmlns="http://schemas.openxmlformats.org/package/2006/relationships"><Relationship Type="http://schemas.openxmlformats.org/officeDocument/2006/relationships/slideLayout" Target="../slideLayouts/ref_slideLayout6.xml" Id="Ra3f05d6b09764802"/><Relationship Type="http://schemas.openxmlformats.org/officeDocument/2006/relationships/hyperlink" Target="https://docs.typesafe.ai/introduction" TargetMode="External" Id="R5013bc3de48046b4"/><Relationship Type="http://schemas.openxmlformats.org/officeDocument/2006/relationships/hyperlink" Target="https://docs.typesafe.ai/models" TargetMode="External" Id="R0fcaa2ea56cf46a5"/><Relationship Type="http://schemas.openxmlformats.org/officeDocument/2006/relationships/hyperlink" Target="https://docs.typesafe.ai/primitives/choice" TargetMode="External" Id="R6b2926cf98144e89"/><Relationship Type="http://schemas.openxmlformats.org/officeDocument/2006/relationships/hyperlink" Target="https://docs.typesafe.ai/confidence" TargetMode="External" Id="R076e291e7e264618"/><Relationship Type="http://schemas.openxmlformats.org/officeDocument/2006/relationships/notesSlide" Target="../notesSlides/ref_notesSlide1.xml" Id="R99fd150611ca4847"/></Relationships>
</file>

<file path=ppt/slides/_rels/ref_slide2.xml.rels><?xml version='1.0' encoding='UTF-8' standalone='yes'?>
<Relationships xmlns="http://schemas.openxmlformats.org/package/2006/relationships"><Relationship Type="http://schemas.openxmlformats.org/officeDocument/2006/relationships/slideLayout" Target="../slideLayouts/ref_slideLayout6.xml" Id="R6cae19c292f64a22"/><Relationship Type="http://schemas.openxmlformats.org/officeDocument/2006/relationships/hyperlink" Target="https://typesafe.ai/blog/introducing-system-one-models-and-jev" TargetMode="External" Id="R60ee7dd49ab348a0"/><Relationship Type="http://schemas.openxmlformats.org/officeDocument/2006/relationships/hyperlink" Target="https://docs.typesafe.ai/introduction/machine-learning-primer" TargetMode="External" Id="R7cb413b852fb4f8a"/><Relationship Type="http://schemas.openxmlformats.org/officeDocument/2006/relationships/hyperlink" Target="https://docs.typesafe.ai/model-jaggedness/jev-1.13" TargetMode="External" Id="R7bd0922cae9b49a5"/><Relationship Type="http://schemas.openxmlformats.org/officeDocument/2006/relationships/hyperlink" Target="https://openai.com/index/devday-2026-recap/" TargetMode="External" Id="R2b4bdac663cb4cc1"/><Relationship Type="http://schemas.openxmlformats.org/officeDocument/2006/relationships/notesSlide" Target="../notesSlides/ref_notesSlide2.xml" Id="R3097cee6b2c74db1"/></Relationships>
</file>

<file path=ppt/slides/_rels/ref_slide3.xml.rels><?xml version='1.0' encoding='UTF-8' standalone='yes'?>
<Relationships xmlns="http://schemas.openxmlformats.org/package/2006/relationships"><Relationship Type="http://schemas.openxmlformats.org/officeDocument/2006/relationships/slideLayout" Target="../slideLayouts/ref_slideLayout6.xml" Id="Rf94709761fa94011"/><Relationship Type="http://schemas.openxmlformats.org/officeDocument/2006/relationships/hyperlink" Target="https://github.com/datawhalechina/jev-cookbook" TargetMode="External" Id="R8befd40ca843489b"/><Relationship Type="http://schemas.openxmlformats.org/officeDocument/2006/relationships/hyperlink" Target="https://greennode.ai/blog/what-is-jev" TargetMode="External" Id="Ra7d76baa4e724f68"/><Relationship Type="http://schemas.openxmlformats.org/officeDocument/2006/relationships/hyperlink" Target="https://craftbettersoftware.com/p/jev-engineering-101" TargetMode="External" Id="R3c9f1988baca483f"/><Relationship Type="http://schemas.openxmlformats.org/officeDocument/2006/relationships/hyperlink" Target="https://archerhume.com/posts/jevs-architecture-unmasked" TargetMode="External" Id="R90f87831b27f4ee0"/><Relationship Type="http://schemas.openxmlformats.org/officeDocument/2006/relationships/notesSlide" Target="../notesSlides/ref_notesSlide3.xml" Id="R21c8d5934d1e4b9d"/></Relationships>
</file>

<file path=ppt/slides/_rels/ref_slide4.xml.rels><?xml version='1.0' encoding='UTF-8' standalone='yes'?>
<Relationships xmlns="http://schemas.openxmlformats.org/package/2006/relationships"><Relationship Type="http://schemas.openxmlformats.org/officeDocument/2006/relationships/slideLayout" Target="../slideLayouts/ref_slideLayout6.xml" Id="R2fb6fdf22d604c76"/><Relationship Type="http://schemas.openxmlformats.org/officeDocument/2006/relationships/hyperlink" Target="https://github.com/NandhaKishorM/laya" TargetMode="External" Id="R7aa91eff172e44fe"/><Relationship Type="http://schemas.openxmlformats.org/officeDocument/2006/relationships/hyperlink" Target="https://huggingface.co/convaiinnovations/laya" TargetMode="External" Id="R408777818de74e0a"/><Relationship Type="http://schemas.openxmlformats.org/officeDocument/2006/relationships/hyperlink" Target="https://huggingface.co/convaiinnovations/laya-multilingual" TargetMode="External" Id="R7e3de9d8b1f24326"/><Relationship Type="http://schemas.openxmlformats.org/officeDocument/2006/relationships/hyperlink" Target="https://huggingface.co/convaiinnovations/laya-typed-decisions" TargetMode="External" Id="R5a450c839a2c4b0f"/><Relationship Type="http://schemas.openxmlformats.org/officeDocument/2006/relationships/notesSlide" Target="../notesSlides/ref_notesSlide4.xml" Id="Rf6f776523d1a4c0e"/></Relationships>
</file>

<file path=ppt/slides/_rels/ref_slide5.xml.rels><?xml version='1.0' encoding='UTF-8' standalone='yes'?>
<Relationships xmlns="http://schemas.openxmlformats.org/package/2006/relationships"><Relationship Type="http://schemas.openxmlformats.org/officeDocument/2006/relationships/slideLayout" Target="../slideLayouts/ref_slideLayout6.xml" Id="R13c98b031cf34c2e"/><Relationship Type="http://schemas.openxmlformats.org/officeDocument/2006/relationships/hyperlink" Target="https://github.com/vishalmysore/layaMOE" TargetMode="External" Id="R4c4e0e1c6cee4232"/><Relationship Type="http://schemas.openxmlformats.org/officeDocument/2006/relationships/hyperlink" Target="https://github.com/TianyuCodings/NanoJev" TargetMode="External" Id="Rf4335b42bd924ad2"/><Relationship Type="http://schemas.openxmlformats.org/officeDocument/2006/relationships/hyperlink" Target="https://github.com/TheoLeeCJ/SemIf-OpenJev" TargetMode="External" Id="R210933d6b13a46ea"/><Relationship Type="http://schemas.openxmlformats.org/officeDocument/2006/relationships/hyperlink" Target="https://github.com/Heman10x-NGU/openJev-verdict-2.0" TargetMode="External" Id="Rd2c092ee2a9749d6"/><Relationship Type="http://schemas.openxmlformats.org/officeDocument/2006/relationships/notesSlide" Target="../notesSlides/ref_notesSlide5.xml" Id="Rf713d449ab8c4803"/></Relationships>
</file>

<file path=ppt/slides/_rels/ref_slide6.xml.rels><?xml version='1.0' encoding='UTF-8' standalone='yes'?>
<Relationships xmlns="http://schemas.openxmlformats.org/package/2006/relationships"><Relationship Type="http://schemas.openxmlformats.org/officeDocument/2006/relationships/slideLayout" Target="../slideLayouts/ref_slideLayout6.xml" Id="R69840949bf324bcf"/><Relationship Type="http://schemas.openxmlformats.org/officeDocument/2006/relationships/hyperlink" Target="https://github.com/Contrastive-LM/CLM" TargetMode="External" Id="Rb2cc6ff3dc4745a4"/><Relationship Type="http://schemas.openxmlformats.org/officeDocument/2006/relationships/hyperlink" Target="https://huggingface.co/Contrastive-LM/CLM-v0.1-8B" TargetMode="External" Id="Re2417e5fa1d24647"/><Relationship Type="http://schemas.openxmlformats.org/officeDocument/2006/relationships/hyperlink" Target="https://huggingface.co/mlx-community/CLM-v0.1-8B-MLX-8bit" TargetMode="External" Id="Rcfaa356fd2074473"/><Relationship Type="http://schemas.openxmlformats.org/officeDocument/2006/relationships/notesSlide" Target="../notesSlides/ref_notesSlide6.xml" Id="Re8aeb65cded848b4"/></Relationships>
</file>

<file path=ppt/slides/_rels/ref_slide7.xml.rels><?xml version='1.0' encoding='UTF-8' standalone='yes'?>
<Relationships xmlns="http://schemas.openxmlformats.org/package/2006/relationships"><Relationship Type="http://schemas.openxmlformats.org/officeDocument/2006/relationships/slideLayout" Target="../slideLayouts/ref_slideLayout6.xml" Id="R1e728a3a0cbe4fff"/><Relationship Type="http://schemas.openxmlformats.org/officeDocument/2006/relationships/hyperlink" Target="https://pytrio.com/" TargetMode="External" Id="R01dcb62623e14296"/><Relationship Type="http://schemas.openxmlformats.org/officeDocument/2006/relationships/hyperlink" Target="https://docs.pytrio.com/en/docs/guide/train" TargetMode="External" Id="R42ce41c01f284e5c"/><Relationship Type="http://schemas.openxmlformats.org/officeDocument/2006/relationships/hyperlink" Target="https://raw.githubusercontent.com/KMnO4-zx/agentic-rl-lab/d2ba99ce6964f0525c0c0ab25dcefed50ee50e6b/09-pytrio-jev/readme.md" TargetMode="External" Id="R7c652c41abd142a1"/><Relationship Type="http://schemas.openxmlformats.org/officeDocument/2006/relationships/hyperlink" Target="https://arxiv.org/abs/2106.09685" TargetMode="External" Id="Rcb30989da4c14cbf"/><Relationship Type="http://schemas.openxmlformats.org/officeDocument/2006/relationships/notesSlide" Target="../notesSlides/ref_notesSlide7.xml" Id="Raadd051c0e084dd7"/></Relationships>
</file>

<file path=ppt/slides/_rels/ref_slide8.xml.rels><?xml version='1.0' encoding='UTF-8' standalone='yes'?>
<Relationships xmlns="http://schemas.openxmlformats.org/package/2006/relationships"><Relationship Type="http://schemas.openxmlformats.org/officeDocument/2006/relationships/slideLayout" Target="../slideLayouts/ref_slideLayout6.xml" Id="R9839399834cf493e"/><Relationship Type="http://schemas.openxmlformats.org/officeDocument/2006/relationships/hyperlink" Target="https://github.com/InternLM/Intern-Decision/blob/main/README_zh-CN.md" TargetMode="External" Id="R419e0513011d40a4"/><Relationship Type="http://schemas.openxmlformats.org/officeDocument/2006/relationships/hyperlink" Target="https://huggingface.co/internlm/Intern-Decision-4B" TargetMode="External" Id="R9eec7c88158e42bd"/><Relationship Type="http://schemas.openxmlformats.org/officeDocument/2006/relationships/hyperlink" Target="https://developers.openai.com/api/docs/guides/structured-outputs" TargetMode="External" Id="R09f6bb0f38864da5"/><Relationship Type="http://schemas.openxmlformats.org/officeDocument/2006/relationships/notesSlide" Target="../notesSlides/ref_notesSlide8.xml" Id="R9afa5d1ab3b44641"/></Relationships>
</file>

<file path=ppt/slides/_rels/ref_slide9.xml.rels><?xml version='1.0' encoding='UTF-8' standalone='yes'?>
<Relationships xmlns="http://schemas.openxmlformats.org/package/2006/relationships"><Relationship Type="http://schemas.openxmlformats.org/officeDocument/2006/relationships/slideLayout" Target="../slideLayouts/ref_slideLayout6.xml" Id="Rbffecb4a3f544b82"/><Relationship Type="http://schemas.openxmlformats.org/officeDocument/2006/relationships/hyperlink" Target="https://arxiv.org/abs/2603.04445v3" TargetMode="External" Id="R77747420bb3c4b7c"/><Relationship Type="http://schemas.openxmlformats.org/officeDocument/2006/relationships/hyperlink" Target="https://arxiv.org/abs/2112.10327v2" TargetMode="External" Id="R767d79f567de4649"/><Relationship Type="http://schemas.openxmlformats.org/officeDocument/2006/relationships/hyperlink" Target="https://arxiv.org/abs/2407.18418" TargetMode="External" Id="R294ea01180664dce"/><Relationship Type="http://schemas.openxmlformats.org/officeDocument/2006/relationships/hyperlink" Target="https://arxiv.org/abs/2503.15850" TargetMode="External" Id="R233e975df8974d60"/><Relationship Type="http://schemas.openxmlformats.org/officeDocument/2006/relationships/notesSlide" Target="../notesSlides/ref_notesSlide9.xml" Id="Rf892de26b0e444d7"/></Relationships>
</file>

<file path=ppt/slides/_rels/ref_slide10.xml.rels><?xml version='1.0' encoding='UTF-8' standalone='yes'?>
<Relationships xmlns="http://schemas.openxmlformats.org/package/2006/relationships"><Relationship Type="http://schemas.openxmlformats.org/officeDocument/2006/relationships/slideLayout" Target="../slideLayouts/ref_slideLayout6.xml" Id="R36e03b7634364cca"/><Relationship Type="http://schemas.openxmlformats.org/officeDocument/2006/relationships/hyperlink" Target="https://arxiv.org/abs/2609.37647v1" TargetMode="External" Id="R223003be9c8a43c2"/><Relationship Type="http://schemas.openxmlformats.org/officeDocument/2006/relationships/hyperlink" Target="https://arxiv.org/abs/2609.29769v2" TargetMode="External" Id="Rdd1ce40d9611428d"/><Relationship Type="http://schemas.openxmlformats.org/officeDocument/2006/relationships/hyperlink" Target="https://github.com/DDnim/jev-vs-laya" TargetMode="External" Id="R75f92f2a690c42cf"/><Relationship Type="http://schemas.openxmlformats.org/officeDocument/2006/relationships/hyperlink" Target="https://arxiv.org/abs/2110.14168" TargetMode="External" Id="R66608cfd080d42ab"/><Relationship Type="http://schemas.openxmlformats.org/officeDocument/2006/relationships/notesSlide" Target="../notesSlides/ref_notesSlide10.xml" Id="Rf9cd1c4778644f22"/></Relationships>
</file>

<file path=ppt/slides/_rels/ref_slide11.xml.rels><?xml version='1.0' encoding='UTF-8' standalone='yes'?>
<Relationships xmlns="http://schemas.openxmlformats.org/package/2006/relationships"><Relationship Type="http://schemas.openxmlformats.org/officeDocument/2006/relationships/slideLayout" Target="../slideLayouts/ref_slideLayout6.xml" Id="R3972d9f66f944980"/><Relationship Type="http://schemas.openxmlformats.org/officeDocument/2006/relationships/hyperlink" Target="https://arxiv.org/abs/1810.04805" TargetMode="External" Id="R478ae470ca3b4f5e"/><Relationship Type="http://schemas.openxmlformats.org/officeDocument/2006/relationships/hyperlink" Target="https://arxiv.org/abs/1909.00161" TargetMode="External" Id="R52bb1b6ebc7946ec"/><Relationship Type="http://schemas.openxmlformats.org/officeDocument/2006/relationships/hyperlink" Target="https://arxiv.org/abs/2103.00020" TargetMode="External" Id="Redda42944ad34d0e"/><Relationship Type="http://schemas.openxmlformats.org/officeDocument/2006/relationships/hyperlink" Target="https://arxiv.org/abs/2508.07662" TargetMode="External" Id="R9311ab1e5b1440e7"/><Relationship Type="http://schemas.openxmlformats.org/officeDocument/2006/relationships/notesSlide" Target="../notesSlides/ref_notesSlide11.xml" Id="R43b527e4285d4322"/></Relationships>
</file>

<file path=ppt/slides/_rels/ref_slide12.xml.rels><?xml version='1.0' encoding='UTF-8' standalone='yes'?>
<Relationships xmlns="http://schemas.openxmlformats.org/package/2006/relationships"><Relationship Type="http://schemas.openxmlformats.org/officeDocument/2006/relationships/slideLayout" Target="../slideLayouts/ref_slideLayout6.xml" Id="Rc9e683f1324f4848"/><Relationship Type="http://schemas.openxmlformats.org/officeDocument/2006/relationships/hyperlink" Target="https://proceedings.mlr.press/v70/guo17a.html" TargetMode="External" Id="R2226083948b4485d"/><Relationship Type="http://schemas.openxmlformats.org/officeDocument/2006/relationships/hyperlink" Target="https://sites.stat.washington.edu/people/raftery/Research/PDF/Gneiting2007jasa.pdf" TargetMode="External" Id="Ra5e62e765ba74355"/><Relationship Type="http://schemas.openxmlformats.org/officeDocument/2006/relationships/hyperlink" Target="https://developers.google.com/machine-learning/crash-course/classification?hl=zh-cn" TargetMode="External" Id="R26842b9f68bb4e1c"/><Relationship Type="http://schemas.openxmlformats.org/officeDocument/2006/relationships/hyperlink" Target="https://developers.google.com/machine-learning/crash-course/classification/thresholding?hl=zh-cn" TargetMode="External" Id="Rdc0dd9b77dcf40ec"/><Relationship Type="http://schemas.openxmlformats.org/officeDocument/2006/relationships/notesSlide" Target="../notesSlides/ref_notesSlide12.xml" Id="Rd4d8d89028dd4615"/></Relationships>
</file>

<file path=ppt/slides/_rels/ref_slide13.xml.rels><?xml version='1.0' encoding='UTF-8' standalone='yes'?>
<Relationships xmlns="http://schemas.openxmlformats.org/package/2006/relationships"><Relationship Type="http://schemas.openxmlformats.org/officeDocument/2006/relationships/slideLayout" Target="../slideLayouts/ref_slideLayout6.xml" Id="Re576edbf62ab42c2"/><Relationship Type="http://schemas.openxmlformats.org/officeDocument/2006/relationships/hyperlink" Target="https://arxiv.org/abs/2406.18665" TargetMode="External" Id="R79d1bceee96c43e3"/><Relationship Type="http://schemas.openxmlformats.org/officeDocument/2006/relationships/hyperlink" Target="https://jalammar.github.io/illustrated-transformer/" TargetMode="External" Id="R3db8bf9c6bac4b4d"/><Relationship Type="http://schemas.openxmlformats.org/officeDocument/2006/relationships/hyperlink" Target="https://jevmade.com/experiments" TargetMode="External" Id="R3a20149ea9064928"/><Relationship Type="http://schemas.openxmlformats.org/officeDocument/2006/relationships/hyperlink" Target="https://github.com/browser-use/jev-ultrafast" TargetMode="External" Id="R10523747e0c143d6"/><Relationship Type="http://schemas.openxmlformats.org/officeDocument/2006/relationships/hyperlink" Target="https://github.com/fhshaik/typesafe-mario" TargetMode="External" Id="R75f439df68bb4434"/><Relationship Type="http://schemas.openxmlformats.org/officeDocument/2006/relationships/notesSlide" Target="../notesSlides/ref_notesSlide13.xml" Id="Rf3affea7b85e457c"/></Relationships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1560395384bb5" /><Relationship Type="http://schemas.openxmlformats.org/officeDocument/2006/relationships/notesSlide" Target="/ppt/notesSlides/notesSlide1.xml" Id="R51a07c39f5ca41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7394a05014c07" /><Relationship Type="http://schemas.openxmlformats.org/officeDocument/2006/relationships/notesSlide" Target="/ppt/notesSlides/notesSlide2.xml" Id="Rd1e97f48416346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ff7e2683a485f" /><Relationship Type="http://schemas.openxmlformats.org/officeDocument/2006/relationships/notesSlide" Target="/ppt/notesSlides/notesSlide3.xml" Id="R824ee4d1966f47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a0080f6d34a5d" /><Relationship Type="http://schemas.openxmlformats.org/officeDocument/2006/relationships/chart" Target="/ppt/slides/charts/chart1.xml" Id="R7c7d063414354ffc" /><Relationship Type="http://schemas.openxmlformats.org/officeDocument/2006/relationships/notesSlide" Target="/ppt/notesSlides/notesSlide4.xml" Id="R205401bae27340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441f150b7411d" /><Relationship Type="http://schemas.openxmlformats.org/officeDocument/2006/relationships/notesSlide" Target="/ppt/notesSlides/notesSlide5.xml" Id="Rd780e936132946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c06b429924a4c" /><Relationship Type="http://schemas.openxmlformats.org/officeDocument/2006/relationships/notesSlide" Target="/ppt/notesSlides/notesSlide6.xml" Id="R0bddb60ce98840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dbe1b5a97412d" /><Relationship Type="http://schemas.openxmlformats.org/officeDocument/2006/relationships/notesSlide" Target="/ppt/notesSlides/notesSlide7.xml" Id="R6a1d07c0657641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3de10d2f54837" /><Relationship Type="http://schemas.openxmlformats.org/officeDocument/2006/relationships/notesSlide" Target="/ppt/notesSlides/notesSlide8.xml" Id="R0b232de8602b40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a942b4ac14c98" /><Relationship Type="http://schemas.openxmlformats.org/officeDocument/2006/relationships/notesSlide" Target="/ppt/notesSlides/notesSlide9.xml" Id="Rf8aec7b51b234d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c61973b504510" /><Relationship Type="http://schemas.openxmlformats.org/officeDocument/2006/relationships/notesSlide" Target="/ppt/notesSlides/notesSlide10.xml" Id="R79392f4b1c4348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e7bb97e8d41d3" /><Relationship Type="http://schemas.openxmlformats.org/officeDocument/2006/relationships/notesSlide" Target="/ppt/notesSlides/notesSlide11.xml" Id="R74e2f0eb4e3541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0d860661d4e91" /><Relationship Type="http://schemas.openxmlformats.org/officeDocument/2006/relationships/chart" Target="/ppt/slides/charts/chart2.xml" Id="Re3e6db480eb34f98" /><Relationship Type="http://schemas.openxmlformats.org/officeDocument/2006/relationships/chart" Target="/ppt/slides/charts/chart3.xml" Id="Rbdff58210a3b4182" /><Relationship Type="http://schemas.openxmlformats.org/officeDocument/2006/relationships/notesSlide" Target="/ppt/notesSlides/notesSlide12.xml" Id="Rcdc142218d9b43c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311dd50f846bd" /><Relationship Type="http://schemas.openxmlformats.org/officeDocument/2006/relationships/notesSlide" Target="/ppt/notesSlides/notesSlide13.xml" Id="Rcba4de283f00444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8030bffcf4949" /><Relationship Type="http://schemas.openxmlformats.org/officeDocument/2006/relationships/notesSlide" Target="/ppt/notesSlides/notesSlide14.xml" Id="Rf97d0c7613514c4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45a9a3fd34e46" /><Relationship Type="http://schemas.openxmlformats.org/officeDocument/2006/relationships/notesSlide" Target="/ppt/notesSlides/notesSlide15.xml" Id="R23304dcf1d134d3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e6596cb664905" /><Relationship Type="http://schemas.openxmlformats.org/officeDocument/2006/relationships/notesSlide" Target="/ppt/notesSlides/notesSlide16.xml" Id="R52cad37174114d3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7d1c4b0834636" /><Relationship Type="http://schemas.openxmlformats.org/officeDocument/2006/relationships/chart" Target="/ppt/slides/charts/chart4.xml" Id="R62f9ef8e688b4a0d" /><Relationship Type="http://schemas.openxmlformats.org/officeDocument/2006/relationships/notesSlide" Target="/ppt/notesSlides/notesSlide17.xml" Id="R9a349e758f3248e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6ed692e4940e4" /><Relationship Type="http://schemas.openxmlformats.org/officeDocument/2006/relationships/notesSlide" Target="/ppt/notesSlides/notesSlide18.xml" Id="Rba7d5254e26f4e0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b39763a5c4c24" /><Relationship Type="http://schemas.openxmlformats.org/officeDocument/2006/relationships/notesSlide" Target="/ppt/notesSlides/notesSlide19.xml" Id="Rbcd28f7bd7ab4cf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d1f4262174d27" /><Relationship Type="http://schemas.openxmlformats.org/officeDocument/2006/relationships/notesSlide" Target="/ppt/notesSlides/notesSlide20.xml" Id="R4f3d4f311f6f433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3304e49c046a1" /><Relationship Type="http://schemas.openxmlformats.org/officeDocument/2006/relationships/notesSlide" Target="/ppt/notesSlides/notesSlide21.xml" Id="Rd04bfcfef6e345c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4fe6595e0490e" /><Relationship Type="http://schemas.openxmlformats.org/officeDocument/2006/relationships/notesSlide" Target="/ppt/notesSlides/notesSlide22.xml" Id="R63261338453c45a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46d454bf442d5" /><Relationship Type="http://schemas.openxmlformats.org/officeDocument/2006/relationships/notesSlide" Target="/ppt/notesSlides/notesSlide23.xml" Id="R7209804e230549c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5515686b94ac8" /><Relationship Type="http://schemas.openxmlformats.org/officeDocument/2006/relationships/image" Target="/ppt/media/image.png" Id="Rd59491a312b94e20" /><Relationship Type="http://schemas.openxmlformats.org/officeDocument/2006/relationships/notesSlide" Target="/ppt/notesSlides/notesSlide24.xml" Id="R7e59a3845b53431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1c1ce3a92414e" /><Relationship Type="http://schemas.openxmlformats.org/officeDocument/2006/relationships/notesSlide" Target="/ppt/notesSlides/notesSlide25.xml" Id="Rc03c8fc185ed414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3d8de4de74f10" /><Relationship Type="http://schemas.openxmlformats.org/officeDocument/2006/relationships/notesSlide" Target="/ppt/notesSlides/notesSlide26.xml" Id="R3d7662eb7065407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7b8d97d3a41b4" /><Relationship Type="http://schemas.openxmlformats.org/officeDocument/2006/relationships/notesSlide" Target="/ppt/notesSlides/notesSlide27.xml" Id="R6fb010a7fc054df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f3aa7a4024223" /><Relationship Type="http://schemas.openxmlformats.org/officeDocument/2006/relationships/notesSlide" Target="/ppt/notesSlides/notesSlide28.xml" Id="R95d189f279af4c0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8219018604911" /><Relationship Type="http://schemas.openxmlformats.org/officeDocument/2006/relationships/notesSlide" Target="/ppt/notesSlides/notesSlide29.xml" Id="R22854dcd668d4df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a1d1b22674bb3" /><Relationship Type="http://schemas.openxmlformats.org/officeDocument/2006/relationships/notesSlide" Target="/ppt/notesSlides/notesSlide30.xml" Id="Re25604e44612452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fc50879454ba3" /><Relationship Type="http://schemas.openxmlformats.org/officeDocument/2006/relationships/chart" Target="/ppt/slides/charts/chart5.xml" Id="R2b226094e7c446ef" /><Relationship Type="http://schemas.openxmlformats.org/officeDocument/2006/relationships/chart" Target="/ppt/slides/charts/chart6.xml" Id="R35d815e585a847dc" /><Relationship Type="http://schemas.openxmlformats.org/officeDocument/2006/relationships/notesSlide" Target="/ppt/notesSlides/notesSlide31.xml" Id="R6a7c7083f7e3448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各选项概率</c:v>
          </c:tx>
          <c:spPr>
            <a:solidFill xmlns:a="http://schemas.openxmlformats.org/drawingml/2006/main">
              <a:srgbClr val="315B81"/>
            </a:solidFill>
          </c:spPr>
          <c:cat>
            <c:strRef>
              <c:f>'Chart Data'!$A$2:$A$4</c:f>
              <c:strCache>
                <c:ptCount val="3"/>
                <c:pt idx="0">
                  <c:v>工作流</c:v>
                </c:pt>
                <c:pt idx="1">
                  <c:v>翻译</c:v>
                </c:pt>
                <c:pt idx="2">
                  <c:v>数字人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0.6</c:v>
                </c:pt>
                <c:pt idx="1">
                  <c:v>0.3</c:v>
                </c:pt>
                <c:pt idx="2">
                  <c:v>0.1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>
                  <a:solidFill>
                    <a:srgbClr val="20242A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ED4D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</c:catAx>
      <c:valAx>
        <c:axId val="48672768"/>
        <c:scaling>
          <c:orientation val="minMax"/>
          <c:max val="0.8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3E7EA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CED4D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50条 dev 的准确率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20242A"/>
              </a:solidFill>
              <a:latin typeface="Noto Sans CJK SC"/>
              <a:ea typeface="Noto Sans CJK SC"/>
              <a:cs typeface="Noto Sans CJK SC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Head-only</c:v>
          </c:tx>
          <c:spPr>
            <a:ln xmlns:a="http://schemas.openxmlformats.org/drawingml/2006/main" w="23813">
              <a:solidFill>
                <a:srgbClr val="58616B"/>
              </a:solidFill>
            </a:ln>
          </c:spPr>
          <c:marker>
            <c:symbol val="square"/>
            <c:size val="7"/>
            <c:spPr>
              <a:solidFill xmlns:a="http://schemas.openxmlformats.org/drawingml/2006/main">
                <a:srgbClr val="58616B"/>
              </a:solidFill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'Chart Data'!$B$2:$B$6</c:f>
              <c:numCache>
                <c:formatCode>0%</c:formatCode>
                <c:ptCount val="5"/>
                <c:pt idx="0">
                  <c:v>0.54</c:v>
                </c:pt>
                <c:pt idx="1">
                  <c:v>0.54</c:v>
                </c:pt>
                <c:pt idx="2">
                  <c:v>0.54</c:v>
                </c:pt>
                <c:pt idx="3">
                  <c:v>0.54</c:v>
                </c:pt>
                <c:pt idx="4">
                  <c:v>0.54</c:v>
                </c:pt>
              </c:numCache>
            </c:numRef>
          </c:yVal>
        </c:ser>
        <c:ser>
          <c:idx val="1"/>
          <c:order val="1"/>
          <c:tx>
            <c:v>LoRA</c:v>
          </c:tx>
          <c:spPr>
            <a:ln xmlns:a="http://schemas.openxmlformats.org/drawingml/2006/main" w="23813">
              <a:solidFill>
                <a:srgbClr val="315B81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315B81"/>
              </a:solidFill>
            </c:spPr>
          </c:marker>
          <c:xVal>
            <c:numRef>
              <c:f>'Chart Data'!$C$2:$C$6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'Chart Data'!$D$2:$D$6</c:f>
              <c:numCache>
                <c:formatCode>0%</c:formatCode>
                <c:ptCount val="5"/>
                <c:pt idx="0">
                  <c:v>0.54</c:v>
                </c:pt>
                <c:pt idx="1">
                  <c:v>0.54</c:v>
                </c:pt>
                <c:pt idx="2">
                  <c:v>0.62</c:v>
                </c:pt>
                <c:pt idx="3">
                  <c:v>0.66</c:v>
                </c:pt>
                <c:pt idx="4">
                  <c:v>0.7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3E7EA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CED4D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</c:valAx>
      <c:valAx>
        <c:axId val="48650112"/>
        <c:scaling>
          <c:orientation val="minMax"/>
          <c:max val="4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CED4D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20242A"/>
              </a:solidFill>
              <a:latin typeface="Noto Sans CJK SC"/>
              <a:ea typeface="Noto Sans CJK SC"/>
              <a:cs typeface="Noto Sans CJK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给参考答案的扣分（交叉熵）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20242A"/>
              </a:solidFill>
              <a:latin typeface="Noto Sans CJK SC"/>
              <a:ea typeface="Noto Sans CJK SC"/>
              <a:cs typeface="Noto Sans CJK SC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Head-only</c:v>
          </c:tx>
          <c:spPr>
            <a:ln xmlns:a="http://schemas.openxmlformats.org/drawingml/2006/main" w="23813">
              <a:solidFill>
                <a:srgbClr val="58616B"/>
              </a:solidFill>
            </a:ln>
          </c:spPr>
          <c:marker>
            <c:symbol val="square"/>
            <c:size val="7"/>
            <c:spPr>
              <a:solidFill xmlns:a="http://schemas.openxmlformats.org/drawingml/2006/main">
                <a:srgbClr val="58616B"/>
              </a:solidFill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'Chart Data'!$B$2:$B$6</c:f>
              <c:numCache>
                <c:formatCode>0.0</c:formatCode>
                <c:ptCount val="5"/>
                <c:pt idx="0">
                  <c:v>1.666407</c:v>
                </c:pt>
                <c:pt idx="1">
                  <c:v>1.324463</c:v>
                </c:pt>
                <c:pt idx="2">
                  <c:v>1.262395</c:v>
                </c:pt>
                <c:pt idx="3">
                  <c:v>1.24278</c:v>
                </c:pt>
                <c:pt idx="4">
                  <c:v>1.237449</c:v>
                </c:pt>
              </c:numCache>
            </c:numRef>
          </c:yVal>
        </c:ser>
        <c:ser>
          <c:idx val="1"/>
          <c:order val="1"/>
          <c:tx>
            <c:v>LoRA</c:v>
          </c:tx>
          <c:spPr>
            <a:ln xmlns:a="http://schemas.openxmlformats.org/drawingml/2006/main" w="23813">
              <a:solidFill>
                <a:srgbClr val="315B81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315B81"/>
              </a:solidFill>
            </c:spPr>
          </c:marker>
          <c:xVal>
            <c:numRef>
              <c:f>'Chart Data'!$C$2:$C$6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'Chart Data'!$D$2:$D$6</c:f>
              <c:numCache>
                <c:formatCode>0.0</c:formatCode>
                <c:ptCount val="5"/>
                <c:pt idx="0">
                  <c:v>1.666407</c:v>
                </c:pt>
                <c:pt idx="1">
                  <c:v>1.248131</c:v>
                </c:pt>
                <c:pt idx="2">
                  <c:v>1.05985</c:v>
                </c:pt>
                <c:pt idx="3">
                  <c:v>0.936613</c:v>
                </c:pt>
                <c:pt idx="4">
                  <c:v>0.809985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8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3E7EA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CED4D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</c:valAx>
      <c:valAx>
        <c:axId val="48650112"/>
        <c:scaling>
          <c:orientation val="minMax"/>
          <c:max val="4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CED4D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20242A"/>
              </a:solidFill>
              <a:latin typeface="Noto Sans CJK SC"/>
              <a:ea typeface="Noto Sans CJK SC"/>
              <a:cs typeface="Noto Sans CJK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test 按最高选项概率分组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20242A"/>
              </a:solidFill>
              <a:latin typeface="Noto Sans CJK SC"/>
              <a:ea typeface="Noto Sans CJK SC"/>
              <a:cs typeface="Noto Sans CJK SC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这组平均最高概率</c:v>
          </c:tx>
          <c:spPr>
            <a:solidFill xmlns:a="http://schemas.openxmlformats.org/drawingml/2006/main">
              <a:srgbClr val="8B949D"/>
            </a:solidFill>
          </c:spPr>
          <c:cat>
            <c:strRef>
              <c:f>'Chart Data'!$A$2:$A$8</c:f>
              <c:strCache>
                <c:ptCount val="7"/>
                <c:pt idx="0">
                  <c:v>30–40%
n=1</c:v>
                </c:pt>
                <c:pt idx="1">
                  <c:v>40–50%
n=7</c:v>
                </c:pt>
                <c:pt idx="2">
                  <c:v>50–60%
n=8</c:v>
                </c:pt>
                <c:pt idx="3">
                  <c:v>60–70%
n=6</c:v>
                </c:pt>
                <c:pt idx="4">
                  <c:v>70–80%
n=7</c:v>
                </c:pt>
                <c:pt idx="5">
                  <c:v>80–90%
n=8</c:v>
                </c:pt>
                <c:pt idx="6">
                  <c:v>90–100%
n=13</c:v>
                </c:pt>
              </c:strCache>
            </c:strRef>
          </c:cat>
          <c:val>
            <c:numRef>
              <c:f>'Chart Data'!$B$2:$B$8</c:f>
              <c:numCache>
                <c:formatCode>0%</c:formatCode>
                <c:ptCount val="7"/>
                <c:pt idx="0">
                  <c:v>0.302227</c:v>
                </c:pt>
                <c:pt idx="1">
                  <c:v>0.447031</c:v>
                </c:pt>
                <c:pt idx="2">
                  <c:v>0.566533</c:v>
                </c:pt>
                <c:pt idx="3">
                  <c:v>0.635167</c:v>
                </c:pt>
                <c:pt idx="4">
                  <c:v>0.757511</c:v>
                </c:pt>
                <c:pt idx="5">
                  <c:v>0.841384</c:v>
                </c:pt>
                <c:pt idx="6">
                  <c:v>0.965099</c:v>
                </c:pt>
              </c:numCache>
            </c:numRef>
          </c:val>
        </c:ser>
        <c:ser>
          <c:idx val="1"/>
          <c:order val="1"/>
          <c:tx>
            <c:v>这组实际命中率</c:v>
          </c:tx>
          <c:spPr>
            <a:solidFill xmlns:a="http://schemas.openxmlformats.org/drawingml/2006/main">
              <a:srgbClr val="315B81"/>
            </a:solidFill>
          </c:spPr>
          <c:cat>
            <c:strRef>
              <c:f>'Chart Data'!$C$2:$C$8</c:f>
              <c:strCache>
                <c:ptCount val="7"/>
                <c:pt idx="0">
                  <c:v>30–40%
n=1</c:v>
                </c:pt>
                <c:pt idx="1">
                  <c:v>40–50%
n=7</c:v>
                </c:pt>
                <c:pt idx="2">
                  <c:v>50–60%
n=8</c:v>
                </c:pt>
                <c:pt idx="3">
                  <c:v>60–70%
n=6</c:v>
                </c:pt>
                <c:pt idx="4">
                  <c:v>70–80%
n=7</c:v>
                </c:pt>
                <c:pt idx="5">
                  <c:v>80–90%
n=8</c:v>
                </c:pt>
                <c:pt idx="6">
                  <c:v>90–100%
n=13</c:v>
                </c:pt>
              </c:strCache>
            </c:strRef>
          </c:cat>
          <c:val>
            <c:numRef>
              <c:f>'Chart Data'!$D$2:$D$8</c:f>
              <c:numCache>
                <c:formatCode>0%</c:formatCode>
                <c:ptCount val="7"/>
                <c:pt idx="0">
                  <c:v>0</c:v>
                </c:pt>
                <c:pt idx="1">
                  <c:v>0.571429</c:v>
                </c:pt>
                <c:pt idx="2">
                  <c:v>0.375</c:v>
                </c:pt>
                <c:pt idx="3">
                  <c:v>0.5</c:v>
                </c:pt>
                <c:pt idx="4">
                  <c:v>0.857143</c:v>
                </c:pt>
                <c:pt idx="5">
                  <c:v>1</c:v>
                </c:pt>
                <c:pt idx="6">
                  <c:v>0.846154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ED4D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3E7EA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CED4D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0242A"/>
              </a:solidFill>
              <a:latin typeface="Noto Sans CJK SC"/>
              <a:ea typeface="Noto Sans CJK SC"/>
              <a:cs typeface="Noto Sans CJK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校准后的非空概率分箱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20242A"/>
              </a:solidFill>
              <a:latin typeface="Noto Sans CJK SC"/>
              <a:ea typeface="Noto Sans CJK SC"/>
              <a:cs typeface="Noto Sans CJK SC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平均最高概率</c:v>
          </c:tx>
          <c:spPr>
            <a:solidFill xmlns:a="http://schemas.openxmlformats.org/drawingml/2006/main">
              <a:srgbClr val="8B949D"/>
            </a:solidFill>
          </c:spPr>
          <c:cat>
            <c:strRef>
              <c:f>'Chart Data'!$A$2:$A$8</c:f>
              <c:strCache>
                <c:ptCount val="7"/>
                <c:pt idx="0">
                  <c:v>0.3–0.4
n=1</c:v>
                </c:pt>
                <c:pt idx="1">
                  <c:v>0.4–0.5
n=7</c:v>
                </c:pt>
                <c:pt idx="2">
                  <c:v>0.5–0.6
n=8</c:v>
                </c:pt>
                <c:pt idx="3">
                  <c:v>0.6–0.7
n=6</c:v>
                </c:pt>
                <c:pt idx="4">
                  <c:v>0.7–0.8
n=7</c:v>
                </c:pt>
                <c:pt idx="5">
                  <c:v>0.8–0.9
n=8</c:v>
                </c:pt>
                <c:pt idx="6">
                  <c:v>0.9–1.0
n=13</c:v>
                </c:pt>
              </c:strCache>
            </c:strRef>
          </c:cat>
          <c:val>
            <c:numRef>
              <c:f>'Chart Data'!$B$2:$B$8</c:f>
              <c:numCache>
                <c:formatCode>0%</c:formatCode>
                <c:ptCount val="7"/>
                <c:pt idx="0">
                  <c:v>0.302227</c:v>
                </c:pt>
                <c:pt idx="1">
                  <c:v>0.447031</c:v>
                </c:pt>
                <c:pt idx="2">
                  <c:v>0.566533</c:v>
                </c:pt>
                <c:pt idx="3">
                  <c:v>0.635167</c:v>
                </c:pt>
                <c:pt idx="4">
                  <c:v>0.757511</c:v>
                </c:pt>
                <c:pt idx="5">
                  <c:v>0.841384</c:v>
                </c:pt>
                <c:pt idx="6">
                  <c:v>0.965099</c:v>
                </c:pt>
              </c:numCache>
            </c:numRef>
          </c:val>
        </c:ser>
        <c:ser>
          <c:idx val="1"/>
          <c:order val="1"/>
          <c:tx>
            <c:v>实际命中率</c:v>
          </c:tx>
          <c:spPr>
            <a:solidFill xmlns:a="http://schemas.openxmlformats.org/drawingml/2006/main">
              <a:srgbClr val="315B81"/>
            </a:solidFill>
          </c:spPr>
          <c:cat>
            <c:strRef>
              <c:f>'Chart Data'!$C$2:$C$8</c:f>
              <c:strCache>
                <c:ptCount val="7"/>
                <c:pt idx="0">
                  <c:v>0.3–0.4
n=1</c:v>
                </c:pt>
                <c:pt idx="1">
                  <c:v>0.4–0.5
n=7</c:v>
                </c:pt>
                <c:pt idx="2">
                  <c:v>0.5–0.6
n=8</c:v>
                </c:pt>
                <c:pt idx="3">
                  <c:v>0.6–0.7
n=6</c:v>
                </c:pt>
                <c:pt idx="4">
                  <c:v>0.7–0.8
n=7</c:v>
                </c:pt>
                <c:pt idx="5">
                  <c:v>0.8–0.9
n=8</c:v>
                </c:pt>
                <c:pt idx="6">
                  <c:v>0.9–1.0
n=13</c:v>
                </c:pt>
              </c:strCache>
            </c:strRef>
          </c:cat>
          <c:val>
            <c:numRef>
              <c:f>'Chart Data'!$D$2:$D$8</c:f>
              <c:numCache>
                <c:formatCode>0%</c:formatCode>
                <c:ptCount val="7"/>
                <c:pt idx="0">
                  <c:v>0</c:v>
                </c:pt>
                <c:pt idx="1">
                  <c:v>0.571429</c:v>
                </c:pt>
                <c:pt idx="2">
                  <c:v>0.375</c:v>
                </c:pt>
                <c:pt idx="3">
                  <c:v>0.5</c:v>
                </c:pt>
                <c:pt idx="4">
                  <c:v>0.857143</c:v>
                </c:pt>
                <c:pt idx="5">
                  <c:v>1</c:v>
                </c:pt>
                <c:pt idx="6">
                  <c:v>0.846154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ED4D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3E7EA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CED4D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20242A"/>
              </a:solidFill>
              <a:latin typeface="Noto Sans CJK SC"/>
              <a:ea typeface="Noto Sans CJK SC"/>
              <a:cs typeface="Noto Sans CJK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校准后阈值扫描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20242A"/>
              </a:solidFill>
              <a:latin typeface="Noto Sans CJK SC"/>
              <a:ea typeface="Noto Sans CJK SC"/>
              <a:cs typeface="Noto Sans CJK SC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阈值扫描</c:v>
          </c:tx>
          <c:spPr>
            <a:ln xmlns:a="http://schemas.openxmlformats.org/drawingml/2006/main" w="23813">
              <a:solidFill>
                <a:srgbClr val="315B81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315B81"/>
              </a:solidFill>
            </c:spPr>
          </c:marker>
          <c:xVal>
            <c:numRef>
              <c:f>'Chart Data'!$A$2:$A$9</c:f>
              <c:numCache>
                <c:formatCode>General</c:formatCode>
                <c:ptCount val="8"/>
                <c:pt idx="0">
                  <c:v>0.98</c:v>
                </c:pt>
                <c:pt idx="1">
                  <c:v>0.84</c:v>
                </c:pt>
                <c:pt idx="2">
                  <c:v>0.68</c:v>
                </c:pt>
                <c:pt idx="3">
                  <c:v>0.56</c:v>
                </c:pt>
                <c:pt idx="4">
                  <c:v>0.42</c:v>
                </c:pt>
                <c:pt idx="5">
                  <c:v>0.26</c:v>
                </c:pt>
                <c:pt idx="6">
                  <c:v>0.2</c:v>
                </c:pt>
                <c:pt idx="7">
                  <c:v>0.06</c:v>
                </c:pt>
              </c:numCache>
            </c:numRef>
          </c:xVal>
          <c:yVal>
            <c:numRef>
              <c:f>'Chart Data'!$B$2:$B$9</c:f>
              <c:numCache>
                <c:formatCode>0%</c:formatCode>
                <c:ptCount val="8"/>
                <c:pt idx="0">
                  <c:v>0.285714</c:v>
                </c:pt>
                <c:pt idx="1">
                  <c:v>0.261905</c:v>
                </c:pt>
                <c:pt idx="2">
                  <c:v>0.176471</c:v>
                </c:pt>
                <c:pt idx="3">
                  <c:v>0.107143</c:v>
                </c:pt>
                <c:pt idx="4">
                  <c:v>0.095238</c:v>
                </c:pt>
                <c:pt idx="5">
                  <c:v>0.153846</c:v>
                </c:pt>
                <c:pt idx="6">
                  <c:v>0</c:v>
                </c:pt>
                <c:pt idx="7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4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3E7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8616B"/>
                    </a:solidFill>
                    <a:latin typeface="Noto Sans CJK SC"/>
                    <a:ea typeface="Noto Sans CJK SC"/>
                    <a:cs typeface="Noto Sans CJK SC"/>
                  </a:rPr>
                  <a:t>接受样本中的错误率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8616B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CED4D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0.1"/>
      </c:valAx>
      <c:valAx>
        <c:axId val="48650112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5715">
              <a:solidFill>
                <a:srgbClr val="E3E7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58616B"/>
                    </a:solidFill>
                    <a:latin typeface="Noto Sans CJK SC"/>
                    <a:ea typeface="Noto Sans CJK SC"/>
                    <a:cs typeface="Noto Sans CJK SC"/>
                  </a:rPr>
                  <a:t>自动接受覆盖率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58616B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CED4D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ref_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参考资料：Jev 的官方接口">
            <a:extLst xmlns:a="http://schemas.openxmlformats.org/drawingml/2006/main">
              <a:ext uri="{FF2B5EF4-FFF2-40B4-BE49-F238E27FC236}">
                <a16:creationId xmlns:a16="http://schemas.microsoft.com/office/drawing/2014/main" id="{E887591E-3E6C-499A-8EA0-8E457273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1010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参考资料：Jev 的官方接口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96663-6639-484D-86FA-E3ABBF11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TypeSafe 官方文档；先弄清楚输入、候选与分数分别表示什么">
            <a:extLst xmlns:a="http://schemas.openxmlformats.org/drawingml/2006/main">
              <a:ext uri="{FF2B5EF4-FFF2-40B4-BE49-F238E27FC236}">
                <a16:creationId xmlns:a16="http://schemas.microsoft.com/office/drawing/2014/main" id="{51235947-7447-42CA-ADC4-C68A25B9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TypeSafe 官方文档；先弄清楚输入、候选与分数分别表示什么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237E6D5C-0F09-499D-B35A-F83F59F1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022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5" name="Introduction — TypeSafe AI">
            <a:extLst xmlns:a="http://schemas.openxmlformats.org/drawingml/2006/main">
              <a:ext uri="{FF2B5EF4-FFF2-40B4-BE49-F238E27FC236}">
                <a16:creationId xmlns:a16="http://schemas.microsoft.com/office/drawing/2014/main" id="{BFD47FC5-C574-40E3-8BE7-BAA3CE98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790700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5013bc3de48046b4"/>
              </a:rPr>
              <a:t>Introduction — TypeSafe AI</a:t>
            </a:r>
          </a:p>
        </p:txBody>
      </p:sp>
      <p:sp>
        <p:nvSpPr>
          <p:cNvPr id="6" name="Jev 的输入、三种问题原语、并行独立判断与代码组合方式。">
            <a:extLst xmlns:a="http://schemas.openxmlformats.org/drawingml/2006/main">
              <a:ext uri="{FF2B5EF4-FFF2-40B4-BE49-F238E27FC236}">
                <a16:creationId xmlns:a16="http://schemas.microsoft.com/office/drawing/2014/main" id="{3A32DB1D-64DE-40E6-9A52-D1582174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381250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Jev 的输入、三种问题原语、并行独立判断与代码组合方式。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1DD1A183-0C27-4CB8-BFAC-EF8A1611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8" name="Models — TypeSafe AI">
            <a:extLst xmlns:a="http://schemas.openxmlformats.org/drawingml/2006/main">
              <a:ext uri="{FF2B5EF4-FFF2-40B4-BE49-F238E27FC236}">
                <a16:creationId xmlns:a16="http://schemas.microsoft.com/office/drawing/2014/main" id="{9FCDE426-CC75-44C9-8788-003D75C0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867025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0fcaa2ea56cf46a5"/>
              </a:rPr>
              <a:t>Models — TypeSafe AI</a:t>
            </a:r>
          </a:p>
        </p:txBody>
      </p:sp>
      <p:sp>
        <p:nvSpPr>
          <p:cNvPr id="9" name="核对模型版本、文本输入、上下文预算和服务规格；以访问日期为准。">
            <a:extLst xmlns:a="http://schemas.openxmlformats.org/drawingml/2006/main">
              <a:ext uri="{FF2B5EF4-FFF2-40B4-BE49-F238E27FC236}">
                <a16:creationId xmlns:a16="http://schemas.microsoft.com/office/drawing/2014/main" id="{D34A63D0-09DF-4094-84C6-E416A1F3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457575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核对模型版本、文本输入、上下文预算和服务规格；以访问日期为准。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4B509263-707B-40EE-A333-523037A4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5287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1" name="Choice — TypeSafe AI">
            <a:extLst xmlns:a="http://schemas.openxmlformats.org/drawingml/2006/main">
              <a:ext uri="{FF2B5EF4-FFF2-40B4-BE49-F238E27FC236}">
                <a16:creationId xmlns:a16="http://schemas.microsoft.com/office/drawing/2014/main" id="{07A5EF77-78E4-4576-B67A-3D0D276C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943350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6b2926cf98144e89"/>
              </a:rPr>
              <a:t>Choice — TypeSafe AI</a:t>
            </a:r>
          </a:p>
        </p:txBody>
      </p:sp>
      <p:sp>
        <p:nvSpPr>
          <p:cNvPr id="12" name="固定候选选择接口及完整候选概率；候选覆盖仍由调用者负责。">
            <a:extLst xmlns:a="http://schemas.openxmlformats.org/drawingml/2006/main">
              <a:ext uri="{FF2B5EF4-FFF2-40B4-BE49-F238E27FC236}">
                <a16:creationId xmlns:a16="http://schemas.microsoft.com/office/drawing/2014/main" id="{6283F75E-0684-4EBA-94A1-5CA53ABA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533900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固定候选选择接口及完整候选概率；候选覆盖仍由调用者负责。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2F6B239B-5811-4F35-8473-722CA768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14" name="Confidence — TypeSafe AI">
            <a:extLst xmlns:a="http://schemas.openxmlformats.org/drawingml/2006/main">
              <a:ext uri="{FF2B5EF4-FFF2-40B4-BE49-F238E27FC236}">
                <a16:creationId xmlns:a16="http://schemas.microsoft.com/office/drawing/2014/main" id="{8D3228B6-88D8-4924-9921-54AE674A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019675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076e291e7e264618"/>
              </a:rPr>
              <a:t>Confidence — TypeSafe AI</a:t>
            </a:r>
          </a:p>
        </p:txBody>
      </p:sp>
      <p:sp>
        <p:nvSpPr>
          <p:cNvPr id="15" name="Choice 与 Score 的 confidence 计算规则；须与正确率概率及业务阈值区分。">
            <a:extLst xmlns:a="http://schemas.openxmlformats.org/drawingml/2006/main">
              <a:ext uri="{FF2B5EF4-FFF2-40B4-BE49-F238E27FC236}">
                <a16:creationId xmlns:a16="http://schemas.microsoft.com/office/drawing/2014/main" id="{A0F3018C-8944-4444-9F18-75C0F124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610225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Choice 与 Score 的 confidence 计算规则；须与正确率概率及业务阈值区分。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D3C4DB-029F-4C93-B7D7-FAADB029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17" name="参考资料 · 蓝色标题可点击打开原文 · 外部结果与本次教学实验分开阅读">
            <a:extLst xmlns:a="http://schemas.openxmlformats.org/drawingml/2006/main">
              <a:ext uri="{FF2B5EF4-FFF2-40B4-BE49-F238E27FC236}">
                <a16:creationId xmlns:a16="http://schemas.microsoft.com/office/drawing/2014/main" id="{114D38BD-26C6-4156-8848-AFA911C6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38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参考资料 · 蓝色标题可点击打开原文 · 外部结果与本次教学实验分开阅读</a:t>
            </a:r>
          </a:p>
        </p:txBody>
      </p:sp>
      <p:sp>
        <p:nvSpPr>
          <p:cNvPr id="18" name="32">
            <a:extLst xmlns:a="http://schemas.openxmlformats.org/drawingml/2006/main">
              <a:ext uri="{FF2B5EF4-FFF2-40B4-BE49-F238E27FC236}">
                <a16:creationId xmlns:a16="http://schemas.microsoft.com/office/drawing/2014/main" id="{FC14C064-78B5-4557-8551-8C6E3EF1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713217336"/>
      </p:ext>
    </p:extLst>
  </p:cSld>
</p:sld>
</file>

<file path=ppt/slides/ref_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参考资料：官方说明与能力边界">
            <a:extLst xmlns:a="http://schemas.openxmlformats.org/drawingml/2006/main">
              <a:ext uri="{FF2B5EF4-FFF2-40B4-BE49-F238E27FC236}">
                <a16:creationId xmlns:a16="http://schemas.microsoft.com/office/drawing/2014/main" id="{35815F5F-2280-40AF-9AF1-6B3B4940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1010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参考资料：官方说明与能力边界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63C219-BF49-4B05-B60A-14C1BD46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TypeSafe 公开说明及 OpenAI 官方预览公告；具体产品状态以原文为准">
            <a:extLst xmlns:a="http://schemas.openxmlformats.org/drawingml/2006/main">
              <a:ext uri="{FF2B5EF4-FFF2-40B4-BE49-F238E27FC236}">
                <a16:creationId xmlns:a16="http://schemas.microsoft.com/office/drawing/2014/main" id="{B1002285-4331-4D89-823F-D4908D61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TypeSafe 公开说明及 OpenAI 官方预览公告；具体产品状态以原文为准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BC2D6AB1-2CB3-4712-848F-514EC422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022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5" name="2026 · Introducing System One Models &amp; Jev">
            <a:extLst xmlns:a="http://schemas.openxmlformats.org/drawingml/2006/main">
              <a:ext uri="{FF2B5EF4-FFF2-40B4-BE49-F238E27FC236}">
                <a16:creationId xmlns:a16="http://schemas.microsoft.com/office/drawing/2014/main" id="{8B86778B-6B53-4176-BE2B-5C00EC40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790700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60ee7dd49ab348a0"/>
              </a:rPr>
              <a:t>2026 · Introducing System One Models &amp; Jev</a:t>
            </a:r>
          </a:p>
        </p:txBody>
      </p:sp>
      <p:sp>
        <p:nvSpPr>
          <p:cNvPr id="6" name="TypeSafe 首发说明与 RLCD 命名；厂商报告不等于独立实验或架构披露。">
            <a:extLst xmlns:a="http://schemas.openxmlformats.org/drawingml/2006/main">
              <a:ext uri="{FF2B5EF4-FFF2-40B4-BE49-F238E27FC236}">
                <a16:creationId xmlns:a16="http://schemas.microsoft.com/office/drawing/2014/main" id="{F5D64BBB-D494-4224-8692-8317F260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381250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TypeSafe 首发说明与 RLCD 命名；厂商报告不等于独立实验或架构披露。</a:t>
            </a:r>
          </a:p>
        </p:txBody>
      </p:sp>
      <p:sp>
        <p:nvSpPr>
          <p:cNvPr id="7" name="06">
            <a:extLst xmlns:a="http://schemas.openxmlformats.org/drawingml/2006/main">
              <a:ext uri="{FF2B5EF4-FFF2-40B4-BE49-F238E27FC236}">
                <a16:creationId xmlns:a16="http://schemas.microsoft.com/office/drawing/2014/main" id="{DEEBF365-F06E-4E0D-8B68-7CF6D448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sp>
        <p:nvSpPr>
          <p:cNvPr id="8" name="AI primer — TypeSafe AI">
            <a:extLst xmlns:a="http://schemas.openxmlformats.org/drawingml/2006/main">
              <a:ext uri="{FF2B5EF4-FFF2-40B4-BE49-F238E27FC236}">
                <a16:creationId xmlns:a16="http://schemas.microsoft.com/office/drawing/2014/main" id="{4550FB22-BCF5-476B-A55D-47B2138E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867025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7cb413b852fb4f8a"/>
              </a:rPr>
              <a:t>AI primer — TypeSafe AI</a:t>
            </a:r>
          </a:p>
        </p:txBody>
      </p:sp>
      <p:sp>
        <p:nvSpPr>
          <p:cNvPr id="9" name="官方对概率决策与训练目标的解释；未公开完整训练算法。">
            <a:extLst xmlns:a="http://schemas.openxmlformats.org/drawingml/2006/main">
              <a:ext uri="{FF2B5EF4-FFF2-40B4-BE49-F238E27FC236}">
                <a16:creationId xmlns:a16="http://schemas.microsoft.com/office/drawing/2014/main" id="{130D8EE7-2466-4FDA-82EF-398833B3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457575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官方对概率决策与训练目标的解释；未公开完整训练算法。</a:t>
            </a:r>
          </a:p>
        </p:txBody>
      </p:sp>
      <p:sp>
        <p:nvSpPr>
          <p:cNvPr id="10" name="07">
            <a:extLst xmlns:a="http://schemas.openxmlformats.org/drawingml/2006/main">
              <a:ext uri="{FF2B5EF4-FFF2-40B4-BE49-F238E27FC236}">
                <a16:creationId xmlns:a16="http://schemas.microsoft.com/office/drawing/2014/main" id="{473C0DC4-D50A-4171-AA8B-4368108A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5287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  <p:sp>
        <p:nvSpPr>
          <p:cNvPr id="11" name="Jev 1.13 jaggedness — TypeSafe AI">
            <a:extLst xmlns:a="http://schemas.openxmlformats.org/drawingml/2006/main">
              <a:ext uri="{FF2B5EF4-FFF2-40B4-BE49-F238E27FC236}">
                <a16:creationId xmlns:a16="http://schemas.microsoft.com/office/drawing/2014/main" id="{B8990291-A462-49EF-BC26-9039C5C5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943350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7bd0922cae9b49a5"/>
              </a:rPr>
              <a:t>Jev 1.13 jaggedness — TypeSafe AI</a:t>
            </a:r>
          </a:p>
        </p:txBody>
      </p:sp>
      <p:sp>
        <p:nvSpPr>
          <p:cNvPr id="12" name="官方能力边界和失效情形；用于补充候选顺序、上下文和精确运算测试。">
            <a:extLst xmlns:a="http://schemas.openxmlformats.org/drawingml/2006/main">
              <a:ext uri="{FF2B5EF4-FFF2-40B4-BE49-F238E27FC236}">
                <a16:creationId xmlns:a16="http://schemas.microsoft.com/office/drawing/2014/main" id="{7236CB16-57A4-4F49-8586-97BDF983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533900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官方能力边界和失效情形；用于补充候选顺序、上下文和精确运算测试。</a:t>
            </a:r>
          </a:p>
        </p:txBody>
      </p:sp>
      <p:sp>
        <p:nvSpPr>
          <p:cNvPr id="13" name="08">
            <a:extLst xmlns:a="http://schemas.openxmlformats.org/drawingml/2006/main">
              <a:ext uri="{FF2B5EF4-FFF2-40B4-BE49-F238E27FC236}">
                <a16:creationId xmlns:a16="http://schemas.microsoft.com/office/drawing/2014/main" id="{70A1545C-FD90-4B06-805F-A13ECA3C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  <p:sp>
        <p:nvSpPr>
          <p:cNvPr id="14" name="2026 · DevDay 2026 Recap">
            <a:extLst xmlns:a="http://schemas.openxmlformats.org/drawingml/2006/main">
              <a:ext uri="{FF2B5EF4-FFF2-40B4-BE49-F238E27FC236}">
                <a16:creationId xmlns:a16="http://schemas.microsoft.com/office/drawing/2014/main" id="{2D80E278-4160-4408-806D-4E607621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019675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2b4bdac663cb4cc1"/>
              </a:rPr>
              <a:t>2026 · DevDay 2026 Recap</a:t>
            </a:r>
          </a:p>
        </p:txBody>
      </p:sp>
      <p:sp>
        <p:nvSpPr>
          <p:cNvPr id="15" name="Decisions API 的官方预览公告：有限答案、文本/图片上下文；不扩展到未披露性质。">
            <a:extLst xmlns:a="http://schemas.openxmlformats.org/drawingml/2006/main">
              <a:ext uri="{FF2B5EF4-FFF2-40B4-BE49-F238E27FC236}">
                <a16:creationId xmlns:a16="http://schemas.microsoft.com/office/drawing/2014/main" id="{0D639884-3D06-43A4-9344-880328F0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610225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Decisions API 的官方预览公告：有限答案、文本/图片上下文；不扩展到未披露性质。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08A262-A45C-4AC8-B05C-F1CB7E76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17" name="参考资料 · 蓝色标题可点击打开原文 · 外部结果与本次教学实验分开阅读">
            <a:extLst xmlns:a="http://schemas.openxmlformats.org/drawingml/2006/main">
              <a:ext uri="{FF2B5EF4-FFF2-40B4-BE49-F238E27FC236}">
                <a16:creationId xmlns:a16="http://schemas.microsoft.com/office/drawing/2014/main" id="{A33C7C15-139F-4953-B557-4A135737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38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参考资料 · 蓝色标题可点击打开原文 · 外部结果与本次教学实验分开阅读</a:t>
            </a:r>
          </a:p>
        </p:txBody>
      </p:sp>
      <p:sp>
        <p:nvSpPr>
          <p:cNvPr id="18" name="33">
            <a:extLst xmlns:a="http://schemas.openxmlformats.org/drawingml/2006/main">
              <a:ext uri="{FF2B5EF4-FFF2-40B4-BE49-F238E27FC236}">
                <a16:creationId xmlns:a16="http://schemas.microsoft.com/office/drawing/2014/main" id="{75A38976-1302-4205-AB2F-5025C5E6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551014597"/>
      </p:ext>
    </p:extLst>
  </p:cSld>
</p:sld>
</file>

<file path=ppt/slides/ref_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参考资料：入门教程与外部解读">
            <a:extLst xmlns:a="http://schemas.openxmlformats.org/drawingml/2006/main">
              <a:ext uri="{FF2B5EF4-FFF2-40B4-BE49-F238E27FC236}">
                <a16:creationId xmlns:a16="http://schemas.microsoft.com/office/drawing/2014/main" id="{E02FBA39-93AF-4DCC-952E-B6C380F2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1010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参考资料：入门教程与外部解读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0C2BEB-9845-4269-A372-00FEBD99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中文教程、工程文章与黑盒研究；架构猜测须与官方披露分开">
            <a:extLst xmlns:a="http://schemas.openxmlformats.org/drawingml/2006/main">
              <a:ext uri="{FF2B5EF4-FFF2-40B4-BE49-F238E27FC236}">
                <a16:creationId xmlns:a16="http://schemas.microsoft.com/office/drawing/2014/main" id="{7613B9A7-65BD-4E80-AF91-4D348AEC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中文教程、工程文章与黑盒研究；架构猜测须与官方披露分开</a:t>
            </a:r>
          </a:p>
        </p:txBody>
      </p:sp>
      <p:sp>
        <p:nvSpPr>
          <p:cNvPr id="4" name="09">
            <a:extLst xmlns:a="http://schemas.openxmlformats.org/drawingml/2006/main">
              <a:ext uri="{FF2B5EF4-FFF2-40B4-BE49-F238E27FC236}">
                <a16:creationId xmlns:a16="http://schemas.microsoft.com/office/drawing/2014/main" id="{FB8C03C7-51EB-4784-B070-4969E01D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022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09</a:t>
            </a:r>
          </a:p>
        </p:txBody>
      </p:sp>
      <p:sp>
        <p:nvSpPr>
          <p:cNvPr id="5" name="datawhalechina/jev-cookbook">
            <a:extLst xmlns:a="http://schemas.openxmlformats.org/drawingml/2006/main">
              <a:ext uri="{FF2B5EF4-FFF2-40B4-BE49-F238E27FC236}">
                <a16:creationId xmlns:a16="http://schemas.microsoft.com/office/drawing/2014/main" id="{66B03F75-DBCC-4748-9957-14D5F31D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790700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8befd40ca843489b"/>
              </a:rPr>
              <a:t>datawhalechina/jev-cookbook</a:t>
            </a:r>
          </a:p>
        </p:txBody>
      </p:sp>
      <p:sp>
        <p:nvSpPr>
          <p:cNvPr id="6" name="中文入门、问题原语、应用配方与本地训练示例；实现须按具体版本核对。">
            <a:extLst xmlns:a="http://schemas.openxmlformats.org/drawingml/2006/main">
              <a:ext uri="{FF2B5EF4-FFF2-40B4-BE49-F238E27FC236}">
                <a16:creationId xmlns:a16="http://schemas.microsoft.com/office/drawing/2014/main" id="{673301DD-A59B-433C-9C48-9DCCEBA8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381250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中文入门、问题原语、应用配方与本地训练示例；实现须按具体版本核对。</a:t>
            </a:r>
          </a:p>
        </p:txBody>
      </p:sp>
      <p:sp>
        <p:nvSpPr>
          <p:cNvPr id="7" name="10">
            <a:extLst xmlns:a="http://schemas.openxmlformats.org/drawingml/2006/main">
              <a:ext uri="{FF2B5EF4-FFF2-40B4-BE49-F238E27FC236}">
                <a16:creationId xmlns:a16="http://schemas.microsoft.com/office/drawing/2014/main" id="{DBAA691E-911D-4073-853E-1DCE344E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8" name="2026 · What is Jev? TypeSafe's decision-making AI model and real benchmarks">
            <a:extLst xmlns:a="http://schemas.openxmlformats.org/drawingml/2006/main">
              <a:ext uri="{FF2B5EF4-FFF2-40B4-BE49-F238E27FC236}">
                <a16:creationId xmlns:a16="http://schemas.microsoft.com/office/drawing/2014/main" id="{ADBB11A4-C7A0-471C-9B4F-20932775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867025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a7d76baa4e724f68"/>
              </a:rPr>
              <a:t>2026 · What is Jev? TypeSafe's decision-making AI model and real benchmarks</a:t>
            </a:r>
          </a:p>
        </p:txBody>
      </p:sp>
      <p:sp>
        <p:nvSpPr>
          <p:cNvPr id="9" name="第三方入门与评测汇总；涉及指标时应回溯原始实验及其时间和协议。">
            <a:extLst xmlns:a="http://schemas.openxmlformats.org/drawingml/2006/main">
              <a:ext uri="{FF2B5EF4-FFF2-40B4-BE49-F238E27FC236}">
                <a16:creationId xmlns:a16="http://schemas.microsoft.com/office/drawing/2014/main" id="{37AFCB11-B5B2-4B2E-97AE-7F8F7216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457575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第三方入门与评测汇总；涉及指标时应回溯原始实验及其时间和协议。</a:t>
            </a:r>
          </a:p>
        </p:txBody>
      </p:sp>
      <p:sp>
        <p:nvSpPr>
          <p:cNvPr id="10" name="11">
            <a:extLst xmlns:a="http://schemas.openxmlformats.org/drawingml/2006/main">
              <a:ext uri="{FF2B5EF4-FFF2-40B4-BE49-F238E27FC236}">
                <a16:creationId xmlns:a16="http://schemas.microsoft.com/office/drawing/2014/main" id="{C4E60CCF-A56A-4FDD-80EB-A6F9E7F2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5287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sp>
        <p:nvSpPr>
          <p:cNvPr id="11" name="2026 · Jev Engineering 101">
            <a:extLst xmlns:a="http://schemas.openxmlformats.org/drawingml/2006/main">
              <a:ext uri="{FF2B5EF4-FFF2-40B4-BE49-F238E27FC236}">
                <a16:creationId xmlns:a16="http://schemas.microsoft.com/office/drawing/2014/main" id="{79F78355-5C07-4389-B45F-7816720D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943350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3c9f1988baca483f"/>
              </a:rPr>
              <a:t>2026 · Jev Engineering 101</a:t>
            </a:r>
          </a:p>
        </p:txBody>
      </p:sp>
      <p:sp>
        <p:nvSpPr>
          <p:cNvPr id="12" name="用 LLM、决策模型与代码分工解释工程接入；性能数字为转述。">
            <a:extLst xmlns:a="http://schemas.openxmlformats.org/drawingml/2006/main">
              <a:ext uri="{FF2B5EF4-FFF2-40B4-BE49-F238E27FC236}">
                <a16:creationId xmlns:a16="http://schemas.microsoft.com/office/drawing/2014/main" id="{9CA4DBD4-2CCB-4E78-80BF-5C118522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533900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用 LLM、决策模型与代码分工解释工程接入；性能数字为转述。</a:t>
            </a:r>
          </a:p>
        </p:txBody>
      </p:sp>
      <p:sp>
        <p:nvSpPr>
          <p:cNvPr id="13" name="12">
            <a:extLst xmlns:a="http://schemas.openxmlformats.org/drawingml/2006/main">
              <a:ext uri="{FF2B5EF4-FFF2-40B4-BE49-F238E27FC236}">
                <a16:creationId xmlns:a16="http://schemas.microsoft.com/office/drawing/2014/main" id="{0DDFD905-0F3B-4170-9EF8-25C8EA5D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sp>
        <p:nvSpPr>
          <p:cNvPr id="14" name="2026 · Jev’s Architecture Unmasked">
            <a:extLst xmlns:a="http://schemas.openxmlformats.org/drawingml/2006/main">
              <a:ext uri="{FF2B5EF4-FFF2-40B4-BE49-F238E27FC236}">
                <a16:creationId xmlns:a16="http://schemas.microsoft.com/office/drawing/2014/main" id="{2EA5CC03-C5DA-4111-987F-64642C54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019675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90f87831b27f4ee0"/>
              </a:rPr>
              <a:t>2026 · Jev’s Architecture Unmasked</a:t>
            </a:r>
          </a:p>
        </p:txBody>
      </p:sp>
      <p:sp>
        <p:nvSpPr>
          <p:cNvPr id="15" name="黑盒行为测试与架构假说；注意观测、推断和官方披露的证据层级。">
            <a:extLst xmlns:a="http://schemas.openxmlformats.org/drawingml/2006/main">
              <a:ext uri="{FF2B5EF4-FFF2-40B4-BE49-F238E27FC236}">
                <a16:creationId xmlns:a16="http://schemas.microsoft.com/office/drawing/2014/main" id="{94B0D87E-782A-49F6-BA40-207BF5A9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610225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黑盒行为测试与架构假说；注意观测、推断和官方披露的证据层级。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00A023-7672-44BB-94B0-7FEFB092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17" name="参考资料 · 蓝色标题可点击打开原文 · 外部结果与本次教学实验分开阅读">
            <a:extLst xmlns:a="http://schemas.openxmlformats.org/drawingml/2006/main">
              <a:ext uri="{FF2B5EF4-FFF2-40B4-BE49-F238E27FC236}">
                <a16:creationId xmlns:a16="http://schemas.microsoft.com/office/drawing/2014/main" id="{948BD5E7-0A68-4B6F-BABB-83E9E2E6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38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参考资料 · 蓝色标题可点击打开原文 · 外部结果与本次教学实验分开阅读</a:t>
            </a:r>
          </a:p>
        </p:txBody>
      </p:sp>
      <p:sp>
        <p:nvSpPr>
          <p:cNvPr id="18" name="34">
            <a:extLst xmlns:a="http://schemas.openxmlformats.org/drawingml/2006/main">
              <a:ext uri="{FF2B5EF4-FFF2-40B4-BE49-F238E27FC236}">
                <a16:creationId xmlns:a16="http://schemas.microsoft.com/office/drawing/2014/main" id="{75971C54-88D6-4B4D-BED9-9E02B440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827163187"/>
      </p:ext>
    </p:extLst>
  </p:cSld>
</p:sld>
</file>

<file path=ppt/slides/ref_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参考资料：Laya 代码与模型卡">
            <a:extLst xmlns:a="http://schemas.openxmlformats.org/drawingml/2006/main">
              <a:ext uri="{FF2B5EF4-FFF2-40B4-BE49-F238E27FC236}">
                <a16:creationId xmlns:a16="http://schemas.microsoft.com/office/drawing/2014/main" id="{55C750D7-D11E-4B61-B852-908BFCCB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1010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参考资料：Laya 代码与模型卡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9F2EEA-42D1-439D-8CE6-74EE0D67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项目一手资料；通用模型、多语言模型和领域 checkpoint 分开看">
            <a:extLst xmlns:a="http://schemas.openxmlformats.org/drawingml/2006/main">
              <a:ext uri="{FF2B5EF4-FFF2-40B4-BE49-F238E27FC236}">
                <a16:creationId xmlns:a16="http://schemas.microsoft.com/office/drawing/2014/main" id="{3DB9222F-C685-4891-A6AF-87524B61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项目一手资料；通用模型、多语言模型和领域 checkpoint 分开看</a:t>
            </a:r>
          </a:p>
        </p:txBody>
      </p:sp>
      <p:sp>
        <p:nvSpPr>
          <p:cNvPr id="4" name="13">
            <a:extLst xmlns:a="http://schemas.openxmlformats.org/drawingml/2006/main">
              <a:ext uri="{FF2B5EF4-FFF2-40B4-BE49-F238E27FC236}">
                <a16:creationId xmlns:a16="http://schemas.microsoft.com/office/drawing/2014/main" id="{35828BA3-94FB-43AB-9DD6-C14171F2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022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13</a:t>
            </a:r>
          </a:p>
        </p:txBody>
      </p:sp>
      <p:sp>
        <p:nvSpPr>
          <p:cNvPr id="5" name="NandhaKishorM/laya">
            <a:extLst xmlns:a="http://schemas.openxmlformats.org/drawingml/2006/main">
              <a:ext uri="{FF2B5EF4-FFF2-40B4-BE49-F238E27FC236}">
                <a16:creationId xmlns:a16="http://schemas.microsoft.com/office/drawing/2014/main" id="{EA10B034-0677-4A35-AD12-60D3D44F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790700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7aa91eff172e44fe"/>
              </a:rPr>
              <a:t>NandhaKishorM/laya</a:t>
            </a:r>
          </a:p>
        </p:txBody>
      </p:sp>
      <p:sp>
        <p:nvSpPr>
          <p:cNvPr id="6" name="Laya 的代码、接口、路由与部署资料；接口相似不表示复现 Jev 内部模型。">
            <a:extLst xmlns:a="http://schemas.openxmlformats.org/drawingml/2006/main">
              <a:ext uri="{FF2B5EF4-FFF2-40B4-BE49-F238E27FC236}">
                <a16:creationId xmlns:a16="http://schemas.microsoft.com/office/drawing/2014/main" id="{DD17EB88-DD35-4F29-8F32-7EE70748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381250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Laya 的代码、接口、路由与部署资料；接口相似不表示复现 Jev 内部模型。</a:t>
            </a:r>
          </a:p>
        </p:txBody>
      </p:sp>
      <p:sp>
        <p:nvSpPr>
          <p:cNvPr id="7" name="14">
            <a:extLst xmlns:a="http://schemas.openxmlformats.org/drawingml/2006/main">
              <a:ext uri="{FF2B5EF4-FFF2-40B4-BE49-F238E27FC236}">
                <a16:creationId xmlns:a16="http://schemas.microsoft.com/office/drawing/2014/main" id="{95A3F896-24F1-4018-B4F4-1C674085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sp>
        <p:nvSpPr>
          <p:cNvPr id="8" name="convaiinnovations/laya">
            <a:extLst xmlns:a="http://schemas.openxmlformats.org/drawingml/2006/main">
              <a:ext uri="{FF2B5EF4-FFF2-40B4-BE49-F238E27FC236}">
                <a16:creationId xmlns:a16="http://schemas.microsoft.com/office/drawing/2014/main" id="{91A10519-BE50-44E0-B642-0B24878D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867025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408777818de74e0a"/>
              </a:rPr>
              <a:t>convaiinnovations/laya</a:t>
            </a:r>
          </a:p>
        </p:txBody>
      </p:sp>
      <p:sp>
        <p:nvSpPr>
          <p:cNvPr id="9" name="英语 Laya 模型卡：ModernBERT 编码器与候选决策头。">
            <a:extLst xmlns:a="http://schemas.openxmlformats.org/drawingml/2006/main">
              <a:ext uri="{FF2B5EF4-FFF2-40B4-BE49-F238E27FC236}">
                <a16:creationId xmlns:a16="http://schemas.microsoft.com/office/drawing/2014/main" id="{AAE2C50A-B905-4A9B-8381-B6A8DB4B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457575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英语 Laya 模型卡：ModernBERT 编码器与候选决策头。</a:t>
            </a:r>
          </a:p>
        </p:txBody>
      </p:sp>
      <p:sp>
        <p:nvSpPr>
          <p:cNvPr id="10" name="15">
            <a:extLst xmlns:a="http://schemas.openxmlformats.org/drawingml/2006/main">
              <a:ext uri="{FF2B5EF4-FFF2-40B4-BE49-F238E27FC236}">
                <a16:creationId xmlns:a16="http://schemas.microsoft.com/office/drawing/2014/main" id="{903A459F-68EE-4B72-BDA2-AF36E818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5287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15</a:t>
            </a:r>
          </a:p>
        </p:txBody>
      </p:sp>
      <p:sp>
        <p:nvSpPr>
          <p:cNvPr id="11" name="convaiinnovations/laya-multilingual">
            <a:extLst xmlns:a="http://schemas.openxmlformats.org/drawingml/2006/main">
              <a:ext uri="{FF2B5EF4-FFF2-40B4-BE49-F238E27FC236}">
                <a16:creationId xmlns:a16="http://schemas.microsoft.com/office/drawing/2014/main" id="{FA3F5455-AB54-4686-AFD1-9F4590F0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943350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7e3de9d8b1f24326"/>
              </a:rPr>
              <a:t>convaiinnovations/laya-multilingual</a:t>
            </a:r>
          </a:p>
        </p:txBody>
      </p:sp>
      <p:sp>
        <p:nvSpPr>
          <p:cNvPr id="12" name="多语言 Laya 模型卡：mmBERT 路线；预算与校准需按任务复测。">
            <a:extLst xmlns:a="http://schemas.openxmlformats.org/drawingml/2006/main">
              <a:ext uri="{FF2B5EF4-FFF2-40B4-BE49-F238E27FC236}">
                <a16:creationId xmlns:a16="http://schemas.microsoft.com/office/drawing/2014/main" id="{0F686948-FD72-4AFE-B890-7567714D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533900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多语言 Laya 模型卡：mmBERT 路线；预算与校准需按任务复测。</a:t>
            </a:r>
          </a:p>
        </p:txBody>
      </p:sp>
      <p:sp>
        <p:nvSpPr>
          <p:cNvPr id="13" name="16">
            <a:extLst xmlns:a="http://schemas.openxmlformats.org/drawingml/2006/main">
              <a:ext uri="{FF2B5EF4-FFF2-40B4-BE49-F238E27FC236}">
                <a16:creationId xmlns:a16="http://schemas.microsoft.com/office/drawing/2014/main" id="{F2429916-D9F5-4E0D-A82D-FAEF625A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16</a:t>
            </a:r>
          </a:p>
        </p:txBody>
      </p:sp>
      <p:sp>
        <p:nvSpPr>
          <p:cNvPr id="14" name="convaiinnovations/laya-typed-decisions">
            <a:extLst xmlns:a="http://schemas.openxmlformats.org/drawingml/2006/main">
              <a:ext uri="{FF2B5EF4-FFF2-40B4-BE49-F238E27FC236}">
                <a16:creationId xmlns:a16="http://schemas.microsoft.com/office/drawing/2014/main" id="{32C50477-105C-4B8C-B7D9-B02D5E89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019675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5a450c839a2c4b0f"/>
              </a:rPr>
              <a:t>convaiinnovations/laya-typed-decisions</a:t>
            </a:r>
          </a:p>
        </p:txBody>
      </p:sp>
      <p:sp>
        <p:nvSpPr>
          <p:cNvPr id="15" name="面向 typed-decisions 工作流微调的专用 checkpoint，区别于通用零样本设置。">
            <a:extLst xmlns:a="http://schemas.openxmlformats.org/drawingml/2006/main">
              <a:ext uri="{FF2B5EF4-FFF2-40B4-BE49-F238E27FC236}">
                <a16:creationId xmlns:a16="http://schemas.microsoft.com/office/drawing/2014/main" id="{65DC5C6A-212C-44ED-8D6B-3E7FA3CB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610225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面向 typed-decisions 工作流微调的专用 checkpoint，区别于通用零样本设置。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553657-80E3-4305-90F1-E3052251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17" name="参考资料 · 蓝色标题可点击打开原文 · 外部结果与本次教学实验分开阅读">
            <a:extLst xmlns:a="http://schemas.openxmlformats.org/drawingml/2006/main">
              <a:ext uri="{FF2B5EF4-FFF2-40B4-BE49-F238E27FC236}">
                <a16:creationId xmlns:a16="http://schemas.microsoft.com/office/drawing/2014/main" id="{2B2BFDBB-9CB3-4C1D-A9E8-006A098D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38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参考资料 · 蓝色标题可点击打开原文 · 外部结果与本次教学实验分开阅读</a:t>
            </a:r>
          </a:p>
        </p:txBody>
      </p:sp>
      <p:sp>
        <p:nvSpPr>
          <p:cNvPr id="18" name="35">
            <a:extLst xmlns:a="http://schemas.openxmlformats.org/drawingml/2006/main">
              <a:ext uri="{FF2B5EF4-FFF2-40B4-BE49-F238E27FC236}">
                <a16:creationId xmlns:a16="http://schemas.microsoft.com/office/drawing/2014/main" id="{EEF72C2E-4547-49FB-8823-BD1A9D96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201604845"/>
      </p:ext>
    </p:extLst>
  </p:cSld>
</p:sld>
</file>

<file path=ppt/slides/ref_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参考资料：其他开源决策路线">
            <a:extLst xmlns:a="http://schemas.openxmlformats.org/drawingml/2006/main">
              <a:ext uri="{FF2B5EF4-FFF2-40B4-BE49-F238E27FC236}">
                <a16:creationId xmlns:a16="http://schemas.microsoft.com/office/drawing/2014/main" id="{855BABE7-330D-4B5D-A8A4-98613727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1010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参考资料：其他开源决策路线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930AE-C392-4DC1-ADE0-A6EFB959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不同作者的独立项目；名称或接口相似不代表底层架构相同">
            <a:extLst xmlns:a="http://schemas.openxmlformats.org/drawingml/2006/main">
              <a:ext uri="{FF2B5EF4-FFF2-40B4-BE49-F238E27FC236}">
                <a16:creationId xmlns:a16="http://schemas.microsoft.com/office/drawing/2014/main" id="{0BC7E549-EE40-4815-8A0F-003976C7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不同作者的独立项目；名称或接口相似不代表底层架构相同</a:t>
            </a:r>
          </a:p>
        </p:txBody>
      </p:sp>
      <p:sp>
        <p:nvSpPr>
          <p:cNvPr id="4" name="17">
            <a:extLst xmlns:a="http://schemas.openxmlformats.org/drawingml/2006/main">
              <a:ext uri="{FF2B5EF4-FFF2-40B4-BE49-F238E27FC236}">
                <a16:creationId xmlns:a16="http://schemas.microsoft.com/office/drawing/2014/main" id="{08E54D7A-73E5-4F1E-AC0E-E18D4437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022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17</a:t>
            </a:r>
          </a:p>
        </p:txBody>
      </p:sp>
      <p:sp>
        <p:nvSpPr>
          <p:cNvPr id="5" name="vishalmysore/layaMOE">
            <a:extLst xmlns:a="http://schemas.openxmlformats.org/drawingml/2006/main">
              <a:ext uri="{FF2B5EF4-FFF2-40B4-BE49-F238E27FC236}">
                <a16:creationId xmlns:a16="http://schemas.microsoft.com/office/drawing/2014/main" id="{5E3E91D9-BD95-48E6-A716-23ABCE4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790700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4c4e0e1c6cee4232"/>
              </a:rPr>
              <a:t>vishalmysore/layaMOE</a:t>
            </a:r>
          </a:p>
        </p:txBody>
      </p:sp>
      <p:sp>
        <p:nvSpPr>
          <p:cNvPr id="6" name="独立社区扩展：共享冻结编码器、领域决策头与路由；小样本结果需谨慎解读。">
            <a:extLst xmlns:a="http://schemas.openxmlformats.org/drawingml/2006/main">
              <a:ext uri="{FF2B5EF4-FFF2-40B4-BE49-F238E27FC236}">
                <a16:creationId xmlns:a16="http://schemas.microsoft.com/office/drawing/2014/main" id="{B719476D-913D-473E-88E0-AC2E0D28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381250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独立社区扩展：共享冻结编码器、领域决策头与路由；小样本结果需谨慎解读。</a:t>
            </a:r>
          </a:p>
        </p:txBody>
      </p:sp>
      <p:sp>
        <p:nvSpPr>
          <p:cNvPr id="7" name="18">
            <a:extLst xmlns:a="http://schemas.openxmlformats.org/drawingml/2006/main">
              <a:ext uri="{FF2B5EF4-FFF2-40B4-BE49-F238E27FC236}">
                <a16:creationId xmlns:a16="http://schemas.microsoft.com/office/drawing/2014/main" id="{F1DEDA66-5287-4401-81F6-2C105F57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18</a:t>
            </a:r>
          </a:p>
        </p:txBody>
      </p:sp>
      <p:sp>
        <p:nvSpPr>
          <p:cNvPr id="8" name="TianyuCodings/NanoJev">
            <a:extLst xmlns:a="http://schemas.openxmlformats.org/drawingml/2006/main">
              <a:ext uri="{FF2B5EF4-FFF2-40B4-BE49-F238E27FC236}">
                <a16:creationId xmlns:a16="http://schemas.microsoft.com/office/drawing/2014/main" id="{B84EBD61-A53E-44BC-820A-C0610DB9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867025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f4335b42bd924ad2"/>
              </a:rPr>
              <a:t>TianyuCodings/NanoJev</a:t>
            </a:r>
          </a:p>
        </p:txBody>
      </p:sp>
      <p:sp>
        <p:nvSpPr>
          <p:cNvPr id="9" name="公开的轻量决策头、动态候选与训练流水线；与 TypeSafe 私有架构区分。">
            <a:extLst xmlns:a="http://schemas.openxmlformats.org/drawingml/2006/main">
              <a:ext uri="{FF2B5EF4-FFF2-40B4-BE49-F238E27FC236}">
                <a16:creationId xmlns:a16="http://schemas.microsoft.com/office/drawing/2014/main" id="{8F436345-5BB4-4779-8114-07B0B4BC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457575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公开的轻量决策头、动态候选与训练流水线；与 TypeSafe 私有架构区分。</a:t>
            </a:r>
          </a:p>
        </p:txBody>
      </p:sp>
      <p:sp>
        <p:nvSpPr>
          <p:cNvPr id="10" name="19">
            <a:extLst xmlns:a="http://schemas.openxmlformats.org/drawingml/2006/main">
              <a:ext uri="{FF2B5EF4-FFF2-40B4-BE49-F238E27FC236}">
                <a16:creationId xmlns:a16="http://schemas.microsoft.com/office/drawing/2014/main" id="{A8AA93C3-D392-43DC-80A9-FF3E13C2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5287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19</a:t>
            </a:r>
          </a:p>
        </p:txBody>
      </p:sp>
      <p:sp>
        <p:nvSpPr>
          <p:cNvPr id="11" name="TheoLeeCJ/SemIf-OpenJev">
            <a:extLst xmlns:a="http://schemas.openxmlformats.org/drawingml/2006/main">
              <a:ext uri="{FF2B5EF4-FFF2-40B4-BE49-F238E27FC236}">
                <a16:creationId xmlns:a16="http://schemas.microsoft.com/office/drawing/2014/main" id="{085CAD0F-FA21-4397-887E-C2B59B42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943350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210933d6b13a46ea"/>
              </a:rPr>
              <a:t>TheoLeeCJ/SemIf-OpenJev</a:t>
            </a:r>
          </a:p>
        </p:txBody>
      </p:sp>
      <p:sp>
        <p:nvSpPr>
          <p:cNvPr id="12" name="SemIf（原 OpenJev）探索开放模型直接候选读出；明确独立于 TypeSafe。">
            <a:extLst xmlns:a="http://schemas.openxmlformats.org/drawingml/2006/main">
              <a:ext uri="{FF2B5EF4-FFF2-40B4-BE49-F238E27FC236}">
                <a16:creationId xmlns:a16="http://schemas.microsoft.com/office/drawing/2014/main" id="{AC9888F8-BFA0-4585-8B1B-C5CEED0D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533900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SemIf（原 OpenJev）探索开放模型直接候选读出；明确独立于 TypeSafe。</a:t>
            </a:r>
          </a:p>
        </p:txBody>
      </p:sp>
      <p:sp>
        <p:nvSpPr>
          <p:cNvPr id="13" name="20">
            <a:extLst xmlns:a="http://schemas.openxmlformats.org/drawingml/2006/main">
              <a:ext uri="{FF2B5EF4-FFF2-40B4-BE49-F238E27FC236}">
                <a16:creationId xmlns:a16="http://schemas.microsoft.com/office/drawing/2014/main" id="{8ADFB74C-9E9A-441A-B331-D1B9A4EE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20</a:t>
            </a:r>
          </a:p>
        </p:txBody>
      </p:sp>
      <p:sp>
        <p:nvSpPr>
          <p:cNvPr id="14" name="Heman10x-NGU/openJev-verdict-2.0">
            <a:extLst xmlns:a="http://schemas.openxmlformats.org/drawingml/2006/main">
              <a:ext uri="{FF2B5EF4-FFF2-40B4-BE49-F238E27FC236}">
                <a16:creationId xmlns:a16="http://schemas.microsoft.com/office/drawing/2014/main" id="{36517541-AD58-4C89-BEBC-5CFE2D44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019675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d2c092ee2a9749d6"/>
              </a:rPr>
              <a:t>Heman10x-NGU/openJev-verdict-2.0</a:t>
            </a:r>
          </a:p>
        </p:txBody>
      </p:sp>
      <p:sp>
        <p:nvSpPr>
          <p:cNvPr id="15" name="独立社区项目索引；同名 OpenJev 需注明 owner，榜单应核对协议。">
            <a:extLst xmlns:a="http://schemas.openxmlformats.org/drawingml/2006/main">
              <a:ext uri="{FF2B5EF4-FFF2-40B4-BE49-F238E27FC236}">
                <a16:creationId xmlns:a16="http://schemas.microsoft.com/office/drawing/2014/main" id="{62C79739-6D67-4590-913C-347CF010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610225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独立社区项目索引；同名 OpenJev 需注明 owner，榜单应核对协议。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0097B-A955-4708-9C03-5BD68760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17" name="参考资料 · 蓝色标题可点击打开原文 · 外部结果与本次教学实验分开阅读">
            <a:extLst xmlns:a="http://schemas.openxmlformats.org/drawingml/2006/main">
              <a:ext uri="{FF2B5EF4-FFF2-40B4-BE49-F238E27FC236}">
                <a16:creationId xmlns:a16="http://schemas.microsoft.com/office/drawing/2014/main" id="{A9A58D50-3B03-4655-A88B-BA94A07D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38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参考资料 · 蓝色标题可点击打开原文 · 外部结果与本次教学实验分开阅读</a:t>
            </a:r>
          </a:p>
        </p:txBody>
      </p:sp>
      <p:sp>
        <p:nvSpPr>
          <p:cNvPr id="18" name="36">
            <a:extLst xmlns:a="http://schemas.openxmlformats.org/drawingml/2006/main">
              <a:ext uri="{FF2B5EF4-FFF2-40B4-BE49-F238E27FC236}">
                <a16:creationId xmlns:a16="http://schemas.microsoft.com/office/drawing/2014/main" id="{F5D86B30-CBE8-44D4-8844-3E62E317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692570270"/>
      </p:ext>
    </p:extLst>
  </p:cSld>
</p:sld>
</file>

<file path=ppt/slides/ref_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参考资料：CLM 与本地运行">
            <a:extLst xmlns:a="http://schemas.openxmlformats.org/drawingml/2006/main">
              <a:ext uri="{FF2B5EF4-FFF2-40B4-BE49-F238E27FC236}">
                <a16:creationId xmlns:a16="http://schemas.microsoft.com/office/drawing/2014/main" id="{226E5F67-F31B-4840-85A9-C52F8844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1010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参考资料：CLM 与本地运行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9EB96-11F8-49A7-B93F-3D1C6F9F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项目代码、原始模型卡与社区运行时；后端改变后仍需重新核对表现">
            <a:extLst xmlns:a="http://schemas.openxmlformats.org/drawingml/2006/main">
              <a:ext uri="{FF2B5EF4-FFF2-40B4-BE49-F238E27FC236}">
                <a16:creationId xmlns:a16="http://schemas.microsoft.com/office/drawing/2014/main" id="{DEA524BD-D6E0-4CEA-BC16-BE405B8B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项目代码、原始模型卡与社区运行时；后端改变后仍需重新核对表现</a:t>
            </a:r>
          </a:p>
        </p:txBody>
      </p:sp>
      <p:sp>
        <p:nvSpPr>
          <p:cNvPr id="4" name="21">
            <a:extLst xmlns:a="http://schemas.openxmlformats.org/drawingml/2006/main">
              <a:ext uri="{FF2B5EF4-FFF2-40B4-BE49-F238E27FC236}">
                <a16:creationId xmlns:a16="http://schemas.microsoft.com/office/drawing/2014/main" id="{4079D9E8-2536-44BF-83A5-DDACDBBE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022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21</a:t>
            </a:r>
          </a:p>
        </p:txBody>
      </p:sp>
      <p:sp>
        <p:nvSpPr>
          <p:cNvPr id="5" name="Contrastive-LM/CLM">
            <a:extLst xmlns:a="http://schemas.openxmlformats.org/drawingml/2006/main">
              <a:ext uri="{FF2B5EF4-FFF2-40B4-BE49-F238E27FC236}">
                <a16:creationId xmlns:a16="http://schemas.microsoft.com/office/drawing/2014/main" id="{884FC94F-5B6F-4362-AEC6-CE933A44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790700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b2cc6ff3dc4745a4"/>
              </a:rPr>
              <a:t>Contrastive-LM/CLM</a:t>
            </a:r>
          </a:p>
        </p:txBody>
      </p:sp>
      <p:sp>
        <p:nvSpPr>
          <p:cNvPr id="6" name="CLM 实现、推理与任务头微调；状态与候选动作分别编码。">
            <a:extLst xmlns:a="http://schemas.openxmlformats.org/drawingml/2006/main">
              <a:ext uri="{FF2B5EF4-FFF2-40B4-BE49-F238E27FC236}">
                <a16:creationId xmlns:a16="http://schemas.microsoft.com/office/drawing/2014/main" id="{E732E421-528D-42E7-B83B-929C0CC9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381250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CLM 实现、推理与任务头微调；状态与候选动作分别编码。</a:t>
            </a:r>
          </a:p>
        </p:txBody>
      </p:sp>
      <p:sp>
        <p:nvSpPr>
          <p:cNvPr id="7" name="22">
            <a:extLst xmlns:a="http://schemas.openxmlformats.org/drawingml/2006/main">
              <a:ext uri="{FF2B5EF4-FFF2-40B4-BE49-F238E27FC236}">
                <a16:creationId xmlns:a16="http://schemas.microsoft.com/office/drawing/2014/main" id="{E7A1834D-170D-4FA0-A7AB-B2942BF1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22</a:t>
            </a:r>
          </a:p>
        </p:txBody>
      </p:sp>
      <p:sp>
        <p:nvSpPr>
          <p:cNvPr id="8" name="Contrastive-LM/CLM-v0.1-8B">
            <a:extLst xmlns:a="http://schemas.openxmlformats.org/drawingml/2006/main">
              <a:ext uri="{FF2B5EF4-FFF2-40B4-BE49-F238E27FC236}">
                <a16:creationId xmlns:a16="http://schemas.microsoft.com/office/drawing/2014/main" id="{32A7B0AB-D04C-48E0-B680-600D3553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867025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e2417e5fa1d24647"/>
              </a:rPr>
              <a:t>Contrastive-LM/CLM-v0.1-8B</a:t>
            </a:r>
          </a:p>
        </p:txBody>
      </p:sp>
      <p:sp>
        <p:nvSpPr>
          <p:cNvPr id="9" name="冻结 Qwen3-8B 加状态/动作投影头、双向 InfoNCE；概率相对于给定候选集。">
            <a:extLst xmlns:a="http://schemas.openxmlformats.org/drawingml/2006/main">
              <a:ext uri="{FF2B5EF4-FFF2-40B4-BE49-F238E27FC236}">
                <a16:creationId xmlns:a16="http://schemas.microsoft.com/office/drawing/2014/main" id="{066604EA-80AF-4E03-9EF0-02D3EC49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457575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冻结 Qwen3-8B 加状态/动作投影头、双向 InfoNCE；概率相对于给定候选集。</a:t>
            </a:r>
          </a:p>
        </p:txBody>
      </p:sp>
      <p:sp>
        <p:nvSpPr>
          <p:cNvPr id="10" name="23">
            <a:extLst xmlns:a="http://schemas.openxmlformats.org/drawingml/2006/main">
              <a:ext uri="{FF2B5EF4-FFF2-40B4-BE49-F238E27FC236}">
                <a16:creationId xmlns:a16="http://schemas.microsoft.com/office/drawing/2014/main" id="{CE27009F-BA01-49A9-A0F2-FCC1BDB9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5287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23</a:t>
            </a:r>
          </a:p>
        </p:txBody>
      </p:sp>
      <p:sp>
        <p:nvSpPr>
          <p:cNvPr id="11" name="mlx-community/CLM-v0.1-8B-MLX-8bit">
            <a:extLst xmlns:a="http://schemas.openxmlformats.org/drawingml/2006/main">
              <a:ext uri="{FF2B5EF4-FFF2-40B4-BE49-F238E27FC236}">
                <a16:creationId xmlns:a16="http://schemas.microsoft.com/office/drawing/2014/main" id="{AE873E96-96D8-4FEA-91C4-6A5E784D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943350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cfaa356fd2074473"/>
              </a:rPr>
              <a:t>mlx-community/CLM-v0.1-8B-MLX-8bit</a:t>
            </a:r>
          </a:p>
        </p:txBody>
      </p:sp>
      <p:sp>
        <p:nvSpPr>
          <p:cNvPr id="12" name="Apple Silicon 的社区量化运行时移植；后端变化不等于独立质量提升。">
            <a:extLst xmlns:a="http://schemas.openxmlformats.org/drawingml/2006/main">
              <a:ext uri="{FF2B5EF4-FFF2-40B4-BE49-F238E27FC236}">
                <a16:creationId xmlns:a16="http://schemas.microsoft.com/office/drawing/2014/main" id="{9D262BCC-05B5-47EF-86DF-A60E9D58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533900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Apple Silicon 的社区量化运行时移植；后端变化不等于独立质量提升。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D59A25-7630-4810-B54C-2FCC473F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14" name="参考资料 · 蓝色标题可点击打开原文 · 外部结果与本次教学实验分开阅读">
            <a:extLst xmlns:a="http://schemas.openxmlformats.org/drawingml/2006/main">
              <a:ext uri="{FF2B5EF4-FFF2-40B4-BE49-F238E27FC236}">
                <a16:creationId xmlns:a16="http://schemas.microsoft.com/office/drawing/2014/main" id="{FB923E54-B437-4529-B3AB-32E5D6C5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38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参考资料 · 蓝色标题可点击打开原文 · 外部结果与本次教学实验分开阅读</a:t>
            </a:r>
          </a:p>
        </p:txBody>
      </p:sp>
      <p:sp>
        <p:nvSpPr>
          <p:cNvPr id="15" name="37">
            <a:extLst xmlns:a="http://schemas.openxmlformats.org/drawingml/2006/main">
              <a:ext uri="{FF2B5EF4-FFF2-40B4-BE49-F238E27FC236}">
                <a16:creationId xmlns:a16="http://schemas.microsoft.com/office/drawing/2014/main" id="{BEF5456F-BD16-4259-8644-D401B206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760676246"/>
      </p:ext>
    </p:extLst>
  </p:cSld>
</p:sld>
</file>

<file path=ppt/slides/ref_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参考资料：PyTRIO 与微调方法">
            <a:extLst xmlns:a="http://schemas.openxmlformats.org/drawingml/2006/main">
              <a:ext uri="{FF2B5EF4-FFF2-40B4-BE49-F238E27FC236}">
                <a16:creationId xmlns:a16="http://schemas.microsoft.com/office/drawing/2014/main" id="{65F88C07-AB09-446E-AF94-53155BDE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1010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参考资料：PyTRIO 与微调方法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E3D3EC-FD8D-450E-BA04-6E7E3385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平台文档、社区配方及 LoRA 论文；SFT 配方不能直接当作 Jev 的 RLCD">
            <a:extLst xmlns:a="http://schemas.openxmlformats.org/drawingml/2006/main">
              <a:ext uri="{FF2B5EF4-FFF2-40B4-BE49-F238E27FC236}">
                <a16:creationId xmlns:a16="http://schemas.microsoft.com/office/drawing/2014/main" id="{C2C02F0E-CA25-46A4-9161-7AC64287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平台文档、社区配方及 LoRA 论文；SFT 配方不能直接当作 Jev 的 RLCD</a:t>
            </a:r>
          </a:p>
        </p:txBody>
      </p:sp>
      <p:sp>
        <p:nvSpPr>
          <p:cNvPr id="4" name="24">
            <a:extLst xmlns:a="http://schemas.openxmlformats.org/drawingml/2006/main">
              <a:ext uri="{FF2B5EF4-FFF2-40B4-BE49-F238E27FC236}">
                <a16:creationId xmlns:a16="http://schemas.microsoft.com/office/drawing/2014/main" id="{68961B79-AE46-4825-9DD1-E1E694B5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022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24</a:t>
            </a:r>
          </a:p>
        </p:txBody>
      </p:sp>
      <p:sp>
        <p:nvSpPr>
          <p:cNvPr id="5" name="PyTRIO：大模型后训练平台与 Training API">
            <a:extLst xmlns:a="http://schemas.openxmlformats.org/drawingml/2006/main">
              <a:ext uri="{FF2B5EF4-FFF2-40B4-BE49-F238E27FC236}">
                <a16:creationId xmlns:a16="http://schemas.microsoft.com/office/drawing/2014/main" id="{894B118B-819E-471D-9B0A-28081324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790700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01dcb62623e14296"/>
              </a:rPr>
              <a:t>PyTRIO：大模型后训练平台与 Training API</a:t>
            </a:r>
          </a:p>
        </p:txBody>
      </p:sp>
      <p:sp>
        <p:nvSpPr>
          <p:cNvPr id="6" name="后训练平台入口；平台支持 RL 不代表每个社区训练配方都使用 RL。">
            <a:extLst xmlns:a="http://schemas.openxmlformats.org/drawingml/2006/main">
              <a:ext uri="{FF2B5EF4-FFF2-40B4-BE49-F238E27FC236}">
                <a16:creationId xmlns:a16="http://schemas.microsoft.com/office/drawing/2014/main" id="{C119EF70-E5D8-45EB-AF2C-77798EC1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381250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后训练平台入口；平台支持 RL 不代表每个社区训练配方都使用 RL。</a:t>
            </a:r>
          </a:p>
        </p:txBody>
      </p:sp>
      <p:sp>
        <p:nvSpPr>
          <p:cNvPr id="7" name="25">
            <a:extLst xmlns:a="http://schemas.openxmlformats.org/drawingml/2006/main">
              <a:ext uri="{FF2B5EF4-FFF2-40B4-BE49-F238E27FC236}">
                <a16:creationId xmlns:a16="http://schemas.microsoft.com/office/drawing/2014/main" id="{41BC3175-3352-4E16-9A79-539BD650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25</a:t>
            </a:r>
          </a:p>
        </p:txBody>
      </p:sp>
      <p:sp>
        <p:nvSpPr>
          <p:cNvPr id="8" name="Training — PyTRIO Docs">
            <a:extLst xmlns:a="http://schemas.openxmlformats.org/drawingml/2006/main">
              <a:ext uri="{FF2B5EF4-FFF2-40B4-BE49-F238E27FC236}">
                <a16:creationId xmlns:a16="http://schemas.microsoft.com/office/drawing/2014/main" id="{55C4C358-FBF3-4341-B0CE-6C76EC86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867025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42ce41c01f284e5c"/>
              </a:rPr>
              <a:t>Training — PyTRIO Docs</a:t>
            </a:r>
          </a:p>
        </p:txBody>
      </p:sp>
      <p:sp>
        <p:nvSpPr>
          <p:cNvPr id="9" name="官方训练 API：前后向计算、优化器更新和检查点等流程。">
            <a:extLst xmlns:a="http://schemas.openxmlformats.org/drawingml/2006/main">
              <a:ext uri="{FF2B5EF4-FFF2-40B4-BE49-F238E27FC236}">
                <a16:creationId xmlns:a16="http://schemas.microsoft.com/office/drawing/2014/main" id="{C95320CD-10B7-4EF6-97BE-16409540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457575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官方训练 API：前后向计算、优化器更新和检查点等流程。</a:t>
            </a:r>
          </a:p>
        </p:txBody>
      </p:sp>
      <p:sp>
        <p:nvSpPr>
          <p:cNvPr id="10" name="26">
            <a:extLst xmlns:a="http://schemas.openxmlformats.org/drawingml/2006/main">
              <a:ext uri="{FF2B5EF4-FFF2-40B4-BE49-F238E27FC236}">
                <a16:creationId xmlns:a16="http://schemas.microsoft.com/office/drawing/2014/main" id="{3629EC6A-2064-40BD-A9EF-D6EBDD28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5287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26</a:t>
            </a:r>
          </a:p>
        </p:txBody>
      </p:sp>
      <p:sp>
        <p:nvSpPr>
          <p:cNvPr id="11" name="agentic-rl-lab / 09-pytrio-jev">
            <a:extLst xmlns:a="http://schemas.openxmlformats.org/drawingml/2006/main">
              <a:ext uri="{FF2B5EF4-FFF2-40B4-BE49-F238E27FC236}">
                <a16:creationId xmlns:a16="http://schemas.microsoft.com/office/drawing/2014/main" id="{33E7E4C7-86AB-4F6A-96BE-B26D6505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943350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7c652c41abd142a1"/>
              </a:rPr>
              <a:t>agentic-rl-lab / 09-pytrio-jev</a:t>
            </a:r>
          </a:p>
        </p:txBody>
      </p:sp>
      <p:sp>
        <p:nvSpPr>
          <p:cNvPr id="12" name="agentic-rl-lab 的 PyTRIO 配方：masked CE、LoRA 与温度校准；作者结果非本实验复测。">
            <a:extLst xmlns:a="http://schemas.openxmlformats.org/drawingml/2006/main">
              <a:ext uri="{FF2B5EF4-FFF2-40B4-BE49-F238E27FC236}">
                <a16:creationId xmlns:a16="http://schemas.microsoft.com/office/drawing/2014/main" id="{646DA37D-5871-4663-BC0A-77255993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533900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agentic-rl-lab 的 PyTRIO 配方：masked CE、LoRA 与温度校准；作者结果非本实验复测。</a:t>
            </a:r>
          </a:p>
        </p:txBody>
      </p:sp>
      <p:sp>
        <p:nvSpPr>
          <p:cNvPr id="13" name="27">
            <a:extLst xmlns:a="http://schemas.openxmlformats.org/drawingml/2006/main">
              <a:ext uri="{FF2B5EF4-FFF2-40B4-BE49-F238E27FC236}">
                <a16:creationId xmlns:a16="http://schemas.microsoft.com/office/drawing/2014/main" id="{85A5C5FF-C4A6-4485-961B-ED20A8E4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27</a:t>
            </a:r>
          </a:p>
        </p:txBody>
      </p:sp>
      <p:sp>
        <p:nvSpPr>
          <p:cNvPr id="14" name="2021 / 2022 · LoRA: Low-Rank Adaptation of Large Language Models">
            <a:extLst xmlns:a="http://schemas.openxmlformats.org/drawingml/2006/main">
              <a:ext uri="{FF2B5EF4-FFF2-40B4-BE49-F238E27FC236}">
                <a16:creationId xmlns:a16="http://schemas.microsoft.com/office/drawing/2014/main" id="{656EE4CB-07FF-4B6A-B06C-68094555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019675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cb30989da4c14cbf"/>
              </a:rPr>
              <a:t>2021 / 2022 · LoRA: Low-Rank Adaptation of Large Language Models</a:t>
            </a:r>
          </a:p>
        </p:txBody>
      </p:sp>
      <p:sp>
        <p:nvSpPr>
          <p:cNvPr id="15" name="低秩权重更新的方法基础；用于区分任务头训练与 LoRA 适配。">
            <a:extLst xmlns:a="http://schemas.openxmlformats.org/drawingml/2006/main">
              <a:ext uri="{FF2B5EF4-FFF2-40B4-BE49-F238E27FC236}">
                <a16:creationId xmlns:a16="http://schemas.microsoft.com/office/drawing/2014/main" id="{BF147271-879F-4AA4-80DF-43B10619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610225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低秩权重更新的方法基础；用于区分任务头训练与 LoRA 适配。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24B2A9-4AE9-4F33-89C6-364875D3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17" name="参考资料 · 蓝色标题可点击打开原文 · 外部结果与本次教学实验分开阅读">
            <a:extLst xmlns:a="http://schemas.openxmlformats.org/drawingml/2006/main">
              <a:ext uri="{FF2B5EF4-FFF2-40B4-BE49-F238E27FC236}">
                <a16:creationId xmlns:a16="http://schemas.microsoft.com/office/drawing/2014/main" id="{CE2FB57C-1F2D-4771-8DAE-16F10371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38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参考资料 · 蓝色标题可点击打开原文 · 外部结果与本次教学实验分开阅读</a:t>
            </a:r>
          </a:p>
        </p:txBody>
      </p:sp>
      <p:sp>
        <p:nvSpPr>
          <p:cNvPr id="18" name="38">
            <a:extLst xmlns:a="http://schemas.openxmlformats.org/drawingml/2006/main">
              <a:ext uri="{FF2B5EF4-FFF2-40B4-BE49-F238E27FC236}">
                <a16:creationId xmlns:a16="http://schemas.microsoft.com/office/drawing/2014/main" id="{7DDBC332-5DF6-4867-BB8D-0891206B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002488687"/>
      </p:ext>
    </p:extLst>
  </p:cSld>
</p:sld>
</file>

<file path=ppt/slides/ref_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参考资料：Intern-Decision 与结构化输出">
            <a:extLst xmlns:a="http://schemas.openxmlformats.org/drawingml/2006/main">
              <a:ext uri="{FF2B5EF4-FFF2-40B4-BE49-F238E27FC236}">
                <a16:creationId xmlns:a16="http://schemas.microsoft.com/office/drawing/2014/main" id="{2ED793D2-3280-44A1-9CB8-C965BADC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1010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参考资料：Intern-Decision 与结构化输出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72781-09B2-4DE3-A667-0ADC8463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项目一手资料和官方 API 文档；模型决策与输出格式约束分别阅读">
            <a:extLst xmlns:a="http://schemas.openxmlformats.org/drawingml/2006/main">
              <a:ext uri="{FF2B5EF4-FFF2-40B4-BE49-F238E27FC236}">
                <a16:creationId xmlns:a16="http://schemas.microsoft.com/office/drawing/2014/main" id="{F40C7F49-550F-4D29-B133-BE2F358C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项目一手资料和官方 API 文档；模型决策与输出格式约束分别阅读</a:t>
            </a:r>
          </a:p>
        </p:txBody>
      </p:sp>
      <p:sp>
        <p:nvSpPr>
          <p:cNvPr id="4" name="28">
            <a:extLst xmlns:a="http://schemas.openxmlformats.org/drawingml/2006/main">
              <a:ext uri="{FF2B5EF4-FFF2-40B4-BE49-F238E27FC236}">
                <a16:creationId xmlns:a16="http://schemas.microsoft.com/office/drawing/2014/main" id="{E1FDCB65-3E79-4E22-8090-127B4798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022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28</a:t>
            </a:r>
          </a:p>
        </p:txBody>
      </p:sp>
      <p:sp>
        <p:nvSpPr>
          <p:cNvPr id="5" name="InternLM / Intern-Decision（中文 README）">
            <a:extLst xmlns:a="http://schemas.openxmlformats.org/drawingml/2006/main">
              <a:ext uri="{FF2B5EF4-FFF2-40B4-BE49-F238E27FC236}">
                <a16:creationId xmlns:a16="http://schemas.microsoft.com/office/drawing/2014/main" id="{4E026D0F-140E-4E81-B2BB-10B7B45A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790700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419e0513011d40a4"/>
              </a:rPr>
              <a:t>InternLM / Intern-Decision（中文 README）</a:t>
            </a:r>
          </a:p>
        </p:txBody>
      </p:sp>
      <p:sp>
        <p:nvSpPr>
          <p:cNvPr id="6" name="Qwen3.5 多模态结构化决策实现；训练、校准、评测与开放范围见中文说明。">
            <a:extLst xmlns:a="http://schemas.openxmlformats.org/drawingml/2006/main">
              <a:ext uri="{FF2B5EF4-FFF2-40B4-BE49-F238E27FC236}">
                <a16:creationId xmlns:a16="http://schemas.microsoft.com/office/drawing/2014/main" id="{DC8B72A4-F9B7-494F-9FAF-F24AB877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381250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Qwen3.5 多模态结构化决策实现；训练、校准、评测与开放范围见中文说明。</a:t>
            </a:r>
          </a:p>
        </p:txBody>
      </p:sp>
      <p:sp>
        <p:nvSpPr>
          <p:cNvPr id="7" name="29">
            <a:extLst xmlns:a="http://schemas.openxmlformats.org/drawingml/2006/main">
              <a:ext uri="{FF2B5EF4-FFF2-40B4-BE49-F238E27FC236}">
                <a16:creationId xmlns:a16="http://schemas.microsoft.com/office/drawing/2014/main" id="{83314CE9-09DB-473C-B0D4-3FA4240F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29</a:t>
            </a:r>
          </a:p>
        </p:txBody>
      </p:sp>
      <p:sp>
        <p:nvSpPr>
          <p:cNvPr id="8" name="internlm/Intern-Decision-4B">
            <a:extLst xmlns:a="http://schemas.openxmlformats.org/drawingml/2006/main">
              <a:ext uri="{FF2B5EF4-FFF2-40B4-BE49-F238E27FC236}">
                <a16:creationId xmlns:a16="http://schemas.microsoft.com/office/drawing/2014/main" id="{453D13FB-9583-4767-9B29-748A0B3C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867025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9eec7c88158e42bd"/>
              </a:rPr>
              <a:t>internlm/Intern-Decision-4B</a:t>
            </a:r>
          </a:p>
        </p:txBody>
      </p:sp>
      <p:sp>
        <p:nvSpPr>
          <p:cNvPr id="9" name="4B 模型卡与响应格式；作为待评估多模态扩展，不冒充本地已测基线。">
            <a:extLst xmlns:a="http://schemas.openxmlformats.org/drawingml/2006/main">
              <a:ext uri="{FF2B5EF4-FFF2-40B4-BE49-F238E27FC236}">
                <a16:creationId xmlns:a16="http://schemas.microsoft.com/office/drawing/2014/main" id="{53281167-A7AE-478F-A90B-F8CD2C38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457575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4B 模型卡与响应格式；作为待评估多模态扩展，不冒充本地已测基线。</a:t>
            </a:r>
          </a:p>
        </p:txBody>
      </p:sp>
      <p:sp>
        <p:nvSpPr>
          <p:cNvPr id="10" name="30">
            <a:extLst xmlns:a="http://schemas.openxmlformats.org/drawingml/2006/main">
              <a:ext uri="{FF2B5EF4-FFF2-40B4-BE49-F238E27FC236}">
                <a16:creationId xmlns:a16="http://schemas.microsoft.com/office/drawing/2014/main" id="{DCE8E221-2199-43EC-B1AA-C3A047CB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5287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30</a:t>
            </a:r>
          </a:p>
        </p:txBody>
      </p:sp>
      <p:sp>
        <p:nvSpPr>
          <p:cNvPr id="11" name="Structured model outputs">
            <a:extLst xmlns:a="http://schemas.openxmlformats.org/drawingml/2006/main">
              <a:ext uri="{FF2B5EF4-FFF2-40B4-BE49-F238E27FC236}">
                <a16:creationId xmlns:a16="http://schemas.microsoft.com/office/drawing/2014/main" id="{D99F6D9B-2053-43D2-9E65-2DDD5E4B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943350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09f6bb0f38864da5"/>
              </a:rPr>
              <a:t>Structured model outputs</a:t>
            </a:r>
          </a:p>
        </p:txBody>
      </p:sp>
      <p:sp>
        <p:nvSpPr>
          <p:cNvPr id="12" name="OpenAI Structured Outputs 的 schema 接口文档；与 Decisions API 分别引用。">
            <a:extLst xmlns:a="http://schemas.openxmlformats.org/drawingml/2006/main">
              <a:ext uri="{FF2B5EF4-FFF2-40B4-BE49-F238E27FC236}">
                <a16:creationId xmlns:a16="http://schemas.microsoft.com/office/drawing/2014/main" id="{E5851711-EFAD-4C31-9E7D-3A5175E4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533900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OpenAI Structured Outputs 的 schema 接口文档；与 Decisions API 分别引用。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5941C6-9D31-4F68-B82E-65C6D497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14" name="参考资料 · 蓝色标题可点击打开原文 · 外部结果与本次教学实验分开阅读">
            <a:extLst xmlns:a="http://schemas.openxmlformats.org/drawingml/2006/main">
              <a:ext uri="{FF2B5EF4-FFF2-40B4-BE49-F238E27FC236}">
                <a16:creationId xmlns:a16="http://schemas.microsoft.com/office/drawing/2014/main" id="{F0FA015F-FC91-4BBC-B5E3-CBDD3556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38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参考资料 · 蓝色标题可点击打开原文 · 外部结果与本次教学实验分开阅读</a:t>
            </a:r>
          </a:p>
        </p:txBody>
      </p:sp>
      <p:sp>
        <p:nvSpPr>
          <p:cNvPr id="15" name="39">
            <a:extLst xmlns:a="http://schemas.openxmlformats.org/drawingml/2006/main">
              <a:ext uri="{FF2B5EF4-FFF2-40B4-BE49-F238E27FC236}">
                <a16:creationId xmlns:a16="http://schemas.microsoft.com/office/drawing/2014/main" id="{3FF78969-53BA-487D-B72D-031BF99E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327302273"/>
      </p:ext>
    </p:extLst>
  </p:cSld>
</p:sld>
</file>

<file path=ppt/slides/ref_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参考资料：路由、校准与拒答综述">
            <a:extLst xmlns:a="http://schemas.openxmlformats.org/drawingml/2006/main">
              <a:ext uri="{FF2B5EF4-FFF2-40B4-BE49-F238E27FC236}">
                <a16:creationId xmlns:a16="http://schemas.microsoft.com/office/drawing/2014/main" id="{CA57D9F4-3353-4D53-9CE5-9E3FA30F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1010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参考资料：路由、校准与拒答综述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E5E62-7C28-4BB2-8976-16D99788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相关研究方向的阅读地图；这些综述不专门介绍 Jev">
            <a:extLst xmlns:a="http://schemas.openxmlformats.org/drawingml/2006/main">
              <a:ext uri="{FF2B5EF4-FFF2-40B4-BE49-F238E27FC236}">
                <a16:creationId xmlns:a16="http://schemas.microsoft.com/office/drawing/2014/main" id="{08228639-3614-4A68-AF4D-60D4007A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相关研究方向的阅读地图；这些综述不专门介绍 Jev</a:t>
            </a:r>
          </a:p>
        </p:txBody>
      </p:sp>
      <p:sp>
        <p:nvSpPr>
          <p:cNvPr id="4" name="31">
            <a:extLst xmlns:a="http://schemas.openxmlformats.org/drawingml/2006/main">
              <a:ext uri="{FF2B5EF4-FFF2-40B4-BE49-F238E27FC236}">
                <a16:creationId xmlns:a16="http://schemas.microsoft.com/office/drawing/2014/main" id="{056ED6D5-1A1D-4BD8-858D-3005D9E1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022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31</a:t>
            </a:r>
          </a:p>
        </p:txBody>
      </p:sp>
      <p:sp>
        <p:nvSpPr>
          <p:cNvPr id="5" name="2026 · Dynamic Model Routing and Cascading for Efficient LLM Inference: A Survey">
            <a:extLst xmlns:a="http://schemas.openxmlformats.org/drawingml/2006/main">
              <a:ext uri="{FF2B5EF4-FFF2-40B4-BE49-F238E27FC236}">
                <a16:creationId xmlns:a16="http://schemas.microsoft.com/office/drawing/2014/main" id="{2E0B1533-AEB4-45BB-991C-6FB5A331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790700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77747420bb3c4b7c"/>
              </a:rPr>
              <a:t>2026 · Dynamic Model Routing and Cascading for Efficient LLM Inference: A Survey</a:t>
            </a:r>
          </a:p>
        </p:txBody>
      </p:sp>
      <p:sp>
        <p:nvSpPr>
          <p:cNvPr id="6" name="区分请求前选模型的 routing 与先调用再升级的 cascading；非 Jev 专题综述。">
            <a:extLst xmlns:a="http://schemas.openxmlformats.org/drawingml/2006/main">
              <a:ext uri="{FF2B5EF4-FFF2-40B4-BE49-F238E27FC236}">
                <a16:creationId xmlns:a16="http://schemas.microsoft.com/office/drawing/2014/main" id="{4148407D-1874-4FD5-82CA-7A10F4AD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381250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区分请求前选模型的 routing 与先调用再升级的 cascading；非 Jev 专题综述。</a:t>
            </a:r>
          </a:p>
        </p:txBody>
      </p:sp>
      <p:sp>
        <p:nvSpPr>
          <p:cNvPr id="7" name="32">
            <a:extLst xmlns:a="http://schemas.openxmlformats.org/drawingml/2006/main">
              <a:ext uri="{FF2B5EF4-FFF2-40B4-BE49-F238E27FC236}">
                <a16:creationId xmlns:a16="http://schemas.microsoft.com/office/drawing/2014/main" id="{4D2073C4-937E-497C-916B-1FF14507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32</a:t>
            </a:r>
          </a:p>
        </p:txBody>
      </p:sp>
      <p:sp>
        <p:nvSpPr>
          <p:cNvPr id="8" name="2021 / 2023 · Classifier Calibration: A survey on how to assess and improve predicted clas">
            <a:extLst xmlns:a="http://schemas.openxmlformats.org/drawingml/2006/main">
              <a:ext uri="{FF2B5EF4-FFF2-40B4-BE49-F238E27FC236}">
                <a16:creationId xmlns:a16="http://schemas.microsoft.com/office/drawing/2014/main" id="{F5E40DD6-741E-45D1-9556-F4817120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867025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767d79f567de4649"/>
              </a:rPr>
              <a:t>2021 / 2023 · Classifier Calibration: A survey on how to assess and improve predicted class probabilities</a:t>
            </a:r>
          </a:p>
        </p:txBody>
      </p:sp>
      <p:sp>
        <p:nvSpPr>
          <p:cNvPr id="9" name="分类概率的评估、后处理与训练期校准方法，直接关联 Choice 的概率解释。">
            <a:extLst xmlns:a="http://schemas.openxmlformats.org/drawingml/2006/main">
              <a:ext uri="{FF2B5EF4-FFF2-40B4-BE49-F238E27FC236}">
                <a16:creationId xmlns:a16="http://schemas.microsoft.com/office/drawing/2014/main" id="{FFCB5A5C-6F3B-4BF2-B20D-A9E29558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457575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分类概率的评估、后处理与训练期校准方法，直接关联 Choice 的概率解释。</a:t>
            </a:r>
          </a:p>
        </p:txBody>
      </p:sp>
      <p:sp>
        <p:nvSpPr>
          <p:cNvPr id="10" name="33">
            <a:extLst xmlns:a="http://schemas.openxmlformats.org/drawingml/2006/main">
              <a:ext uri="{FF2B5EF4-FFF2-40B4-BE49-F238E27FC236}">
                <a16:creationId xmlns:a16="http://schemas.microsoft.com/office/drawing/2014/main" id="{AB626859-9AD6-447E-9C6D-F238946D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5287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33</a:t>
            </a:r>
          </a:p>
        </p:txBody>
      </p:sp>
      <p:sp>
        <p:nvSpPr>
          <p:cNvPr id="11" name="2024 / 2025 · Know Your Limits: A Survey of Abstention in Large Language Models">
            <a:extLst xmlns:a="http://schemas.openxmlformats.org/drawingml/2006/main">
              <a:ext uri="{FF2B5EF4-FFF2-40B4-BE49-F238E27FC236}">
                <a16:creationId xmlns:a16="http://schemas.microsoft.com/office/drawing/2014/main" id="{6BC233BF-C380-469E-84B9-F44DCE86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943350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294ea01180664dce"/>
              </a:rPr>
              <a:t>2024 / 2025 · Know Your Limits: A Survey of Abstention in Large Language Models</a:t>
            </a:r>
          </a:p>
        </p:txBody>
      </p:sp>
      <p:sp>
        <p:nvSpPr>
          <p:cNvPr id="12" name="拒答、选择性预测与风险—覆盖率框架；不能视为特定模型已具备的能力。">
            <a:extLst xmlns:a="http://schemas.openxmlformats.org/drawingml/2006/main">
              <a:ext uri="{FF2B5EF4-FFF2-40B4-BE49-F238E27FC236}">
                <a16:creationId xmlns:a16="http://schemas.microsoft.com/office/drawing/2014/main" id="{C43D3334-2CC7-4A52-BEF9-9817676F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533900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拒答、选择性预测与风险—覆盖率框架；不能视为特定模型已具备的能力。</a:t>
            </a:r>
          </a:p>
        </p:txBody>
      </p:sp>
      <p:sp>
        <p:nvSpPr>
          <p:cNvPr id="13" name="34">
            <a:extLst xmlns:a="http://schemas.openxmlformats.org/drawingml/2006/main">
              <a:ext uri="{FF2B5EF4-FFF2-40B4-BE49-F238E27FC236}">
                <a16:creationId xmlns:a16="http://schemas.microsoft.com/office/drawing/2014/main" id="{83C56069-6110-4D2D-8C41-3A6C00ED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34</a:t>
            </a:r>
          </a:p>
        </p:txBody>
      </p:sp>
      <p:sp>
        <p:nvSpPr>
          <p:cNvPr id="14" name="2025 · Uncertainty Quantification and Confidence Calibration in Large Language Models: A S">
            <a:extLst xmlns:a="http://schemas.openxmlformats.org/drawingml/2006/main">
              <a:ext uri="{FF2B5EF4-FFF2-40B4-BE49-F238E27FC236}">
                <a16:creationId xmlns:a16="http://schemas.microsoft.com/office/drawing/2014/main" id="{9621DC87-117E-410F-8033-A6525AFA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019675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233e975df8974d60"/>
              </a:rPr>
              <a:t>2025 · Uncertainty Quantification and Confidence Calibration in Large Language Models: A Survey</a:t>
            </a:r>
          </a:p>
        </p:txBody>
      </p:sp>
      <p:sp>
        <p:nvSpPr>
          <p:cNvPr id="15" name="区分不确定性、置信分数与校准方法；用于拓展概率语义和评估设计。">
            <a:extLst xmlns:a="http://schemas.openxmlformats.org/drawingml/2006/main">
              <a:ext uri="{FF2B5EF4-FFF2-40B4-BE49-F238E27FC236}">
                <a16:creationId xmlns:a16="http://schemas.microsoft.com/office/drawing/2014/main" id="{903D1D4D-4549-437B-992E-3D33F12B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610225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区分不确定性、置信分数与校准方法；用于拓展概率语义和评估设计。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42665D-048A-4323-8D24-FCF356BC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17" name="参考资料 · 蓝色标题可点击打开原文 · 外部结果与本次教学实验分开阅读">
            <a:extLst xmlns:a="http://schemas.openxmlformats.org/drawingml/2006/main">
              <a:ext uri="{FF2B5EF4-FFF2-40B4-BE49-F238E27FC236}">
                <a16:creationId xmlns:a16="http://schemas.microsoft.com/office/drawing/2014/main" id="{1F8EFF17-2B2E-46C3-9BB8-9E5DABF9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38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参考资料 · 蓝色标题可点击打开原文 · 外部结果与本次教学实验分开阅读</a:t>
            </a:r>
          </a:p>
        </p:txBody>
      </p:sp>
      <p:sp>
        <p:nvSpPr>
          <p:cNvPr id="18" name="40">
            <a:extLst xmlns:a="http://schemas.openxmlformats.org/drawingml/2006/main">
              <a:ext uri="{FF2B5EF4-FFF2-40B4-BE49-F238E27FC236}">
                <a16:creationId xmlns:a16="http://schemas.microsoft.com/office/drawing/2014/main" id="{4D5328F4-B2F1-4CD1-A8CF-7AFDAE77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581762837"/>
      </p:ext>
    </p:extLst>
  </p:cSld>
</p:sld>
</file>

<file path=ppt/slides/ref_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参考资料：评测与答案核验">
            <a:extLst xmlns:a="http://schemas.openxmlformats.org/drawingml/2006/main">
              <a:ext uri="{FF2B5EF4-FFF2-40B4-BE49-F238E27FC236}">
                <a16:creationId xmlns:a16="http://schemas.microsoft.com/office/drawing/2014/main" id="{19999E53-D3B4-4C84-AD3D-49A5C3C5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1010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参考资料：评测与答案核验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8CC75-F933-42A6-A95B-95848FC0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Jev 预印本、社区比较和早期 verifier 论文；外部结果不并入本次实验">
            <a:extLst xmlns:a="http://schemas.openxmlformats.org/drawingml/2006/main">
              <a:ext uri="{FF2B5EF4-FFF2-40B4-BE49-F238E27FC236}">
                <a16:creationId xmlns:a16="http://schemas.microsoft.com/office/drawing/2014/main" id="{010C1F0B-E3F6-4618-BC91-ACE71FBD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Jev 预印本、社区比较和早期 verifier 论文；外部结果不并入本次实验</a:t>
            </a:r>
          </a:p>
        </p:txBody>
      </p:sp>
      <p:sp>
        <p:nvSpPr>
          <p:cNvPr id="4" name="35">
            <a:extLst xmlns:a="http://schemas.openxmlformats.org/drawingml/2006/main">
              <a:ext uri="{FF2B5EF4-FFF2-40B4-BE49-F238E27FC236}">
                <a16:creationId xmlns:a16="http://schemas.microsoft.com/office/drawing/2014/main" id="{99B4153F-B6C9-433C-BBF2-71DE2054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022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35</a:t>
            </a:r>
          </a:p>
        </p:txBody>
      </p:sp>
      <p:sp>
        <p:nvSpPr>
          <p:cNvPr id="5" name="2026 · Evaluating and Benchmarking the System One Model Jev">
            <a:extLst xmlns:a="http://schemas.openxmlformats.org/drawingml/2006/main">
              <a:ext uri="{FF2B5EF4-FFF2-40B4-BE49-F238E27FC236}">
                <a16:creationId xmlns:a16="http://schemas.microsoft.com/office/drawing/2014/main" id="{623C9886-E199-4B4A-821D-C6DC5A96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790700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223003be9c8a43c2"/>
              </a:rPr>
              <a:t>2026 · Evaluating and Benchmarking the System One Model Jev</a:t>
            </a:r>
          </a:p>
        </p:txBody>
      </p:sp>
      <p:sp>
        <p:nvSpPr>
          <p:cNvPr id="6" name="跨任务独立评测与概率阈值分析；结论限定于论文版本、数据及对照设置。">
            <a:extLst xmlns:a="http://schemas.openxmlformats.org/drawingml/2006/main">
              <a:ext uri="{FF2B5EF4-FFF2-40B4-BE49-F238E27FC236}">
                <a16:creationId xmlns:a16="http://schemas.microsoft.com/office/drawing/2014/main" id="{93A8D2B5-0A77-493E-A08B-3904BB99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381250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跨任务独立评测与概率阈值分析；结论限定于论文版本、数据及对照设置。</a:t>
            </a:r>
          </a:p>
        </p:txBody>
      </p:sp>
      <p:sp>
        <p:nvSpPr>
          <p:cNvPr id="7" name="36">
            <a:extLst xmlns:a="http://schemas.openxmlformats.org/drawingml/2006/main">
              <a:ext uri="{FF2B5EF4-FFF2-40B4-BE49-F238E27FC236}">
                <a16:creationId xmlns:a16="http://schemas.microsoft.com/office/drawing/2014/main" id="{BE83403C-8FC6-46E5-BF15-1A858BF9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36</a:t>
            </a:r>
          </a:p>
        </p:txBody>
      </p:sp>
      <p:sp>
        <p:nvSpPr>
          <p:cNvPr id="8" name="2026 · JEV vs. LLMs as Rubric Judges: Cheaper, Faster, and Wrong in the Same Places">
            <a:extLst xmlns:a="http://schemas.openxmlformats.org/drawingml/2006/main">
              <a:ext uri="{FF2B5EF4-FFF2-40B4-BE49-F238E27FC236}">
                <a16:creationId xmlns:a16="http://schemas.microsoft.com/office/drawing/2014/main" id="{B50B416A-0F8D-4A28-9D4C-CAA69688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867025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dd1ce40d9611428d"/>
              </a:rPr>
              <a:t>2026 · JEV vs. LLMs as Rubric Judges: Cheaper, Faster, and Wrong in the Same Places</a:t>
            </a:r>
          </a:p>
        </p:txBody>
      </p:sp>
      <p:sp>
        <p:nvSpPr>
          <p:cNvPr id="9" name="rubric 评审与错误相关性研究；回退模型是否互补仍需业务逐样本验证。">
            <a:extLst xmlns:a="http://schemas.openxmlformats.org/drawingml/2006/main">
              <a:ext uri="{FF2B5EF4-FFF2-40B4-BE49-F238E27FC236}">
                <a16:creationId xmlns:a16="http://schemas.microsoft.com/office/drawing/2014/main" id="{98C76E8F-E25E-4C21-97BD-A7AC7F02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457575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rubric 评审与错误相关性研究；回退模型是否互补仍需业务逐样本验证。</a:t>
            </a:r>
          </a:p>
        </p:txBody>
      </p:sp>
      <p:sp>
        <p:nvSpPr>
          <p:cNvPr id="10" name="37">
            <a:extLst xmlns:a="http://schemas.openxmlformats.org/drawingml/2006/main">
              <a:ext uri="{FF2B5EF4-FFF2-40B4-BE49-F238E27FC236}">
                <a16:creationId xmlns:a16="http://schemas.microsoft.com/office/drawing/2014/main" id="{DA66CB47-972E-446C-849A-7026246C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5287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37</a:t>
            </a:r>
          </a:p>
        </p:txBody>
      </p:sp>
      <p:sp>
        <p:nvSpPr>
          <p:cNvPr id="11" name="2026 · DDnim/jev-vs-laya">
            <a:extLst xmlns:a="http://schemas.openxmlformats.org/drawingml/2006/main">
              <a:ext uri="{FF2B5EF4-FFF2-40B4-BE49-F238E27FC236}">
                <a16:creationId xmlns:a16="http://schemas.microsoft.com/office/drawing/2014/main" id="{E2768106-C679-4EA9-B43E-3763C8A9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943350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75f92f2a690c42cf"/>
              </a:rPr>
              <a:t>2026 · DDnim/jev-vs-laya</a:t>
            </a:r>
          </a:p>
        </p:txBody>
      </p:sp>
      <p:sp>
        <p:nvSpPr>
          <p:cNvPr id="12" name="小样本 SQL 审查、任务路由和领域微调案例；硬件与数据限制不支持普遍性能排名。">
            <a:extLst xmlns:a="http://schemas.openxmlformats.org/drawingml/2006/main">
              <a:ext uri="{FF2B5EF4-FFF2-40B4-BE49-F238E27FC236}">
                <a16:creationId xmlns:a16="http://schemas.microsoft.com/office/drawing/2014/main" id="{A4912ED0-CD4D-48C3-817A-986543B0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533900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小样本 SQL 审查、任务路由和领域微调案例；硬件与数据限制不支持普遍性能排名。</a:t>
            </a:r>
          </a:p>
        </p:txBody>
      </p:sp>
      <p:sp>
        <p:nvSpPr>
          <p:cNvPr id="13" name="38">
            <a:extLst xmlns:a="http://schemas.openxmlformats.org/drawingml/2006/main">
              <a:ext uri="{FF2B5EF4-FFF2-40B4-BE49-F238E27FC236}">
                <a16:creationId xmlns:a16="http://schemas.microsoft.com/office/drawing/2014/main" id="{6C09BCDE-EB54-45F0-BCDD-83EE70F8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38</a:t>
            </a:r>
          </a:p>
        </p:txBody>
      </p:sp>
      <p:sp>
        <p:nvSpPr>
          <p:cNvPr id="14" name="2021 · Training Verifiers to Solve Math Word Problems">
            <a:extLst xmlns:a="http://schemas.openxmlformats.org/drawingml/2006/main">
              <a:ext uri="{FF2B5EF4-FFF2-40B4-BE49-F238E27FC236}">
                <a16:creationId xmlns:a16="http://schemas.microsoft.com/office/drawing/2014/main" id="{2804FD98-3E49-4D0A-A70C-D09BFB2F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019675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66608cfd080d42ab"/>
              </a:rPr>
              <a:t>2021 · Training Verifiers to Solve Math Word Problems</a:t>
            </a:r>
          </a:p>
        </p:txBody>
      </p:sp>
      <p:sp>
        <p:nvSpPr>
          <p:cNvPr id="15" name="生成多个解答并由 verifier 评分选择；为生成与判别分工提供历史背景。">
            <a:extLst xmlns:a="http://schemas.openxmlformats.org/drawingml/2006/main">
              <a:ext uri="{FF2B5EF4-FFF2-40B4-BE49-F238E27FC236}">
                <a16:creationId xmlns:a16="http://schemas.microsoft.com/office/drawing/2014/main" id="{D0E8DFA3-E484-44C3-AACC-1C4AC81D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610225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生成多个解答并由 verifier 评分选择；为生成与判别分工提供历史背景。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8FC211-C5C0-42F0-87A5-99C874B4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17" name="参考资料 · 蓝色标题可点击打开原文 · 外部结果与本次教学实验分开阅读">
            <a:extLst xmlns:a="http://schemas.openxmlformats.org/drawingml/2006/main">
              <a:ext uri="{FF2B5EF4-FFF2-40B4-BE49-F238E27FC236}">
                <a16:creationId xmlns:a16="http://schemas.microsoft.com/office/drawing/2014/main" id="{4AA8237B-C2B6-4A74-865B-9E8674B1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38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参考资料 · 蓝色标题可点击打开原文 · 外部结果与本次教学实验分开阅读</a:t>
            </a:r>
          </a:p>
        </p:txBody>
      </p:sp>
      <p:sp>
        <p:nvSpPr>
          <p:cNvPr id="18" name="41">
            <a:extLst xmlns:a="http://schemas.openxmlformats.org/drawingml/2006/main">
              <a:ext uri="{FF2B5EF4-FFF2-40B4-BE49-F238E27FC236}">
                <a16:creationId xmlns:a16="http://schemas.microsoft.com/office/drawing/2014/main" id="{6DA0DED4-5696-4416-8CB5-2837618B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851504391"/>
      </p:ext>
    </p:extLst>
  </p:cSld>
</p:sld>
</file>

<file path=ppt/slides/ref_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参考资料：分类与对比学习的前身">
            <a:extLst xmlns:a="http://schemas.openxmlformats.org/drawingml/2006/main">
              <a:ext uri="{FF2B5EF4-FFF2-40B4-BE49-F238E27FC236}">
                <a16:creationId xmlns:a16="http://schemas.microsoft.com/office/drawing/2014/main" id="{4494AE20-B105-41F9-89A7-9C58BD9F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1010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参考资料：分类与对比学习的前身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2A1AE-00B2-4D6C-BE3F-9DF7330D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原始论文；帮助判断哪些思想已有基础，哪些组合值得进一步验证">
            <a:extLst xmlns:a="http://schemas.openxmlformats.org/drawingml/2006/main">
              <a:ext uri="{FF2B5EF4-FFF2-40B4-BE49-F238E27FC236}">
                <a16:creationId xmlns:a16="http://schemas.microsoft.com/office/drawing/2014/main" id="{CEE2A36E-FF01-4594-B929-58BFF09F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原始论文；帮助判断哪些思想已有基础，哪些组合值得进一步验证</a:t>
            </a:r>
          </a:p>
        </p:txBody>
      </p:sp>
      <p:sp>
        <p:nvSpPr>
          <p:cNvPr id="4" name="39">
            <a:extLst xmlns:a="http://schemas.openxmlformats.org/drawingml/2006/main">
              <a:ext uri="{FF2B5EF4-FFF2-40B4-BE49-F238E27FC236}">
                <a16:creationId xmlns:a16="http://schemas.microsoft.com/office/drawing/2014/main" id="{1F704474-91BF-4F16-AD8B-D284B1AD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022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39</a:t>
            </a:r>
          </a:p>
        </p:txBody>
      </p:sp>
      <p:sp>
        <p:nvSpPr>
          <p:cNvPr id="5" name="2018 / 2019 · BERT: Pre-training of Deep Bidirectional Transformers for Language Understan">
            <a:extLst xmlns:a="http://schemas.openxmlformats.org/drawingml/2006/main">
              <a:ext uri="{FF2B5EF4-FFF2-40B4-BE49-F238E27FC236}">
                <a16:creationId xmlns:a16="http://schemas.microsoft.com/office/drawing/2014/main" id="{4A0886F5-0073-447A-99A5-2806B807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790700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478ae470ca3b4f5e"/>
              </a:rPr>
              <a:t>2018 / 2019 · BERT: Pre-training of Deep Bidirectional Transformers for Language Understanding</a:t>
            </a:r>
          </a:p>
        </p:txBody>
      </p:sp>
      <p:sp>
        <p:nvSpPr>
          <p:cNvPr id="6" name="双向 Transformer 预训练与分类微调基础，用于理解编码器决策路线。">
            <a:extLst xmlns:a="http://schemas.openxmlformats.org/drawingml/2006/main">
              <a:ext uri="{FF2B5EF4-FFF2-40B4-BE49-F238E27FC236}">
                <a16:creationId xmlns:a16="http://schemas.microsoft.com/office/drawing/2014/main" id="{F3DD5CCB-D391-4EFA-A00F-E9D96F57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381250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双向 Transformer 预训练与分类微调基础，用于理解编码器决策路线。</a:t>
            </a:r>
          </a:p>
        </p:txBody>
      </p:sp>
      <p:sp>
        <p:nvSpPr>
          <p:cNvPr id="7" name="40">
            <a:extLst xmlns:a="http://schemas.openxmlformats.org/drawingml/2006/main">
              <a:ext uri="{FF2B5EF4-FFF2-40B4-BE49-F238E27FC236}">
                <a16:creationId xmlns:a16="http://schemas.microsoft.com/office/drawing/2014/main" id="{D228ADE2-BE25-4E8D-ACFC-191A8636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40</a:t>
            </a:r>
          </a:p>
        </p:txBody>
      </p:sp>
      <p:sp>
        <p:nvSpPr>
          <p:cNvPr id="8" name="2019 · Benchmarking Zero-shot Text Classification: Datasets, Evaluation and Entailment App">
            <a:extLst xmlns:a="http://schemas.openxmlformats.org/drawingml/2006/main">
              <a:ext uri="{FF2B5EF4-FFF2-40B4-BE49-F238E27FC236}">
                <a16:creationId xmlns:a16="http://schemas.microsoft.com/office/drawing/2014/main" id="{12249ADB-22B5-4C88-A7AB-BC4F960A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867025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52bb1b6ebc7946ec"/>
              </a:rPr>
              <a:t>2019 · Benchmarking Zero-shot Text Classification: Datasets, Evaluation and Entailment Approach</a:t>
            </a:r>
          </a:p>
        </p:txBody>
      </p:sp>
      <p:sp>
        <p:nvSpPr>
          <p:cNvPr id="9" name="将标签描述转为文本蕴涵判断，连接 NLI 与零样本分类。">
            <a:extLst xmlns:a="http://schemas.openxmlformats.org/drawingml/2006/main">
              <a:ext uri="{FF2B5EF4-FFF2-40B4-BE49-F238E27FC236}">
                <a16:creationId xmlns:a16="http://schemas.microsoft.com/office/drawing/2014/main" id="{1D5B251C-2F7A-41D0-8B52-90A5691F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457575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将标签描述转为文本蕴涵判断，连接 NLI 与零样本分类。</a:t>
            </a:r>
          </a:p>
        </p:txBody>
      </p:sp>
      <p:sp>
        <p:nvSpPr>
          <p:cNvPr id="10" name="41">
            <a:extLst xmlns:a="http://schemas.openxmlformats.org/drawingml/2006/main">
              <a:ext uri="{FF2B5EF4-FFF2-40B4-BE49-F238E27FC236}">
                <a16:creationId xmlns:a16="http://schemas.microsoft.com/office/drawing/2014/main" id="{35C90AC0-FC61-40F6-97C2-087CA509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5287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41</a:t>
            </a:r>
          </a:p>
        </p:txBody>
      </p:sp>
      <p:sp>
        <p:nvSpPr>
          <p:cNvPr id="11" name="2021 · Learning Transferable Visual Models From Natural Language Supervision">
            <a:extLst xmlns:a="http://schemas.openxmlformats.org/drawingml/2006/main">
              <a:ext uri="{FF2B5EF4-FFF2-40B4-BE49-F238E27FC236}">
                <a16:creationId xmlns:a16="http://schemas.microsoft.com/office/drawing/2014/main" id="{CE54186A-6B95-489F-B3EF-68BCD16A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943350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edda42944ad34d0e"/>
              </a:rPr>
              <a:t>2021 · Learning Transferable Visual Models From Natural Language Supervision</a:t>
            </a:r>
          </a:p>
        </p:txBody>
      </p:sp>
      <p:sp>
        <p:nvSpPr>
          <p:cNvPr id="12" name="CLIP 的图文对比学习与文本候选匹配，为相似度式决策提供背景。">
            <a:extLst xmlns:a="http://schemas.openxmlformats.org/drawingml/2006/main">
              <a:ext uri="{FF2B5EF4-FFF2-40B4-BE49-F238E27FC236}">
                <a16:creationId xmlns:a16="http://schemas.microsoft.com/office/drawing/2014/main" id="{31D7DF56-DB47-454D-89E2-B23699C6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533900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CLIP 的图文对比学习与文本候选匹配，为相似度式决策提供背景。</a:t>
            </a:r>
          </a:p>
        </p:txBody>
      </p:sp>
      <p:sp>
        <p:nvSpPr>
          <p:cNvPr id="13" name="42">
            <a:extLst xmlns:a="http://schemas.openxmlformats.org/drawingml/2006/main">
              <a:ext uri="{FF2B5EF4-FFF2-40B4-BE49-F238E27FC236}">
                <a16:creationId xmlns:a16="http://schemas.microsoft.com/office/drawing/2014/main" id="{868F0F6F-BABD-4C11-AFCD-C3875E06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42</a:t>
            </a:r>
          </a:p>
        </p:txBody>
      </p:sp>
      <p:sp>
        <p:nvSpPr>
          <p:cNvPr id="14" name="2025 · GLiClass: Generalist Lightweight Model for Sequence Classification Tasks">
            <a:extLst xmlns:a="http://schemas.openxmlformats.org/drawingml/2006/main">
              <a:ext uri="{FF2B5EF4-FFF2-40B4-BE49-F238E27FC236}">
                <a16:creationId xmlns:a16="http://schemas.microsoft.com/office/drawing/2014/main" id="{7EDE29E9-0CD8-406E-83DF-88E2C396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019675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9311ab1e5b1440e7"/>
              </a:rPr>
              <a:t>2025 · GLiClass: Generalist Lightweight Model for Sequence Classification Tasks</a:t>
            </a:r>
          </a:p>
        </p:txBody>
      </p:sp>
      <p:sp>
        <p:nvSpPr>
          <p:cNvPr id="15" name="轻量通用序列分类与单次前向候选判别，连接零样本分类生态。">
            <a:extLst xmlns:a="http://schemas.openxmlformats.org/drawingml/2006/main">
              <a:ext uri="{FF2B5EF4-FFF2-40B4-BE49-F238E27FC236}">
                <a16:creationId xmlns:a16="http://schemas.microsoft.com/office/drawing/2014/main" id="{393A5173-85EE-45EA-8053-1799A09B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610225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轻量通用序列分类与单次前向候选判别，连接零样本分类生态。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9782B2-D80C-4B89-8F5A-ED027FC8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17" name="参考资料 · 蓝色标题可点击打开原文 · 外部结果与本次教学实验分开阅读">
            <a:extLst xmlns:a="http://schemas.openxmlformats.org/drawingml/2006/main">
              <a:ext uri="{FF2B5EF4-FFF2-40B4-BE49-F238E27FC236}">
                <a16:creationId xmlns:a16="http://schemas.microsoft.com/office/drawing/2014/main" id="{45B61E71-B84B-4CCA-83A8-5892B626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38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参考资料 · 蓝色标题可点击打开原文 · 外部结果与本次教学实验分开阅读</a:t>
            </a:r>
          </a:p>
        </p:txBody>
      </p:sp>
      <p:sp>
        <p:nvSpPr>
          <p:cNvPr id="18" name="42">
            <a:extLst xmlns:a="http://schemas.openxmlformats.org/drawingml/2006/main">
              <a:ext uri="{FF2B5EF4-FFF2-40B4-BE49-F238E27FC236}">
                <a16:creationId xmlns:a16="http://schemas.microsoft.com/office/drawing/2014/main" id="{66E1720D-9A76-4923-92C7-3A028510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720793460"/>
      </p:ext>
    </p:extLst>
  </p:cSld>
</p:sld>
</file>

<file path=ppt/slides/ref_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参考资料：概率、校准与阈值">
            <a:extLst xmlns:a="http://schemas.openxmlformats.org/drawingml/2006/main">
              <a:ext uri="{FF2B5EF4-FFF2-40B4-BE49-F238E27FC236}">
                <a16:creationId xmlns:a16="http://schemas.microsoft.com/office/drawing/2014/main" id="{34AE549E-10F7-4A4C-93A7-F5715632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1010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参考资料：概率、校准与阈值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8102A6-BC3F-4059-A3DA-5998864E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原始论文及 Google 官方课程；高分、正确率与业务放行阈值需要区分">
            <a:extLst xmlns:a="http://schemas.openxmlformats.org/drawingml/2006/main">
              <a:ext uri="{FF2B5EF4-FFF2-40B4-BE49-F238E27FC236}">
                <a16:creationId xmlns:a16="http://schemas.microsoft.com/office/drawing/2014/main" id="{A2646530-8713-47C2-8D70-E58829B8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原始论文及 Google 官方课程；高分、正确率与业务放行阈值需要区分</a:t>
            </a:r>
          </a:p>
        </p:txBody>
      </p:sp>
      <p:sp>
        <p:nvSpPr>
          <p:cNvPr id="4" name="43">
            <a:extLst xmlns:a="http://schemas.openxmlformats.org/drawingml/2006/main">
              <a:ext uri="{FF2B5EF4-FFF2-40B4-BE49-F238E27FC236}">
                <a16:creationId xmlns:a16="http://schemas.microsoft.com/office/drawing/2014/main" id="{6163E676-1315-471C-8922-188F0EFF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022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43</a:t>
            </a:r>
          </a:p>
        </p:txBody>
      </p:sp>
      <p:sp>
        <p:nvSpPr>
          <p:cNvPr id="5" name="2017 · On Calibration of Modern Neural Networks">
            <a:extLst xmlns:a="http://schemas.openxmlformats.org/drawingml/2006/main">
              <a:ext uri="{FF2B5EF4-FFF2-40B4-BE49-F238E27FC236}">
                <a16:creationId xmlns:a16="http://schemas.microsoft.com/office/drawing/2014/main" id="{8659983D-FB5C-4F3C-A1C1-1A240224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790700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2226083948b4485d"/>
              </a:rPr>
              <a:t>2017 · On Calibration of Modern Neural Networks</a:t>
            </a:r>
          </a:p>
        </p:txBody>
      </p:sp>
      <p:sp>
        <p:nvSpPr>
          <p:cNvPr id="6" name="温度缩放与神经网络置信校准；保持固定 logits 时不改变 argmax。">
            <a:extLst xmlns:a="http://schemas.openxmlformats.org/drawingml/2006/main">
              <a:ext uri="{FF2B5EF4-FFF2-40B4-BE49-F238E27FC236}">
                <a16:creationId xmlns:a16="http://schemas.microsoft.com/office/drawing/2014/main" id="{7E795818-C9B4-414B-98A4-2EAA68E3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381250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温度缩放与神经网络置信校准；保持固定 logits 时不改变 argmax。</a:t>
            </a:r>
          </a:p>
        </p:txBody>
      </p:sp>
      <p:sp>
        <p:nvSpPr>
          <p:cNvPr id="7" name="44">
            <a:extLst xmlns:a="http://schemas.openxmlformats.org/drawingml/2006/main">
              <a:ext uri="{FF2B5EF4-FFF2-40B4-BE49-F238E27FC236}">
                <a16:creationId xmlns:a16="http://schemas.microsoft.com/office/drawing/2014/main" id="{D05914A9-E788-45D6-82D3-9C7AF5AE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44</a:t>
            </a:r>
          </a:p>
        </p:txBody>
      </p:sp>
      <p:sp>
        <p:nvSpPr>
          <p:cNvPr id="8" name="2007 · Strictly Proper Scoring Rules, Prediction, and Estimation">
            <a:extLst xmlns:a="http://schemas.openxmlformats.org/drawingml/2006/main">
              <a:ext uri="{FF2B5EF4-FFF2-40B4-BE49-F238E27FC236}">
                <a16:creationId xmlns:a16="http://schemas.microsoft.com/office/drawing/2014/main" id="{626BB045-09F5-4FB3-BA45-66FFDF34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867025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a5e62e765ba74355"/>
              </a:rPr>
              <a:t>2007 · Strictly Proper Scoring Rules, Prediction, and Estimation</a:t>
            </a:r>
          </a:p>
        </p:txBody>
      </p:sp>
      <p:sp>
        <p:nvSpPr>
          <p:cNvPr id="9" name="proper scoring rule 的概率预测基础；不据此推断 TypeSafe 私有 RLCD 损失。">
            <a:extLst xmlns:a="http://schemas.openxmlformats.org/drawingml/2006/main">
              <a:ext uri="{FF2B5EF4-FFF2-40B4-BE49-F238E27FC236}">
                <a16:creationId xmlns:a16="http://schemas.microsoft.com/office/drawing/2014/main" id="{85CFAC93-8C5D-49A4-A538-7692FFBA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457575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proper scoring rule 的概率预测基础；不据此推断 TypeSafe 私有 RLCD 损失。</a:t>
            </a:r>
          </a:p>
        </p:txBody>
      </p:sp>
      <p:sp>
        <p:nvSpPr>
          <p:cNvPr id="10" name="45">
            <a:extLst xmlns:a="http://schemas.openxmlformats.org/drawingml/2006/main">
              <a:ext uri="{FF2B5EF4-FFF2-40B4-BE49-F238E27FC236}">
                <a16:creationId xmlns:a16="http://schemas.microsoft.com/office/drawing/2014/main" id="{BFFF0403-C052-421E-AAC1-D33D5C46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5287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45</a:t>
            </a:r>
          </a:p>
        </p:txBody>
      </p:sp>
      <p:sp>
        <p:nvSpPr>
          <p:cNvPr id="11" name="分类 — Google 机器学习速成课程">
            <a:extLst xmlns:a="http://schemas.openxmlformats.org/drawingml/2006/main">
              <a:ext uri="{FF2B5EF4-FFF2-40B4-BE49-F238E27FC236}">
                <a16:creationId xmlns:a16="http://schemas.microsoft.com/office/drawing/2014/main" id="{B8979B74-77E9-408F-B1D3-12FB9F9F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943350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26842b9f68bb4e1c"/>
              </a:rPr>
              <a:t>分类 — Google 机器学习速成课程</a:t>
            </a:r>
          </a:p>
        </p:txBody>
      </p:sp>
      <p:sp>
        <p:nvSpPr>
          <p:cNvPr id="12" name="分类概率、阈值及评估指标的中文入门课程。">
            <a:extLst xmlns:a="http://schemas.openxmlformats.org/drawingml/2006/main">
              <a:ext uri="{FF2B5EF4-FFF2-40B4-BE49-F238E27FC236}">
                <a16:creationId xmlns:a16="http://schemas.microsoft.com/office/drawing/2014/main" id="{69C1E01F-E94B-4279-AF46-930AF0D4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533900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分类概率、阈值及评估指标的中文入门课程。</a:t>
            </a:r>
          </a:p>
        </p:txBody>
      </p:sp>
      <p:sp>
        <p:nvSpPr>
          <p:cNvPr id="13" name="46">
            <a:extLst xmlns:a="http://schemas.openxmlformats.org/drawingml/2006/main">
              <a:ext uri="{FF2B5EF4-FFF2-40B4-BE49-F238E27FC236}">
                <a16:creationId xmlns:a16="http://schemas.microsoft.com/office/drawing/2014/main" id="{3B8ADB67-AC12-44D0-9416-08DFFD6F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46</a:t>
            </a:r>
          </a:p>
        </p:txBody>
      </p:sp>
      <p:sp>
        <p:nvSpPr>
          <p:cNvPr id="14" name="阈值和混淆矩阵 — Google 机器学习速成课程">
            <a:extLst xmlns:a="http://schemas.openxmlformats.org/drawingml/2006/main">
              <a:ext uri="{FF2B5EF4-FFF2-40B4-BE49-F238E27FC236}">
                <a16:creationId xmlns:a16="http://schemas.microsoft.com/office/drawing/2014/main" id="{BA974676-6CFD-4784-9BD8-98AB83D4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019675"/>
            <a:ext cx="10467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dc0dd9b77dcf40ec"/>
              </a:rPr>
              <a:t>阈值和混淆矩阵 — Google 机器学习速成课程</a:t>
            </a:r>
          </a:p>
        </p:txBody>
      </p:sp>
      <p:sp>
        <p:nvSpPr>
          <p:cNvPr id="15" name="互动阈值教材：观察假正例、假负例和业务错误代价的变化。">
            <a:extLst xmlns:a="http://schemas.openxmlformats.org/drawingml/2006/main">
              <a:ext uri="{FF2B5EF4-FFF2-40B4-BE49-F238E27FC236}">
                <a16:creationId xmlns:a16="http://schemas.microsoft.com/office/drawing/2014/main" id="{E958F9C7-C3D2-49A6-AC5B-7EE5B526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610225"/>
            <a:ext cx="10467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互动阈值教材：观察假正例、假负例和业务错误代价的变化。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416922-DCFD-45DD-8EE3-2B061DE6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17" name="参考资料 · 蓝色标题可点击打开原文 · 外部结果与本次教学实验分开阅读">
            <a:extLst xmlns:a="http://schemas.openxmlformats.org/drawingml/2006/main">
              <a:ext uri="{FF2B5EF4-FFF2-40B4-BE49-F238E27FC236}">
                <a16:creationId xmlns:a16="http://schemas.microsoft.com/office/drawing/2014/main" id="{4DA3F501-C5DF-4B08-B335-6DF75D95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38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参考资料 · 蓝色标题可点击打开原文 · 外部结果与本次教学实验分开阅读</a:t>
            </a:r>
          </a:p>
        </p:txBody>
      </p:sp>
      <p:sp>
        <p:nvSpPr>
          <p:cNvPr id="18" name="43">
            <a:extLst xmlns:a="http://schemas.openxmlformats.org/drawingml/2006/main">
              <a:ext uri="{FF2B5EF4-FFF2-40B4-BE49-F238E27FC236}">
                <a16:creationId xmlns:a16="http://schemas.microsoft.com/office/drawing/2014/main" id="{49E8CEBE-FE9F-4D1C-A805-E0DC2E4B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339605527"/>
      </p:ext>
    </p:extLst>
  </p:cSld>
</p:sld>
</file>

<file path=ppt/slides/ref_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参考资料：路由、图解与应用示例">
            <a:extLst xmlns:a="http://schemas.openxmlformats.org/drawingml/2006/main">
              <a:ext uri="{FF2B5EF4-FFF2-40B4-BE49-F238E27FC236}">
                <a16:creationId xmlns:a16="http://schemas.microsoft.com/office/drawing/2014/main" id="{04BB8A69-2F9F-44F0-9DD9-A5AF9467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1010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参考资料：路由、图解与应用示例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81AD9-A9DA-42C9-A939-7F8FB37F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论文、教学图解和社区 demo；演示不替代业务数据上的评测">
            <a:extLst xmlns:a="http://schemas.openxmlformats.org/drawingml/2006/main">
              <a:ext uri="{FF2B5EF4-FFF2-40B4-BE49-F238E27FC236}">
                <a16:creationId xmlns:a16="http://schemas.microsoft.com/office/drawing/2014/main" id="{C1D4A7C9-92F9-4D1A-B957-AA1E1634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论文、教学图解和社区 demo；演示不替代业务数据上的评测</a:t>
            </a:r>
          </a:p>
        </p:txBody>
      </p:sp>
      <p:sp>
        <p:nvSpPr>
          <p:cNvPr id="4" name="47">
            <a:extLst xmlns:a="http://schemas.openxmlformats.org/drawingml/2006/main">
              <a:ext uri="{FF2B5EF4-FFF2-40B4-BE49-F238E27FC236}">
                <a16:creationId xmlns:a16="http://schemas.microsoft.com/office/drawing/2014/main" id="{9B1369C1-7B89-4C30-B7AC-C73216B9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0497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47</a:t>
            </a:r>
          </a:p>
        </p:txBody>
      </p:sp>
      <p:sp>
        <p:nvSpPr>
          <p:cNvPr id="5" name="2024 / 2025 · RouteLLM: Learning to Route LLMs with Preference Data">
            <a:extLst xmlns:a="http://schemas.openxmlformats.org/drawingml/2006/main">
              <a:ext uri="{FF2B5EF4-FFF2-40B4-BE49-F238E27FC236}">
                <a16:creationId xmlns:a16="http://schemas.microsoft.com/office/drawing/2014/main" id="{33871ED7-4A1C-43EB-8CBD-1B1201EB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695450"/>
            <a:ext cx="104679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79d1bceee96c43e3"/>
              </a:rPr>
              <a:t>2024 / 2025 · RouteLLM: Learning to Route LLMs with Preference Data</a:t>
            </a:r>
          </a:p>
        </p:txBody>
      </p:sp>
      <p:sp>
        <p:nvSpPr>
          <p:cNvPr id="6" name="利用偏好数据学习强弱模型路由；质量、成本与迁移能力应共同评估。">
            <a:extLst xmlns:a="http://schemas.openxmlformats.org/drawingml/2006/main">
              <a:ext uri="{FF2B5EF4-FFF2-40B4-BE49-F238E27FC236}">
                <a16:creationId xmlns:a16="http://schemas.microsoft.com/office/drawing/2014/main" id="{E24CAC08-39E0-4C6D-9ABE-DF5C4FC8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162175"/>
            <a:ext cx="10467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利用偏好数据学习强弱模型路由；质量、成本与迁移能力应共同评估。</a:t>
            </a:r>
          </a:p>
        </p:txBody>
      </p:sp>
      <p:sp>
        <p:nvSpPr>
          <p:cNvPr id="7" name="48">
            <a:extLst xmlns:a="http://schemas.openxmlformats.org/drawingml/2006/main">
              <a:ext uri="{FF2B5EF4-FFF2-40B4-BE49-F238E27FC236}">
                <a16:creationId xmlns:a16="http://schemas.microsoft.com/office/drawing/2014/main" id="{E7505A8C-7FAD-4846-9A55-746FEAD5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032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48</a:t>
            </a:r>
          </a:p>
        </p:txBody>
      </p:sp>
      <p:sp>
        <p:nvSpPr>
          <p:cNvPr id="8" name="2018 · The Illustrated Transformer">
            <a:extLst xmlns:a="http://schemas.openxmlformats.org/drawingml/2006/main">
              <a:ext uri="{FF2B5EF4-FFF2-40B4-BE49-F238E27FC236}">
                <a16:creationId xmlns:a16="http://schemas.microsoft.com/office/drawing/2014/main" id="{DA5138EA-28B3-4C5F-A375-432C2310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590800"/>
            <a:ext cx="104679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3db8bf9c6bac4b4d"/>
              </a:rPr>
              <a:t>2018 · The Illustrated Transformer</a:t>
            </a:r>
          </a:p>
        </p:txBody>
      </p:sp>
      <p:sp>
        <p:nvSpPr>
          <p:cNvPr id="9" name="Jay Alammar 的可视化 Transformer 教程，用于注意力和编码/解码结构背景。">
            <a:extLst xmlns:a="http://schemas.openxmlformats.org/drawingml/2006/main">
              <a:ext uri="{FF2B5EF4-FFF2-40B4-BE49-F238E27FC236}">
                <a16:creationId xmlns:a16="http://schemas.microsoft.com/office/drawing/2014/main" id="{2C195778-E77B-4E4D-8265-01CFC275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057525"/>
            <a:ext cx="10467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Jay Alammar 的可视化 Transformer 教程，用于注意力和编码/解码结构背景。</a:t>
            </a:r>
          </a:p>
        </p:txBody>
      </p:sp>
      <p:sp>
        <p:nvSpPr>
          <p:cNvPr id="10" name="49">
            <a:extLst xmlns:a="http://schemas.openxmlformats.org/drawingml/2006/main">
              <a:ext uri="{FF2B5EF4-FFF2-40B4-BE49-F238E27FC236}">
                <a16:creationId xmlns:a16="http://schemas.microsoft.com/office/drawing/2014/main" id="{620ADFCD-374A-4F30-8354-36BD68C0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9567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49</a:t>
            </a:r>
          </a:p>
        </p:txBody>
      </p:sp>
      <p:sp>
        <p:nvSpPr>
          <p:cNvPr id="11" name="Jev experiments — JevMade">
            <a:extLst xmlns:a="http://schemas.openxmlformats.org/drawingml/2006/main">
              <a:ext uri="{FF2B5EF4-FFF2-40B4-BE49-F238E27FC236}">
                <a16:creationId xmlns:a16="http://schemas.microsoft.com/office/drawing/2014/main" id="{C1CEFF2C-099E-4F5D-B919-706949A2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486150"/>
            <a:ext cx="104679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3a20149ea9064928"/>
              </a:rPr>
              <a:t>Jev experiments — JevMade</a:t>
            </a:r>
          </a:p>
        </p:txBody>
      </p:sp>
      <p:sp>
        <p:nvSpPr>
          <p:cNvPr id="12" name="社区案例目录，可用来找应用点子；列表介绍需回到具体项目核对。">
            <a:extLst xmlns:a="http://schemas.openxmlformats.org/drawingml/2006/main">
              <a:ext uri="{FF2B5EF4-FFF2-40B4-BE49-F238E27FC236}">
                <a16:creationId xmlns:a16="http://schemas.microsoft.com/office/drawing/2014/main" id="{8BE2C321-E226-4B2B-9F19-A5C19FA9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952875"/>
            <a:ext cx="10467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社区案例目录，可用来找应用点子；列表介绍需回到具体项目核对。</a:t>
            </a:r>
          </a:p>
        </p:txBody>
      </p:sp>
      <p:sp>
        <p:nvSpPr>
          <p:cNvPr id="13" name="50">
            <a:extLst xmlns:a="http://schemas.openxmlformats.org/drawingml/2006/main">
              <a:ext uri="{FF2B5EF4-FFF2-40B4-BE49-F238E27FC236}">
                <a16:creationId xmlns:a16="http://schemas.microsoft.com/office/drawing/2014/main" id="{D42D4FF4-4AF1-4A18-93D8-B5F2A300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9102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50</a:t>
            </a:r>
          </a:p>
        </p:txBody>
      </p:sp>
      <p:sp>
        <p:nvSpPr>
          <p:cNvPr id="14" name="browser-use/jev-ultrafast">
            <a:extLst xmlns:a="http://schemas.openxmlformats.org/drawingml/2006/main">
              <a:ext uri="{FF2B5EF4-FFF2-40B4-BE49-F238E27FC236}">
                <a16:creationId xmlns:a16="http://schemas.microsoft.com/office/drawing/2014/main" id="{0F8B3443-CA20-4101-8E8E-8298DC33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381500"/>
            <a:ext cx="104679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10523747e0c143d6"/>
              </a:rPr>
              <a:t>browser-use/jev-ultrafast</a:t>
            </a:r>
          </a:p>
        </p:txBody>
      </p:sp>
      <p:sp>
        <p:nvSpPr>
          <p:cNvPr id="15" name="浏览器动作选择演示；演示效果不代替统一任务集上的评测。">
            <a:extLst xmlns:a="http://schemas.openxmlformats.org/drawingml/2006/main">
              <a:ext uri="{FF2B5EF4-FFF2-40B4-BE49-F238E27FC236}">
                <a16:creationId xmlns:a16="http://schemas.microsoft.com/office/drawing/2014/main" id="{2521824D-2450-451A-9BEF-B2DFAB54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848225"/>
            <a:ext cx="10467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浏览器动作选择演示；演示效果不代替统一任务集上的评测。</a:t>
            </a:r>
          </a:p>
        </p:txBody>
      </p:sp>
      <p:sp>
        <p:nvSpPr>
          <p:cNvPr id="16" name="51">
            <a:extLst xmlns:a="http://schemas.openxmlformats.org/drawingml/2006/main">
              <a:ext uri="{FF2B5EF4-FFF2-40B4-BE49-F238E27FC236}">
                <a16:creationId xmlns:a16="http://schemas.microsoft.com/office/drawing/2014/main" id="{67785E3B-7816-410A-AD3B-940AE3EE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8637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51</a:t>
            </a:r>
          </a:p>
        </p:txBody>
      </p:sp>
      <p:sp>
        <p:nvSpPr>
          <p:cNvPr id="17" name="fhshaik/typesafe-mario">
            <a:extLst xmlns:a="http://schemas.openxmlformats.org/drawingml/2006/main">
              <a:ext uri="{FF2B5EF4-FFF2-40B4-BE49-F238E27FC236}">
                <a16:creationId xmlns:a16="http://schemas.microsoft.com/office/drawing/2014/main" id="{2967C4E4-8173-4BC6-BF06-86574B8B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276850"/>
            <a:ext cx="104679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75f439df68bb4434"/>
              </a:rPr>
              <a:t>fhshaik/typesafe-mario</a:t>
            </a:r>
          </a:p>
        </p:txBody>
      </p:sp>
      <p:sp>
        <p:nvSpPr>
          <p:cNvPr id="18" name="从模拟器结构化状态选择游戏控制的演示，不是原始图像输入能力证明。">
            <a:extLst xmlns:a="http://schemas.openxmlformats.org/drawingml/2006/main">
              <a:ext uri="{FF2B5EF4-FFF2-40B4-BE49-F238E27FC236}">
                <a16:creationId xmlns:a16="http://schemas.microsoft.com/office/drawing/2014/main" id="{E71F6A2C-8491-4D9F-876A-DFD5954F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743575"/>
            <a:ext cx="10467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从模拟器结构化状态选择游戏控制的演示，不是原始图像输入能力证明。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67635E-BF91-4770-A9A8-DEE5DE78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20" name="参考资料 · 蓝色标题可点击打开原文 · 外部结果与本次教学实验分开阅读">
            <a:extLst xmlns:a="http://schemas.openxmlformats.org/drawingml/2006/main">
              <a:ext uri="{FF2B5EF4-FFF2-40B4-BE49-F238E27FC236}">
                <a16:creationId xmlns:a16="http://schemas.microsoft.com/office/drawing/2014/main" id="{8AFA460A-B63E-4427-8A5F-589E72A0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38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参考资料 · 蓝色标题可点击打开原文 · 外部结果与本次教学实验分开阅读</a:t>
            </a:r>
          </a:p>
        </p:txBody>
      </p:sp>
      <p:sp>
        <p:nvSpPr>
          <p:cNvPr id="21" name="44">
            <a:extLst xmlns:a="http://schemas.openxmlformats.org/drawingml/2006/main">
              <a:ext uri="{FF2B5EF4-FFF2-40B4-BE49-F238E27FC236}">
                <a16:creationId xmlns:a16="http://schemas.microsoft.com/office/drawing/2014/main" id="{770E8F90-9424-427F-BA09-83841350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399980370"/>
      </p:ext>
    </p:extLst>
  </p:cSld>
</p:sld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631829-836B-4194-B300-0DCCB0FC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991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D9B9B-9C2B-4FB9-A295-223DE86A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3C156-C03A-4E70-AC92-B125F137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4" name="Jev 与开源决策模型    同事分享    2026年10月">
            <a:extLst xmlns:a="http://schemas.openxmlformats.org/drawingml/2006/main">
              <a:ext uri="{FF2B5EF4-FFF2-40B4-BE49-F238E27FC236}">
                <a16:creationId xmlns:a16="http://schemas.microsoft.com/office/drawing/2014/main" id="{373A2479-E912-4FC6-B1D2-59293AAF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Jev 与开源决策模型    同事分享    2026年10月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740AB359-537D-4D0C-89F9-1439BB09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6" name="这句话，应该交给谁？">
            <a:extLst xmlns:a="http://schemas.openxmlformats.org/drawingml/2006/main">
              <a:ext uri="{FF2B5EF4-FFF2-40B4-BE49-F238E27FC236}">
                <a16:creationId xmlns:a16="http://schemas.microsoft.com/office/drawing/2014/main" id="{362083A2-F99E-414C-9423-A7147377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11010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05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这句话，应该交给谁？</a:t>
            </a:r>
          </a:p>
        </p:txBody>
      </p:sp>
      <p:sp>
        <p:nvSpPr>
          <p:cNvPr id="7" name="“把欢迎词翻译成日语，">
            <a:extLst xmlns:a="http://schemas.openxmlformats.org/drawingml/2006/main">
              <a:ext uri="{FF2B5EF4-FFF2-40B4-BE49-F238E27FC236}">
                <a16:creationId xmlns:a16="http://schemas.microsoft.com/office/drawing/2014/main" id="{8F0B1783-1675-46FF-8436-657C278E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0"/>
            <a:ext cx="10477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0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rPr>
              <a:t>“把欢迎词翻译成日语，</a:t>
            </a:r>
          </a:p>
          <a:p xmlns:a="http://schemas.openxmlformats.org/drawingml/2006/main">
            <a:pPr>
              <a:defRPr sz="3000" b="0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0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rPr>
              <a:t>然后让数字人播报。”</a:t>
            </a:r>
          </a:p>
        </p:txBody>
      </p:sp>
      <p:sp>
        <p:nvSpPr>
          <p:cNvPr id="8" name="用一个业务请求，讲清决策接口、训练和校准">
            <a:extLst xmlns:a="http://schemas.openxmlformats.org/drawingml/2006/main">
              <a:ext uri="{FF2B5EF4-FFF2-40B4-BE49-F238E27FC236}">
                <a16:creationId xmlns:a16="http://schemas.microsoft.com/office/drawing/2014/main" id="{392C68B5-D98D-43BA-9939-BE919D40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11010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用一个业务请求，讲清决策接口、训练和校准</a:t>
            </a:r>
          </a:p>
        </p:txBody>
      </p:sp>
      <p:sp>
        <p:nvSpPr>
          <p:cNvPr id="9" name="20页主讲，约25分钟；后附实现细节和阅读材料">
            <a:extLst xmlns:a="http://schemas.openxmlformats.org/drawingml/2006/main">
              <a:ext uri="{FF2B5EF4-FFF2-40B4-BE49-F238E27FC236}">
                <a16:creationId xmlns:a16="http://schemas.microsoft.com/office/drawing/2014/main" id="{44335D93-F52F-4689-B1A4-C03A4B92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11010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20页主讲，约25分钟；后附实现细节和阅读材料</a:t>
            </a:r>
          </a:p>
        </p:txBody>
      </p:sp>
    </p:spTree>
    <p:extLst>
      <p:ext uri="{BB962C8B-B14F-4D97-AF65-F5344CB8AC3E}">
        <p14:creationId xmlns:p14="http://schemas.microsoft.com/office/powerpoint/2010/main" val="10294343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用户要的是一整件事">
            <a:extLst xmlns:a="http://schemas.openxmlformats.org/drawingml/2006/main">
              <a:ext uri="{FF2B5EF4-FFF2-40B4-BE49-F238E27FC236}">
                <a16:creationId xmlns:a16="http://schemas.microsoft.com/office/drawing/2014/main" id="{D56791FB-C7DD-46D6-9C63-A27E6DA1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991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用户要的是一整件事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E536D-921B-44B3-B9B8-7C261D8C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0C815-1AC8-44E6-B523-709928FF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4" name="教学示例；标签按本次实验政策解释">
            <a:extLst xmlns:a="http://schemas.openxmlformats.org/drawingml/2006/main">
              <a:ext uri="{FF2B5EF4-FFF2-40B4-BE49-F238E27FC236}">
                <a16:creationId xmlns:a16="http://schemas.microsoft.com/office/drawing/2014/main" id="{4C55FC17-7A52-4693-BDE4-EDF5B42C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教学示例；标签按本次实验政策解释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F6668368-016A-4C5E-9693-B0692519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6" name="把欢迎词翻译成日语，然后让数字人播报">
            <a:extLst xmlns:a="http://schemas.openxmlformats.org/drawingml/2006/main">
              <a:ext uri="{FF2B5EF4-FFF2-40B4-BE49-F238E27FC236}">
                <a16:creationId xmlns:a16="http://schemas.microsoft.com/office/drawing/2014/main" id="{D1A1A7C4-A4AB-4A6F-B0D6-4352982A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52575"/>
            <a:ext cx="11010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1430">
            <a:solidFill>
              <a:srgbClr val="EDF3F8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把欢迎词翻译成日语，然后让数字人播报</a:t>
            </a:r>
          </a:p>
        </p:txBody>
      </p:sp>
      <p:sp>
        <p:nvSpPr>
          <p:cNvPr id="7" name="只看前半句">
            <a:extLst xmlns:a="http://schemas.openxmlformats.org/drawingml/2006/main">
              <a:ext uri="{FF2B5EF4-FFF2-40B4-BE49-F238E27FC236}">
                <a16:creationId xmlns:a16="http://schemas.microsoft.com/office/drawing/2014/main" id="{52CF89C9-9879-4006-9BA1-CE187745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只看前半句</a:t>
            </a:r>
          </a:p>
        </p:txBody>
      </p:sp>
      <p:sp>
        <p:nvSpPr>
          <p:cNvPr id="8" name="只看后半句">
            <a:extLst xmlns:a="http://schemas.openxmlformats.org/drawingml/2006/main">
              <a:ext uri="{FF2B5EF4-FFF2-40B4-BE49-F238E27FC236}">
                <a16:creationId xmlns:a16="http://schemas.microsoft.com/office/drawing/2014/main" id="{7C0B2CEC-BD01-4A33-84C4-D6B52313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只看后半句</a:t>
            </a:r>
          </a:p>
        </p:txBody>
      </p:sp>
      <p:sp>
        <p:nvSpPr>
          <p:cNvPr id="9" name="读完整句话">
            <a:extLst xmlns:a="http://schemas.openxmlformats.org/drawingml/2006/main">
              <a:ext uri="{FF2B5EF4-FFF2-40B4-BE49-F238E27FC236}">
                <a16:creationId xmlns:a16="http://schemas.microsoft.com/office/drawing/2014/main" id="{26608039-B8F0-4294-A7BB-9CB544E1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rPr>
              <a:t>读完整句话</a:t>
            </a:r>
          </a:p>
        </p:txBody>
      </p:sp>
      <p:sp>
        <p:nvSpPr>
          <p:cNvPr id="10" name="翻译入口">
            <a:extLst xmlns:a="http://schemas.openxmlformats.org/drawingml/2006/main">
              <a:ext uri="{FF2B5EF4-FFF2-40B4-BE49-F238E27FC236}">
                <a16:creationId xmlns:a16="http://schemas.microsoft.com/office/drawing/2014/main" id="{B5029C83-C631-4C4B-B63C-C775E521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ED4DA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翻译入口</a:t>
            </a:r>
          </a:p>
        </p:txBody>
      </p:sp>
      <p:sp>
        <p:nvSpPr>
          <p:cNvPr id="11" name="数字人入口">
            <a:extLst xmlns:a="http://schemas.openxmlformats.org/drawingml/2006/main">
              <a:ext uri="{FF2B5EF4-FFF2-40B4-BE49-F238E27FC236}">
                <a16:creationId xmlns:a16="http://schemas.microsoft.com/office/drawing/2014/main" id="{942F6D3B-5DCE-4BB0-8F30-BED150A9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5280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ED4DA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数字人入口</a:t>
            </a:r>
          </a:p>
        </p:txBody>
      </p:sp>
      <p:sp>
        <p:nvSpPr>
          <p:cNvPr id="12" name="工作流入口">
            <a:extLst xmlns:a="http://schemas.openxmlformats.org/drawingml/2006/main">
              <a:ext uri="{FF2B5EF4-FFF2-40B4-BE49-F238E27FC236}">
                <a16:creationId xmlns:a16="http://schemas.microsoft.com/office/drawing/2014/main" id="{D1CAC7C7-4369-4561-B8BC-8C995711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52800"/>
            <a:ext cx="323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工作流入口</a:t>
            </a:r>
          </a:p>
        </p:txBody>
      </p:sp>
      <p:sp>
        <p:nvSpPr>
          <p:cNvPr id="13" name="可能只交出译文">
            <a:extLst xmlns:a="http://schemas.openxmlformats.org/drawingml/2006/main">
              <a:ext uri="{FF2B5EF4-FFF2-40B4-BE49-F238E27FC236}">
                <a16:creationId xmlns:a16="http://schemas.microsoft.com/office/drawing/2014/main" id="{613428AD-230C-4A00-AFD8-8BFB9A94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481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可能只交出译文</a:t>
            </a:r>
          </a:p>
        </p:txBody>
      </p:sp>
      <p:sp>
        <p:nvSpPr>
          <p:cNvPr id="14" name="可能直接等待播报稿">
            <a:extLst xmlns:a="http://schemas.openxmlformats.org/drawingml/2006/main">
              <a:ext uri="{FF2B5EF4-FFF2-40B4-BE49-F238E27FC236}">
                <a16:creationId xmlns:a16="http://schemas.microsoft.com/office/drawing/2014/main" id="{E7F6530C-4BE4-4963-B7CF-ED65D4A5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481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可能直接等待播报稿</a:t>
            </a:r>
          </a:p>
        </p:txBody>
      </p:sp>
      <p:sp>
        <p:nvSpPr>
          <p:cNvPr id="15" name="先翻译，再安排播报">
            <a:extLst xmlns:a="http://schemas.openxmlformats.org/drawingml/2006/main">
              <a:ext uri="{FF2B5EF4-FFF2-40B4-BE49-F238E27FC236}">
                <a16:creationId xmlns:a16="http://schemas.microsoft.com/office/drawing/2014/main" id="{8098A648-1741-4E86-91C7-60BBCC23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4817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rPr>
              <a:t>先翻译，再安排播报</a:t>
            </a:r>
          </a:p>
        </p:txBody>
      </p:sp>
      <p:sp>
        <p:nvSpPr>
          <p:cNvPr id="16" name="“然后”告诉我们：前一步的结果，要交给后一步">
            <a:extLst xmlns:a="http://schemas.openxmlformats.org/drawingml/2006/main">
              <a:ext uri="{FF2B5EF4-FFF2-40B4-BE49-F238E27FC236}">
                <a16:creationId xmlns:a16="http://schemas.microsoft.com/office/drawing/2014/main" id="{EE0DD5F3-538D-4607-AC4D-6F32A255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11010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“然后”告诉我们：前一步的结果，要交给后一步</a:t>
            </a:r>
          </a:p>
        </p:txBody>
      </p:sp>
    </p:spTree>
    <p:extLst>
      <p:ext uri="{BB962C8B-B14F-4D97-AF65-F5344CB8AC3E}">
        <p14:creationId xmlns:p14="http://schemas.microsoft.com/office/powerpoint/2010/main" val="278005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选好入口，后面的任务才开始">
            <a:extLst xmlns:a="http://schemas.openxmlformats.org/drawingml/2006/main">
              <a:ext uri="{FF2B5EF4-FFF2-40B4-BE49-F238E27FC236}">
                <a16:creationId xmlns:a16="http://schemas.microsoft.com/office/drawing/2014/main" id="{3A0C9E74-E2DD-4956-AE31-6A9B8B01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991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选好入口，后面的任务才开始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9E990-87D5-47B0-A5E9-8272C19D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546A9-7B0B-418F-8282-497F8BC3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4" name="可配合短片①「先翻译，再播报」讲解">
            <a:extLst xmlns:a="http://schemas.openxmlformats.org/drawingml/2006/main">
              <a:ext uri="{FF2B5EF4-FFF2-40B4-BE49-F238E27FC236}">
                <a16:creationId xmlns:a16="http://schemas.microsoft.com/office/drawing/2014/main" id="{A11CAFA4-3B07-4327-BBBB-599AAA15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可配合短片①「先翻译，再播报」讲解</a:t>
            </a:r>
          </a:p>
        </p:txBody>
      </p:sp>
      <p:sp>
        <p:nvSpPr>
          <p:cNvPr id="5" name="03">
            <a:extLst xmlns:a="http://schemas.openxmlformats.org/drawingml/2006/main">
              <a:ext uri="{FF2B5EF4-FFF2-40B4-BE49-F238E27FC236}">
                <a16:creationId xmlns:a16="http://schemas.microsoft.com/office/drawing/2014/main" id="{B2B54C61-4BC2-4B6F-B1CA-2E8F75AA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6" name="决策模型回答">
            <a:extLst xmlns:a="http://schemas.openxmlformats.org/drawingml/2006/main">
              <a:ext uri="{FF2B5EF4-FFF2-40B4-BE49-F238E27FC236}">
                <a16:creationId xmlns:a16="http://schemas.microsoft.com/office/drawing/2014/main" id="{C245DF08-CCC8-4023-891F-7EE7D565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决策模型回答</a:t>
            </a:r>
          </a:p>
        </p:txBody>
      </p:sp>
      <p:sp>
        <p:nvSpPr>
          <p:cNvPr id="7" name="业务代码接着安排">
            <a:extLst xmlns:a="http://schemas.openxmlformats.org/drawingml/2006/main">
              <a:ext uri="{FF2B5EF4-FFF2-40B4-BE49-F238E27FC236}">
                <a16:creationId xmlns:a16="http://schemas.microsoft.com/office/drawing/2014/main" id="{3D911109-C1B8-4DC6-85AA-8EB1D2C4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5811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业务代码接着安排</a:t>
            </a:r>
          </a:p>
        </p:txBody>
      </p:sp>
      <p:sp>
        <p:nvSpPr>
          <p:cNvPr id="8" name="这次走工作流&#10;agent_workflow">
            <a:extLst xmlns:a="http://schemas.openxmlformats.org/drawingml/2006/main">
              <a:ext uri="{FF2B5EF4-FFF2-40B4-BE49-F238E27FC236}">
                <a16:creationId xmlns:a16="http://schemas.microsoft.com/office/drawing/2014/main" id="{096FD0D2-8C1E-4C49-B134-FF4ED1CB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32861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这次走工作流</a:t>
            </a:r>
          </a:p>
          <a:p xmlns:a="http://schemas.openxmlformats.org/drawingml/2006/main">
            <a:pPr algn="ctr">
              <a:defRPr sz="2175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agent_workflow</a:t>
            </a:r>
          </a:p>
        </p:txBody>
      </p:sp>
      <p:sp>
        <p:nvSpPr>
          <p:cNvPr id="9" name="翻译欢迎词">
            <a:extLst xmlns:a="http://schemas.openxmlformats.org/drawingml/2006/main">
              <a:ext uri="{FF2B5EF4-FFF2-40B4-BE49-F238E27FC236}">
                <a16:creationId xmlns:a16="http://schemas.microsoft.com/office/drawing/2014/main" id="{FFF0057C-9D9E-4A96-A584-6F5E96CC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276475"/>
            <a:ext cx="2571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ED4DA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翻译欢迎词</a:t>
            </a:r>
          </a:p>
        </p:txBody>
      </p:sp>
      <p:sp>
        <p:nvSpPr>
          <p:cNvPr id="10" name="数字人播报">
            <a:extLst xmlns:a="http://schemas.openxmlformats.org/drawingml/2006/main">
              <a:ext uri="{FF2B5EF4-FFF2-40B4-BE49-F238E27FC236}">
                <a16:creationId xmlns:a16="http://schemas.microsoft.com/office/drawing/2014/main" id="{ADFA47D3-2882-4EBD-B702-FD84F352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276475"/>
            <a:ext cx="2571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ED4DA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数字人播报</a:t>
            </a:r>
          </a:p>
        </p:txBody>
      </p: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876675" y="2824163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8616B"/>
            </a:solidFill>
            <a:tailEnd type="arrow" w="sm" len="sm"/>
          </a:ln>
        </p:spPr>
      </p:cxnSp>
      <p:cxnSp>
        <p:nvCxnSpPr>
          <p:cNvPr id="2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877175" y="282416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8616B"/>
            </a:solidFill>
            <a:tailEnd type="arrow" w="sm" len="sm"/>
          </a:ln>
        </p:spPr>
      </p:cxnSp>
      <p:sp>
        <p:nvSpPr>
          <p:cNvPr id="13" name="返回一个选项">
            <a:extLst xmlns:a="http://schemas.openxmlformats.org/drawingml/2006/main">
              <a:ext uri="{FF2B5EF4-FFF2-40B4-BE49-F238E27FC236}">
                <a16:creationId xmlns:a16="http://schemas.microsoft.com/office/drawing/2014/main" id="{8010DA7A-411B-418A-84C3-C4B95DAC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81425"/>
            <a:ext cx="328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rPr>
              <a:t>返回一个选项</a:t>
            </a:r>
          </a:p>
        </p:txBody>
      </p:sp>
      <p:sp>
        <p:nvSpPr>
          <p:cNvPr id="14" name="拿到日语译文">
            <a:extLst xmlns:a="http://schemas.openxmlformats.org/drawingml/2006/main">
              <a:ext uri="{FF2B5EF4-FFF2-40B4-BE49-F238E27FC236}">
                <a16:creationId xmlns:a16="http://schemas.microsoft.com/office/drawing/2014/main" id="{34836D0C-2FF0-4EBE-978C-0DABE9D6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7814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拿到日语译文</a:t>
            </a:r>
          </a:p>
        </p:txBody>
      </p:sp>
      <p:sp>
        <p:nvSpPr>
          <p:cNvPr id="15" name="把译文交给角色">
            <a:extLst xmlns:a="http://schemas.openxmlformats.org/drawingml/2006/main">
              <a:ext uri="{FF2B5EF4-FFF2-40B4-BE49-F238E27FC236}">
                <a16:creationId xmlns:a16="http://schemas.microsoft.com/office/drawing/2014/main" id="{316BE8DD-7FB5-47C1-AD32-3AF2A30C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7814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把译文交给角色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05B05F-4AE6-40F3-AEDC-666EDE04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577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17" name="权限、参数和执行结果，仍由原有流程检查">
            <a:extLst xmlns:a="http://schemas.openxmlformats.org/drawingml/2006/main">
              <a:ext uri="{FF2B5EF4-FFF2-40B4-BE49-F238E27FC236}">
                <a16:creationId xmlns:a16="http://schemas.microsoft.com/office/drawing/2014/main" id="{A1220FD7-1E20-44D1-A788-23D99F3F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权限、参数和执行结果，仍由原有流程检查</a:t>
            </a:r>
          </a:p>
        </p:txBody>
      </p:sp>
    </p:spTree>
    <p:extLst>
      <p:ext uri="{BB962C8B-B14F-4D97-AF65-F5344CB8AC3E}">
        <p14:creationId xmlns:p14="http://schemas.microsoft.com/office/powerpoint/2010/main" val="3618348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hoice 会返回选择和分数">
            <a:extLst xmlns:a="http://schemas.openxmlformats.org/drawingml/2006/main">
              <a:ext uri="{FF2B5EF4-FFF2-40B4-BE49-F238E27FC236}">
                <a16:creationId xmlns:a16="http://schemas.microsoft.com/office/drawing/2014/main" id="{5FE30EB7-D45A-4C1F-9503-1262C261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991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Choice 会返回选择和分数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5F7FA-4F97-4664-996D-B81F28E8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0A153-B7D4-4256-A401-F3103ED2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4" name="3个候选的教学示意；这里的数值不是实测结果">
            <a:extLst xmlns:a="http://schemas.openxmlformats.org/drawingml/2006/main">
              <a:ext uri="{FF2B5EF4-FFF2-40B4-BE49-F238E27FC236}">
                <a16:creationId xmlns:a16="http://schemas.microsoft.com/office/drawing/2014/main" id="{30AB4A00-0005-4185-83C8-0F8728AD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3个候选的教学示意；这里的数值不是实测结果</a:t>
            </a:r>
          </a:p>
        </p:txBody>
      </p:sp>
      <p:sp>
        <p:nvSpPr>
          <p:cNvPr id="5" name="04">
            <a:extLst xmlns:a="http://schemas.openxmlformats.org/drawingml/2006/main">
              <a:ext uri="{FF2B5EF4-FFF2-40B4-BE49-F238E27FC236}">
                <a16:creationId xmlns:a16="http://schemas.microsoft.com/office/drawing/2014/main" id="{F8F5F013-E8AA-4AB9-AF5C-F504E924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90550" y="1676400"/>
          <a:ext xmlns:a="http://schemas.openxmlformats.org/drawingml/2006/main" cx="6619875" cy="3590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7d063414354ffc"/>
          </a:graphicData>
        </a:graphic>
      </p:graphicFrame>
      <p:sp>
        <p:nvSpPr>
          <p:cNvPr id="7" name="choice：工作流">
            <a:extLst xmlns:a="http://schemas.openxmlformats.org/drawingml/2006/main">
              <a:ext uri="{FF2B5EF4-FFF2-40B4-BE49-F238E27FC236}">
                <a16:creationId xmlns:a16="http://schemas.microsoft.com/office/drawing/2014/main" id="{D5819AAF-6BAE-487E-B76D-84F8C711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800225"/>
            <a:ext cx="3800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rPr>
              <a:t>choice：工作流</a:t>
            </a:r>
          </a:p>
        </p:txBody>
      </p:sp>
      <p:sp>
        <p:nvSpPr>
          <p:cNvPr id="8" name="probabilities：">
            <a:extLst xmlns:a="http://schemas.openxmlformats.org/drawingml/2006/main">
              <a:ext uri="{FF2B5EF4-FFF2-40B4-BE49-F238E27FC236}">
                <a16:creationId xmlns:a16="http://schemas.microsoft.com/office/drawing/2014/main" id="{4CB4B1EC-84A1-4977-8252-AAC3EA18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628900"/>
            <a:ext cx="38004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probabilities：</a:t>
            </a:r>
          </a:p>
          <a:p xmlns:a="http://schemas.openxmlformats.org/drawingml/2006/main">
            <a:pPr>
              <a:defRPr sz="1950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三个选项各有多少概率</a:t>
            </a:r>
          </a:p>
        </p:txBody>
      </p:sp>
      <p:sp>
        <p:nvSpPr>
          <p:cNvPr id="9" name="confidence：0.40">
            <a:extLst xmlns:a="http://schemas.openxmlformats.org/drawingml/2006/main">
              <a:ext uri="{FF2B5EF4-FFF2-40B4-BE49-F238E27FC236}">
                <a16:creationId xmlns:a16="http://schemas.microsoft.com/office/drawing/2014/main" id="{FFAE1536-9662-4741-A90E-C44AFA5E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895725"/>
            <a:ext cx="3800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confidence：0.40</a:t>
            </a:r>
          </a:p>
        </p:txBody>
      </p:sp>
      <p:sp>
        <p:nvSpPr>
          <p:cNvPr id="10" name="按候选数调整后的最高分">
            <a:extLst xmlns:a="http://schemas.openxmlformats.org/drawingml/2006/main">
              <a:ext uri="{FF2B5EF4-FFF2-40B4-BE49-F238E27FC236}">
                <a16:creationId xmlns:a16="http://schemas.microsoft.com/office/drawing/2014/main" id="{95BE90DE-69AC-4D41-B3BA-840A8B7F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457700"/>
            <a:ext cx="38004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按候选数调整后的最高分</a:t>
            </a:r>
          </a:p>
        </p:txBody>
      </p:sp>
      <p:sp>
        <p:nvSpPr>
          <p:cNvPr id="11" name="API 的 confidence，不能直接读作“答对的概率”">
            <a:extLst xmlns:a="http://schemas.openxmlformats.org/drawingml/2006/main">
              <a:ext uri="{FF2B5EF4-FFF2-40B4-BE49-F238E27FC236}">
                <a16:creationId xmlns:a16="http://schemas.microsoft.com/office/drawing/2014/main" id="{0700263B-799D-4AAA-92D6-AE044451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67375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API 的 confidence，不能直接读作“答对的概率”</a:t>
            </a:r>
          </a:p>
        </p:txBody>
      </p:sp>
    </p:spTree>
    <p:extLst>
      <p:ext uri="{BB962C8B-B14F-4D97-AF65-F5344CB8AC3E}">
        <p14:creationId xmlns:p14="http://schemas.microsoft.com/office/powerpoint/2010/main" val="13172246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一份译文，可以问不同的问题">
            <a:extLst xmlns:a="http://schemas.openxmlformats.org/drawingml/2006/main">
              <a:ext uri="{FF2B5EF4-FFF2-40B4-BE49-F238E27FC236}">
                <a16:creationId xmlns:a16="http://schemas.microsoft.com/office/drawing/2014/main" id="{9D767BBA-AE15-4AC0-A40E-A4C764F1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991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一份译文，可以问不同的问题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0035A-E2B0-423E-B0A0-2493A66B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3C882-D651-4DD6-8F88-BBDC3A72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4" name="Choice / Noul / Score 是不同的提问方式；示例尚未运行">
            <a:extLst xmlns:a="http://schemas.openxmlformats.org/drawingml/2006/main">
              <a:ext uri="{FF2B5EF4-FFF2-40B4-BE49-F238E27FC236}">
                <a16:creationId xmlns:a16="http://schemas.microsoft.com/office/drawing/2014/main" id="{88A69EEF-172A-4FB5-A47E-391D6C92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Choice / Noul / Score 是不同的提问方式；示例尚未运行</a:t>
            </a:r>
          </a:p>
        </p:txBody>
      </p:sp>
      <p:sp>
        <p:nvSpPr>
          <p:cNvPr id="5" name="05">
            <a:extLst xmlns:a="http://schemas.openxmlformats.org/drawingml/2006/main">
              <a:ext uri="{FF2B5EF4-FFF2-40B4-BE49-F238E27FC236}">
                <a16:creationId xmlns:a16="http://schemas.microsoft.com/office/drawing/2014/main" id="{82E00BA1-4DE1-49D1-8C02-E119432C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6" name="原文：活动结束后，会员可领取退款。&#10;译文：Members can receive a refund.">
            <a:extLst xmlns:a="http://schemas.openxmlformats.org/drawingml/2006/main">
              <a:ext uri="{FF2B5EF4-FFF2-40B4-BE49-F238E27FC236}">
                <a16:creationId xmlns:a16="http://schemas.microsoft.com/office/drawing/2014/main" id="{4A7FDB92-2871-4762-AA92-078F1BB2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11010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1430">
            <a:solidFill>
              <a:srgbClr val="EDF3F8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原文：活动结束后，会员可领取退款。</a:t>
            </a:r>
          </a:p>
          <a:p xmlns:a="http://schemas.openxmlformats.org/drawingml/2006/main">
            <a:pPr algn="ctr">
              <a:defRPr sz="217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译文：Members can receive a refund.</a:t>
            </a:r>
          </a:p>
        </p:txBody>
      </p:sp>
      <p:sp>
        <p:nvSpPr>
          <p:cNvPr id="7" name="交给哪个处理入口？">
            <a:extLst xmlns:a="http://schemas.openxmlformats.org/drawingml/2006/main">
              <a:ext uri="{FF2B5EF4-FFF2-40B4-BE49-F238E27FC236}">
                <a16:creationId xmlns:a16="http://schemas.microsoft.com/office/drawing/2014/main" id="{72020EA3-66BF-407E-A8A7-F722F285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6343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交给哪个处理入口？</a:t>
            </a:r>
          </a:p>
        </p:txBody>
      </p:sp>
      <p:sp>
        <p:nvSpPr>
          <p:cNvPr id="8" name="Choice  选一个">
            <a:extLst xmlns:a="http://schemas.openxmlformats.org/drawingml/2006/main">
              <a:ext uri="{FF2B5EF4-FFF2-40B4-BE49-F238E27FC236}">
                <a16:creationId xmlns:a16="http://schemas.microsoft.com/office/drawing/2014/main" id="{A1BC05A2-B9E1-4A72-A617-2BE969BA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14675"/>
            <a:ext cx="4076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Choice  选一个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C9111-0395-4C72-AA6B-A8BE56EB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95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10" name="有没有漏掉“活动结束后”？">
            <a:extLst xmlns:a="http://schemas.openxmlformats.org/drawingml/2006/main">
              <a:ext uri="{FF2B5EF4-FFF2-40B4-BE49-F238E27FC236}">
                <a16:creationId xmlns:a16="http://schemas.microsoft.com/office/drawing/2014/main" id="{020F14C7-65E4-4286-9460-5DFAE299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6343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有没有漏掉“活动结束后”？</a:t>
            </a:r>
          </a:p>
        </p:txBody>
      </p:sp>
      <p:sp>
        <p:nvSpPr>
          <p:cNvPr id="11" name="Noul  判断一个命题">
            <a:extLst xmlns:a="http://schemas.openxmlformats.org/drawingml/2006/main">
              <a:ext uri="{FF2B5EF4-FFF2-40B4-BE49-F238E27FC236}">
                <a16:creationId xmlns:a16="http://schemas.microsoft.com/office/drawing/2014/main" id="{2B4EAF23-4821-43F5-B419-9B5CE604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4076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rPr>
              <a:t>Noul  判断一个命题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054384-8699-40AA-8E74-2F2B8E6E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006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13" name="这句译文读起来自然吗？">
            <a:extLst xmlns:a="http://schemas.openxmlformats.org/drawingml/2006/main">
              <a:ext uri="{FF2B5EF4-FFF2-40B4-BE49-F238E27FC236}">
                <a16:creationId xmlns:a16="http://schemas.microsoft.com/office/drawing/2014/main" id="{E8CC60EE-19FD-4A60-9D85-508D53E8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76825"/>
            <a:ext cx="6343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这句译文读起来自然吗？</a:t>
            </a:r>
          </a:p>
        </p:txBody>
      </p:sp>
      <p:sp>
        <p:nvSpPr>
          <p:cNvPr id="14" name="Score  按有序等级打分">
            <a:extLst xmlns:a="http://schemas.openxmlformats.org/drawingml/2006/main">
              <a:ext uri="{FF2B5EF4-FFF2-40B4-BE49-F238E27FC236}">
                <a16:creationId xmlns:a16="http://schemas.microsoft.com/office/drawing/2014/main" id="{597089B1-F89D-4F91-B94D-2015F875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76825"/>
            <a:ext cx="4076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Score  按有序等级打分</a:t>
            </a:r>
          </a:p>
        </p:txBody>
      </p:sp>
    </p:spTree>
    <p:extLst>
      <p:ext uri="{BB962C8B-B14F-4D97-AF65-F5344CB8AC3E}">
        <p14:creationId xmlns:p14="http://schemas.microsoft.com/office/powerpoint/2010/main" val="12564511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候选里没有正确入口，高分也帮不上忙">
            <a:extLst xmlns:a="http://schemas.openxmlformats.org/drawingml/2006/main">
              <a:ext uri="{FF2B5EF4-FFF2-40B4-BE49-F238E27FC236}">
                <a16:creationId xmlns:a16="http://schemas.microsoft.com/office/drawing/2014/main" id="{5EA426BA-2F1E-4960-B7C9-661BA10D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991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候选里没有正确入口，高分也帮不上忙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48A9F9-32EC-47DA-84F7-A48839A6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B586F-BAC4-42A6-A151-E51E8918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4" name="教学示例；模型只能在给定选项中作答">
            <a:extLst xmlns:a="http://schemas.openxmlformats.org/drawingml/2006/main">
              <a:ext uri="{FF2B5EF4-FFF2-40B4-BE49-F238E27FC236}">
                <a16:creationId xmlns:a16="http://schemas.microsoft.com/office/drawing/2014/main" id="{2CB0C82E-64B1-4210-90DD-1124768D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教学示例；模型只能在给定选项中作答</a:t>
            </a:r>
          </a:p>
        </p:txBody>
      </p:sp>
      <p:sp>
        <p:nvSpPr>
          <p:cNvPr id="5" name="06">
            <a:extLst xmlns:a="http://schemas.openxmlformats.org/drawingml/2006/main">
              <a:ext uri="{FF2B5EF4-FFF2-40B4-BE49-F238E27FC236}">
                <a16:creationId xmlns:a16="http://schemas.microsoft.com/office/drawing/2014/main" id="{161AA366-EE13-4F59-9AD9-B84B6B99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sp>
        <p:nvSpPr>
          <p:cNvPr id="6" name="“推荐三部电影”">
            <a:extLst xmlns:a="http://schemas.openxmlformats.org/drawingml/2006/main">
              <a:ext uri="{FF2B5EF4-FFF2-40B4-BE49-F238E27FC236}">
                <a16:creationId xmlns:a16="http://schemas.microsoft.com/office/drawing/2014/main" id="{CC33A140-7805-4A9C-9155-02329B5D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90675"/>
            <a:ext cx="110109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1430">
            <a:solidFill>
              <a:srgbClr val="EDF3F8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“推荐三部电影”</a:t>
            </a:r>
          </a:p>
        </p:txBody>
      </p:sp>
      <p:sp>
        <p:nvSpPr>
          <p:cNvPr id="7" name="如果只给这三个选项">
            <a:extLst xmlns:a="http://schemas.openxmlformats.org/drawingml/2006/main">
              <a:ext uri="{FF2B5EF4-FFF2-40B4-BE49-F238E27FC236}">
                <a16:creationId xmlns:a16="http://schemas.microsoft.com/office/drawing/2014/main" id="{26E0B4A7-3767-441F-B8B9-E1B178F9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如果只给这三个选项</a:t>
            </a:r>
          </a:p>
        </p:txBody>
      </p:sp>
      <p:sp>
        <p:nvSpPr>
          <p:cNvPr id="8" name="翻译">
            <a:extLst xmlns:a="http://schemas.openxmlformats.org/drawingml/2006/main">
              <a:ext uri="{FF2B5EF4-FFF2-40B4-BE49-F238E27FC236}">
                <a16:creationId xmlns:a16="http://schemas.microsoft.com/office/drawing/2014/main" id="{8E19DAEB-E24F-4A0B-B428-82FB285A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20764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ED4DA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翻译</a:t>
            </a:r>
          </a:p>
        </p:txBody>
      </p:sp>
      <p:sp>
        <p:nvSpPr>
          <p:cNvPr id="9" name="数字人">
            <a:extLst xmlns:a="http://schemas.openxmlformats.org/drawingml/2006/main">
              <a:ext uri="{FF2B5EF4-FFF2-40B4-BE49-F238E27FC236}">
                <a16:creationId xmlns:a16="http://schemas.microsoft.com/office/drawing/2014/main" id="{3E2431D6-7123-4E8D-AEA7-57EBE063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29000"/>
            <a:ext cx="20764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ED4DA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数字人</a:t>
            </a:r>
          </a:p>
        </p:txBody>
      </p:sp>
      <p:sp>
        <p:nvSpPr>
          <p:cNvPr id="10" name="工作流">
            <a:extLst xmlns:a="http://schemas.openxmlformats.org/drawingml/2006/main">
              <a:ext uri="{FF2B5EF4-FFF2-40B4-BE49-F238E27FC236}">
                <a16:creationId xmlns:a16="http://schemas.microsoft.com/office/drawing/2014/main" id="{E6B9B240-8882-4572-9B58-4D231A36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29000"/>
            <a:ext cx="20764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ED4DA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工作流</a:t>
            </a:r>
          </a:p>
        </p:txBody>
      </p:sp>
      <p:sp>
        <p:nvSpPr>
          <p:cNvPr id="11" name="缺少一般问答入口">
            <a:extLst xmlns:a="http://schemas.openxmlformats.org/drawingml/2006/main">
              <a:ext uri="{FF2B5EF4-FFF2-40B4-BE49-F238E27FC236}">
                <a16:creationId xmlns:a16="http://schemas.microsoft.com/office/drawing/2014/main" id="{60CFF513-29FB-4BF5-9AA8-9694C377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67075"/>
            <a:ext cx="3219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54F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A54F47"/>
                </a:solidFill>
                <a:latin typeface="Noto Sans CJK SC"/>
                <a:ea typeface="Noto Sans CJK SC"/>
                <a:cs typeface="Noto Sans CJK SC"/>
              </a:rPr>
              <a:t>缺少一般问答入口</a:t>
            </a:r>
          </a:p>
        </p:txBody>
      </p:sp>
      <p:sp>
        <p:nvSpPr>
          <p:cNvPr id="12" name="总会有一个最高分，">
            <a:extLst xmlns:a="http://schemas.openxmlformats.org/drawingml/2006/main">
              <a:ext uri="{FF2B5EF4-FFF2-40B4-BE49-F238E27FC236}">
                <a16:creationId xmlns:a16="http://schemas.microsoft.com/office/drawing/2014/main" id="{E42C252B-80A9-444F-806D-BDD39849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57625"/>
            <a:ext cx="321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总会有一个最高分，</a:t>
            </a:r>
          </a:p>
          <a:p xmlns:a="http://schemas.openxmlformats.org/drawingml/2006/main">
            <a:pPr>
              <a:defRPr sz="187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却可能根本不适合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A4CD3B-C9A0-43A9-88FB-FAF46FC8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577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14" name="范围外用 other 接住；入口不明用 clarify 追问">
            <a:extLst xmlns:a="http://schemas.openxmlformats.org/drawingml/2006/main">
              <a:ext uri="{FF2B5EF4-FFF2-40B4-BE49-F238E27FC236}">
                <a16:creationId xmlns:a16="http://schemas.microsoft.com/office/drawing/2014/main" id="{3E8F8699-6791-4FC0-B67E-D55D9295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9725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范围外用 other 接住；入口不明用 clarify 追问</a:t>
            </a:r>
          </a:p>
        </p:txBody>
      </p:sp>
    </p:spTree>
    <p:extLst>
      <p:ext uri="{BB962C8B-B14F-4D97-AF65-F5344CB8AC3E}">
        <p14:creationId xmlns:p14="http://schemas.microsoft.com/office/powerpoint/2010/main" val="6071434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开源模型里，可以直接看到判断怎样算出来">
            <a:extLst xmlns:a="http://schemas.openxmlformats.org/drawingml/2006/main">
              <a:ext uri="{FF2B5EF4-FFF2-40B4-BE49-F238E27FC236}">
                <a16:creationId xmlns:a16="http://schemas.microsoft.com/office/drawing/2014/main" id="{459B9779-C408-40FA-A80A-FE3758D0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991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开源模型里，可以直接看到判断怎样算出来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DFED2-FDB3-4B60-A9E1-CF57CC01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B1BDF7-41D8-4B1E-A45E-201FC738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4" name="下图以本次使用的 Laya 为例；不代表 Jev 的内部结构">
            <a:extLst xmlns:a="http://schemas.openxmlformats.org/drawingml/2006/main">
              <a:ext uri="{FF2B5EF4-FFF2-40B4-BE49-F238E27FC236}">
                <a16:creationId xmlns:a16="http://schemas.microsoft.com/office/drawing/2014/main" id="{D30221B6-A00C-462D-B58D-E46D0589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下图以本次使用的 Laya 为例；不代表 Jev 的内部结构</a:t>
            </a:r>
          </a:p>
        </p:txBody>
      </p:sp>
      <p:sp>
        <p:nvSpPr>
          <p:cNvPr id="5" name="07">
            <a:extLst xmlns:a="http://schemas.openxmlformats.org/drawingml/2006/main">
              <a:ext uri="{FF2B5EF4-FFF2-40B4-BE49-F238E27FC236}">
                <a16:creationId xmlns:a16="http://schemas.microsoft.com/office/drawing/2014/main" id="{B8E17649-533A-4278-823B-2AA2BB6D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  <p:sp>
        <p:nvSpPr>
          <p:cNvPr id="6" name="完整请求&#10;与候选说明">
            <a:extLst xmlns:a="http://schemas.openxmlformats.org/drawingml/2006/main">
              <a:ext uri="{FF2B5EF4-FFF2-40B4-BE49-F238E27FC236}">
                <a16:creationId xmlns:a16="http://schemas.microsoft.com/office/drawing/2014/main" id="{599B36EE-0799-437D-8A67-22DFCFF9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90775"/>
            <a:ext cx="25431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ED4DA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完整请求</a:t>
            </a:r>
          </a:p>
          <a:p xmlns:a="http://schemas.openxmlformats.org/drawingml/2006/main">
            <a:pPr algn="ctr">
              <a:defRPr sz="217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与候选说明</a:t>
            </a:r>
          </a:p>
        </p:txBody>
      </p:sp>
      <p:sp>
        <p:nvSpPr>
          <p:cNvPr id="7" name="编码器&#10;把文字变成特征">
            <a:extLst xmlns:a="http://schemas.openxmlformats.org/drawingml/2006/main">
              <a:ext uri="{FF2B5EF4-FFF2-40B4-BE49-F238E27FC236}">
                <a16:creationId xmlns:a16="http://schemas.microsoft.com/office/drawing/2014/main" id="{3111764B-5D97-40F4-B233-2CCD88D2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90775"/>
            <a:ext cx="32099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11430">
            <a:solidFill>
              <a:srgbClr val="CED4DA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编码器</a:t>
            </a:r>
          </a:p>
          <a:p xmlns:a="http://schemas.openxmlformats.org/drawingml/2006/main">
            <a:pPr algn="ctr">
              <a:defRPr sz="217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把文字变成特征</a:t>
            </a:r>
          </a:p>
        </p:txBody>
      </p:sp>
      <p:sp>
        <p:nvSpPr>
          <p:cNvPr id="8" name="决策头&#10;给候选打分">
            <a:extLst xmlns:a="http://schemas.openxmlformats.org/drawingml/2006/main">
              <a:ext uri="{FF2B5EF4-FFF2-40B4-BE49-F238E27FC236}">
                <a16:creationId xmlns:a16="http://schemas.microsoft.com/office/drawing/2014/main" id="{4C653F01-63F5-4DE9-AE72-C8CC7291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90775"/>
            <a:ext cx="3105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决策头</a:t>
            </a:r>
          </a:p>
          <a:p xmlns:a="http://schemas.openxmlformats.org/drawingml/2006/main">
            <a:pPr algn="ctr">
              <a:defRPr sz="2175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给候选打分</a:t>
            </a:r>
          </a:p>
        </p:txBody>
      </p: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33725" y="2952750"/>
            <a:ext cx="10763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8616B"/>
            </a:solidFill>
            <a:tailEnd type="arrow" w="sm" len="sm"/>
          </a:ln>
        </p:spPr>
      </p:cxnSp>
      <p:cxnSp>
        <p:nvCxnSpPr>
          <p:cNvPr id="2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419975" y="2952750"/>
            <a:ext cx="10763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8616B"/>
            </a:solidFill>
            <a:tailEnd type="arrow" w="sm" len="sm"/>
          </a:ln>
        </p:spPr>
      </p:cxnSp>
      <p:sp>
        <p:nvSpPr>
          <p:cNvPr id="11" name="看什么内容">
            <a:extLst xmlns:a="http://schemas.openxmlformats.org/drawingml/2006/main">
              <a:ext uri="{FF2B5EF4-FFF2-40B4-BE49-F238E27FC236}">
                <a16:creationId xmlns:a16="http://schemas.microsoft.com/office/drawing/2014/main" id="{AD6C5C51-5CBF-44A5-AD24-4025385E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33825"/>
            <a:ext cx="2543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看什么内容</a:t>
            </a:r>
          </a:p>
        </p:txBody>
      </p:sp>
      <p:sp>
        <p:nvSpPr>
          <p:cNvPr id="12" name="怎样表示这句话">
            <a:extLst xmlns:a="http://schemas.openxmlformats.org/drawingml/2006/main">
              <a:ext uri="{FF2B5EF4-FFF2-40B4-BE49-F238E27FC236}">
                <a16:creationId xmlns:a16="http://schemas.microsoft.com/office/drawing/2014/main" id="{410D64E0-6993-4AD2-B408-FD25E567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933825"/>
            <a:ext cx="32099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怎样表示这句话</a:t>
            </a:r>
          </a:p>
        </p:txBody>
      </p:sp>
      <p:sp>
        <p:nvSpPr>
          <p:cNvPr id="13" name="哪些选项更合适">
            <a:extLst xmlns:a="http://schemas.openxmlformats.org/drawingml/2006/main">
              <a:ext uri="{FF2B5EF4-FFF2-40B4-BE49-F238E27FC236}">
                <a16:creationId xmlns:a16="http://schemas.microsoft.com/office/drawing/2014/main" id="{C487D21B-856A-4CBC-858D-CA4323F4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33825"/>
            <a:ext cx="3105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rPr>
              <a:t>哪些选项更合适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9465F3-6523-42D3-8E7E-0C88C8EB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672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15" name="Jev 已公开判断接口；完整网络和训练配方仍未公开">
            <a:extLst xmlns:a="http://schemas.openxmlformats.org/drawingml/2006/main">
              <a:ext uri="{FF2B5EF4-FFF2-40B4-BE49-F238E27FC236}">
                <a16:creationId xmlns:a16="http://schemas.microsoft.com/office/drawing/2014/main" id="{400C56F8-6D10-461A-B8F3-62A68193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7800"/>
            <a:ext cx="110109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Jev 已公开判断接口；完整网络和训练配方仍未公开</a:t>
            </a:r>
          </a:p>
        </p:txBody>
      </p:sp>
    </p:spTree>
    <p:extLst>
      <p:ext uri="{BB962C8B-B14F-4D97-AF65-F5344CB8AC3E}">
        <p14:creationId xmlns:p14="http://schemas.microsoft.com/office/powerpoint/2010/main" val="7737890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接 API 和自己训练，是两种使用方式">
            <a:extLst xmlns:a="http://schemas.openxmlformats.org/drawingml/2006/main">
              <a:ext uri="{FF2B5EF4-FFF2-40B4-BE49-F238E27FC236}">
                <a16:creationId xmlns:a16="http://schemas.microsoft.com/office/drawing/2014/main" id="{BCE139FC-E33C-461B-BE52-C96B4369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991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接 API 和自己训练，是两种使用方式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A0A1E5-1D95-4DB7-8D95-D7BFE023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F512F-C4E2-4BBF-8C72-D65D1656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4" name="项目能力会更新；本页只概括当前已核验的公开说明">
            <a:extLst xmlns:a="http://schemas.openxmlformats.org/drawingml/2006/main">
              <a:ext uri="{FF2B5EF4-FFF2-40B4-BE49-F238E27FC236}">
                <a16:creationId xmlns:a16="http://schemas.microsoft.com/office/drawing/2014/main" id="{B8C61E58-6B96-49E3-8BE3-1C0EA165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项目能力会更新；本页只概括当前已核验的公开说明</a:t>
            </a:r>
          </a:p>
        </p:txBody>
      </p:sp>
      <p:sp>
        <p:nvSpPr>
          <p:cNvPr id="5" name="08">
            <a:extLst xmlns:a="http://schemas.openxmlformats.org/drawingml/2006/main">
              <a:ext uri="{FF2B5EF4-FFF2-40B4-BE49-F238E27FC236}">
                <a16:creationId xmlns:a16="http://schemas.microsoft.com/office/drawing/2014/main" id="{69754BD5-E263-4B62-A7B7-2720C07D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  <p:sp>
        <p:nvSpPr>
          <p:cNvPr id="6" name="直接调用 Jev">
            <a:extLst xmlns:a="http://schemas.openxmlformats.org/drawingml/2006/main">
              <a:ext uri="{FF2B5EF4-FFF2-40B4-BE49-F238E27FC236}">
                <a16:creationId xmlns:a16="http://schemas.microsoft.com/office/drawing/2014/main" id="{22D39131-5A4D-44D3-9F1C-F7128CA9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04975"/>
            <a:ext cx="4953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直接调用 Jev</a:t>
            </a:r>
          </a:p>
        </p:txBody>
      </p:sp>
      <p:sp>
        <p:nvSpPr>
          <p:cNvPr id="7" name="在业务规则里写清问题和候选">
            <a:extLst xmlns:a="http://schemas.openxmlformats.org/drawingml/2006/main">
              <a:ext uri="{FF2B5EF4-FFF2-40B4-BE49-F238E27FC236}">
                <a16:creationId xmlns:a16="http://schemas.microsoft.com/office/drawing/2014/main" id="{9F915D65-6717-4A2B-A057-EFFB6EF4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在业务规则里写清问题和候选</a:t>
            </a:r>
          </a:p>
        </p:txBody>
      </p:sp>
      <p:sp>
        <p:nvSpPr>
          <p:cNvPr id="8" name="使用官方托管服务">
            <a:extLst xmlns:a="http://schemas.openxmlformats.org/drawingml/2006/main">
              <a:ext uri="{FF2B5EF4-FFF2-40B4-BE49-F238E27FC236}">
                <a16:creationId xmlns:a16="http://schemas.microsoft.com/office/drawing/2014/main" id="{D03916CF-7B72-454F-AF56-B13F6549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4953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使用官方托管服务</a:t>
            </a:r>
          </a:p>
          <a:p xmlns:a="http://schemas.openxmlformats.org/drawingml/2006/main">
            <a:pPr>
              <a:defRPr sz="20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记录实际模型版本</a:t>
            </a:r>
          </a:p>
        </p:txBody>
      </p:sp>
      <p:sp>
        <p:nvSpPr>
          <p:cNvPr id="9" name="官方目前不提供客户微调或 LoRA">
            <a:extLst xmlns:a="http://schemas.openxmlformats.org/drawingml/2006/main">
              <a:ext uri="{FF2B5EF4-FFF2-40B4-BE49-F238E27FC236}">
                <a16:creationId xmlns:a16="http://schemas.microsoft.com/office/drawing/2014/main" id="{D1BC65CE-C605-4BD2-9376-12E79E2D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00650"/>
            <a:ext cx="4953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rPr>
              <a:t>官方目前不提供客户微调或 LoRA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DD7FC-0847-4C8B-A482-5BC0C24A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85925"/>
            <a:ext cx="0" cy="427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11" name="用开源路线做业务训练">
            <a:extLst xmlns:a="http://schemas.openxmlformats.org/drawingml/2006/main">
              <a:ext uri="{FF2B5EF4-FFF2-40B4-BE49-F238E27FC236}">
                <a16:creationId xmlns:a16="http://schemas.microsoft.com/office/drawing/2014/main" id="{036069D0-F8C2-4FC7-A346-E03C2161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704975"/>
            <a:ext cx="48672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用开源路线做业务训练</a:t>
            </a:r>
          </a:p>
        </p:txBody>
      </p:sp>
      <p:sp>
        <p:nvSpPr>
          <p:cNvPr id="12" name="用自己的例子教模型分界线">
            <a:extLst xmlns:a="http://schemas.openxmlformats.org/drawingml/2006/main">
              <a:ext uri="{FF2B5EF4-FFF2-40B4-BE49-F238E27FC236}">
                <a16:creationId xmlns:a16="http://schemas.microsoft.com/office/drawing/2014/main" id="{8162C436-32C2-4927-A343-7A52DEDD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476500"/>
            <a:ext cx="48672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用自己的例子教模型分界线</a:t>
            </a:r>
          </a:p>
        </p:txBody>
      </p:sp>
      <p:sp>
        <p:nvSpPr>
          <p:cNvPr id="13" name="本次实验：Laya">
            <a:extLst xmlns:a="http://schemas.openxmlformats.org/drawingml/2006/main">
              <a:ext uri="{FF2B5EF4-FFF2-40B4-BE49-F238E27FC236}">
                <a16:creationId xmlns:a16="http://schemas.microsoft.com/office/drawing/2014/main" id="{F5A57FBB-37F5-4ADD-A4EB-8EDEF00B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571875"/>
            <a:ext cx="486727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本次实验：Laya</a:t>
            </a:r>
          </a:p>
          <a:p xmlns:a="http://schemas.openxmlformats.org/drawingml/2006/main">
            <a:pPr>
              <a:defRPr sz="19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其他路线：PyTRIO 配方、Intern-Decision</a:t>
            </a:r>
          </a:p>
        </p:txBody>
      </p:sp>
      <p:sp>
        <p:nvSpPr>
          <p:cNvPr id="14" name="需要自己验证数据、概率和运行环境">
            <a:extLst xmlns:a="http://schemas.openxmlformats.org/drawingml/2006/main">
              <a:ext uri="{FF2B5EF4-FFF2-40B4-BE49-F238E27FC236}">
                <a16:creationId xmlns:a16="http://schemas.microsoft.com/office/drawing/2014/main" id="{99C185B8-8D8D-4149-91D4-C9070B6C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200650"/>
            <a:ext cx="48672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rPr>
              <a:t>需要自己验证数据、概率和运行环境</a:t>
            </a:r>
          </a:p>
        </p:txBody>
      </p:sp>
    </p:spTree>
    <p:extLst>
      <p:ext uri="{BB962C8B-B14F-4D97-AF65-F5344CB8AC3E}">
        <p14:creationId xmlns:p14="http://schemas.microsoft.com/office/powerpoint/2010/main" val="6261154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Head-only 和 LoRA，区别在训练哪里">
            <a:extLst xmlns:a="http://schemas.openxmlformats.org/drawingml/2006/main">
              <a:ext uri="{FF2B5EF4-FFF2-40B4-BE49-F238E27FC236}">
                <a16:creationId xmlns:a16="http://schemas.microsoft.com/office/drawing/2014/main" id="{300D4B9C-531E-4D9C-A731-B798F2EE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991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Head-only 和 LoRA，区别在训练哪里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254C9E-27B4-47B5-87A3-416B6F03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9513F-3F41-421E-BE2D-D05DB64B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4" name="灰色保持不动；蓝色参与训练。图为本次训练范围的简化示意">
            <a:extLst xmlns:a="http://schemas.openxmlformats.org/drawingml/2006/main">
              <a:ext uri="{FF2B5EF4-FFF2-40B4-BE49-F238E27FC236}">
                <a16:creationId xmlns:a16="http://schemas.microsoft.com/office/drawing/2014/main" id="{DAE02FE8-6032-4F5F-A529-3CFC8CDA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灰色保持不动；蓝色参与训练。图为本次训练范围的简化示意</a:t>
            </a:r>
          </a:p>
        </p:txBody>
      </p:sp>
      <p:sp>
        <p:nvSpPr>
          <p:cNvPr id="5" name="09">
            <a:extLst xmlns:a="http://schemas.openxmlformats.org/drawingml/2006/main">
              <a:ext uri="{FF2B5EF4-FFF2-40B4-BE49-F238E27FC236}">
                <a16:creationId xmlns:a16="http://schemas.microsoft.com/office/drawing/2014/main" id="{A47AF39C-44A4-426E-9AB6-98369AD4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09</a:t>
            </a:r>
          </a:p>
        </p:txBody>
      </p:sp>
      <p:sp>
        <p:nvSpPr>
          <p:cNvPr id="6" name="Head-only">
            <a:extLst xmlns:a="http://schemas.openxmlformats.org/drawingml/2006/main">
              <a:ext uri="{FF2B5EF4-FFF2-40B4-BE49-F238E27FC236}">
                <a16:creationId xmlns:a16="http://schemas.microsoft.com/office/drawing/2014/main" id="{1DB09A49-5E32-4981-B7EC-EAC3F85C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2143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Head-only</a:t>
            </a:r>
          </a:p>
        </p:txBody>
      </p:sp>
      <p:sp>
        <p:nvSpPr>
          <p:cNvPr id="7" name="只训练最后的决策头">
            <a:extLst xmlns:a="http://schemas.openxmlformats.org/drawingml/2006/main">
              <a:ext uri="{FF2B5EF4-FFF2-40B4-BE49-F238E27FC236}">
                <a16:creationId xmlns:a16="http://schemas.microsoft.com/office/drawing/2014/main" id="{2348CD15-BBDF-4841-83FF-3F2253AF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24288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只训练最后的决策头</a:t>
            </a:r>
          </a:p>
        </p:txBody>
      </p:sp>
      <p:sp>
        <p:nvSpPr>
          <p:cNvPr id="8" name="编码器原权重保持不动&#10;提取句子里的线索">
            <a:extLst xmlns:a="http://schemas.openxmlformats.org/drawingml/2006/main">
              <a:ext uri="{FF2B5EF4-FFF2-40B4-BE49-F238E27FC236}">
                <a16:creationId xmlns:a16="http://schemas.microsoft.com/office/drawing/2014/main" id="{D1C36209-E336-46BB-89A4-47E9BD8E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24025"/>
            <a:ext cx="45148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11430">
            <a:solidFill>
              <a:srgbClr val="CED4DA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编码器原权重保持不动</a:t>
            </a:r>
          </a:p>
          <a:p xmlns:a="http://schemas.openxmlformats.org/drawingml/2006/main">
            <a:pPr algn="ctr">
              <a:defRPr sz="187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提取句子里的线索</a:t>
            </a:r>
          </a:p>
        </p:txBody>
      </p:sp>
      <p:sp>
        <p:nvSpPr>
          <p:cNvPr id="9" name="决策头&#10;给入口打分">
            <a:extLst xmlns:a="http://schemas.openxmlformats.org/drawingml/2006/main">
              <a:ext uri="{FF2B5EF4-FFF2-40B4-BE49-F238E27FC236}">
                <a16:creationId xmlns:a16="http://schemas.microsoft.com/office/drawing/2014/main" id="{CE3271A6-B6BD-43A6-9B5D-8D389C97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724025"/>
            <a:ext cx="24098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决策头</a:t>
            </a:r>
          </a:p>
          <a:p xmlns:a="http://schemas.openxmlformats.org/drawingml/2006/main">
            <a:pPr algn="ctr">
              <a:defRPr sz="2025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给入口打分</a:t>
            </a:r>
          </a:p>
        </p:txBody>
      </p: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153400" y="2305050"/>
            <a:ext cx="10382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8616B"/>
            </a:solidFill>
            <a:tailEnd type="arrow" w="sm" len="sm"/>
          </a:ln>
        </p:spPr>
      </p:cxnSp>
      <p:sp>
        <p:nvSpPr>
          <p:cNvPr id="11" name="LoRA + 决策头">
            <a:extLst xmlns:a="http://schemas.openxmlformats.org/drawingml/2006/main">
              <a:ext uri="{FF2B5EF4-FFF2-40B4-BE49-F238E27FC236}">
                <a16:creationId xmlns:a16="http://schemas.microsoft.com/office/drawing/2014/main" id="{97750F87-E51B-4347-ADA0-94D1E770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LoRA + 决策头</a:t>
            </a:r>
          </a:p>
        </p:txBody>
      </p:sp>
      <p:sp>
        <p:nvSpPr>
          <p:cNvPr id="12" name="在编码器中加少量">
            <a:extLst xmlns:a="http://schemas.openxmlformats.org/drawingml/2006/main">
              <a:ext uri="{FF2B5EF4-FFF2-40B4-BE49-F238E27FC236}">
                <a16:creationId xmlns:a16="http://schemas.microsoft.com/office/drawing/2014/main" id="{3CB51AAC-5FEF-48EE-AE25-84E75707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76725"/>
            <a:ext cx="266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在编码器中加少量</a:t>
            </a:r>
          </a:p>
          <a:p xmlns:a="http://schemas.openxmlformats.org/drawingml/2006/main">
            <a:pPr>
              <a:defRPr sz="187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可训练的适配参数</a:t>
            </a:r>
          </a:p>
        </p:txBody>
      </p:sp>
      <p:sp>
        <p:nvSpPr>
          <p:cNvPr id="13" name="编码器原权重保持不动&#10;提取句子里的线索">
            <a:extLst xmlns:a="http://schemas.openxmlformats.org/drawingml/2006/main">
              <a:ext uri="{FF2B5EF4-FFF2-40B4-BE49-F238E27FC236}">
                <a16:creationId xmlns:a16="http://schemas.microsoft.com/office/drawing/2014/main" id="{56C7D90B-AB87-4146-B368-205014EB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24275"/>
            <a:ext cx="45148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11430">
            <a:solidFill>
              <a:srgbClr val="CED4DA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编码器原权重保持不动</a:t>
            </a:r>
          </a:p>
          <a:p xmlns:a="http://schemas.openxmlformats.org/drawingml/2006/main">
            <a:pPr algn="ctr">
              <a:defRPr sz="187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提取句子里的线索</a:t>
            </a:r>
          </a:p>
        </p:txBody>
      </p:sp>
      <p:sp>
        <p:nvSpPr>
          <p:cNvPr id="14" name="决策头&#10;给入口打分">
            <a:extLst xmlns:a="http://schemas.openxmlformats.org/drawingml/2006/main">
              <a:ext uri="{FF2B5EF4-FFF2-40B4-BE49-F238E27FC236}">
                <a16:creationId xmlns:a16="http://schemas.microsoft.com/office/drawing/2014/main" id="{67A3BE15-D8EE-4B9C-AA5F-296BAB1F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724275"/>
            <a:ext cx="24098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决策头</a:t>
            </a:r>
          </a:p>
          <a:p xmlns:a="http://schemas.openxmlformats.org/drawingml/2006/main">
            <a:pPr algn="ctr">
              <a:defRPr sz="2025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给入口打分</a:t>
            </a:r>
          </a:p>
        </p:txBody>
      </p:sp>
      <p:cxnSp>
        <p:nvCxnSpPr>
          <p:cNvPr id="32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153400" y="4305300"/>
            <a:ext cx="10382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8616B"/>
            </a:solidFill>
            <a:tailEnd type="arrow" w="sm" len="sm"/>
          </a:ln>
        </p:spPr>
      </p:cxnSp>
      <p:sp>
        <p:nvSpPr>
          <p:cNvPr id="16" name="LoRA">
            <a:extLst xmlns:a="http://schemas.openxmlformats.org/drawingml/2006/main">
              <a:ext uri="{FF2B5EF4-FFF2-40B4-BE49-F238E27FC236}">
                <a16:creationId xmlns:a16="http://schemas.microsoft.com/office/drawing/2014/main" id="{36E27D11-2633-4F43-8798-5F4BFED4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29150"/>
            <a:ext cx="24860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LoRA</a:t>
            </a:r>
          </a:p>
        </p:txBody>
      </p:sp>
      <p:sp>
        <p:nvSpPr>
          <p:cNvPr id="17" name="两种方法都看同一批带标签的例子，再比较实际结果">
            <a:extLst xmlns:a="http://schemas.openxmlformats.org/drawingml/2006/main">
              <a:ext uri="{FF2B5EF4-FFF2-40B4-BE49-F238E27FC236}">
                <a16:creationId xmlns:a16="http://schemas.microsoft.com/office/drawing/2014/main" id="{FA1DBE80-BF10-4494-8028-A6FAC9A9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05475"/>
            <a:ext cx="1101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两种方法都看同一批带标签的例子，再比较实际结果</a:t>
            </a:r>
          </a:p>
        </p:txBody>
      </p:sp>
    </p:spTree>
    <p:extLst>
      <p:ext uri="{BB962C8B-B14F-4D97-AF65-F5344CB8AC3E}">
        <p14:creationId xmlns:p14="http://schemas.microsoft.com/office/powerpoint/2010/main" val="7683139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练习、选版本、调分数、考试，各用一份数据">
            <a:extLst xmlns:a="http://schemas.openxmlformats.org/drawingml/2006/main">
              <a:ext uri="{FF2B5EF4-FFF2-40B4-BE49-F238E27FC236}">
                <a16:creationId xmlns:a16="http://schemas.microsoft.com/office/drawing/2014/main" id="{2B47DB61-E474-49C2-B143-9DCB475D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991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练习、选版本、调分数、考试，各用一份数据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4DC80-FC17-4ECA-8C15-C772B469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0398B-90DA-47C0-AEC3-BAD237A1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4" name="合成教学试点，AI 编写与复核，尚无人审；合计300条用于本轮四个划分">
            <a:extLst xmlns:a="http://schemas.openxmlformats.org/drawingml/2006/main">
              <a:ext uri="{FF2B5EF4-FFF2-40B4-BE49-F238E27FC236}">
                <a16:creationId xmlns:a16="http://schemas.microsoft.com/office/drawing/2014/main" id="{FF865503-099D-47DB-BAB9-202A7970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合成教学试点，AI 编写与复核，尚无人审；合计300条用于本轮四个划分</a:t>
            </a:r>
          </a:p>
        </p:txBody>
      </p:sp>
      <p:sp>
        <p:nvSpPr>
          <p:cNvPr id="5" name="10">
            <a:extLst xmlns:a="http://schemas.openxmlformats.org/drawingml/2006/main">
              <a:ext uri="{FF2B5EF4-FFF2-40B4-BE49-F238E27FC236}">
                <a16:creationId xmlns:a16="http://schemas.microsoft.com/office/drawing/2014/main" id="{1A880E7F-74A8-41D1-952A-2A15DA21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6" name="练习">
            <a:extLst xmlns:a="http://schemas.openxmlformats.org/drawingml/2006/main">
              <a:ext uri="{FF2B5EF4-FFF2-40B4-BE49-F238E27FC236}">
                <a16:creationId xmlns:a16="http://schemas.microsoft.com/office/drawing/2014/main" id="{6369B0B6-BAD8-47C1-BB32-03465185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85925"/>
            <a:ext cx="2438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练习</a:t>
            </a:r>
          </a:p>
        </p:txBody>
      </p:sp>
      <p:sp>
        <p:nvSpPr>
          <p:cNvPr id="7" name="150条">
            <a:extLst xmlns:a="http://schemas.openxmlformats.org/drawingml/2006/main">
              <a:ext uri="{FF2B5EF4-FFF2-40B4-BE49-F238E27FC236}">
                <a16:creationId xmlns:a16="http://schemas.microsoft.com/office/drawing/2014/main" id="{DD120EA7-8114-4A01-B094-976C9D50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24384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1430">
            <a:solidFill>
              <a:srgbClr val="EDF3F8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rPr>
              <a:t>150条</a:t>
            </a:r>
          </a:p>
        </p:txBody>
      </p:sp>
      <p:sp>
        <p:nvSpPr>
          <p:cNvPr id="8" name="train">
            <a:extLst xmlns:a="http://schemas.openxmlformats.org/drawingml/2006/main">
              <a:ext uri="{FF2B5EF4-FFF2-40B4-BE49-F238E27FC236}">
                <a16:creationId xmlns:a16="http://schemas.microsoft.com/office/drawing/2014/main" id="{9F2543E6-225C-4250-B57F-9B48C700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train</a:t>
            </a:r>
          </a:p>
        </p:txBody>
      </p:sp>
      <p:sp>
        <p:nvSpPr>
          <p:cNvPr id="9" name="用例子更新参数">
            <a:extLst xmlns:a="http://schemas.openxmlformats.org/drawingml/2006/main">
              <a:ext uri="{FF2B5EF4-FFF2-40B4-BE49-F238E27FC236}">
                <a16:creationId xmlns:a16="http://schemas.microsoft.com/office/drawing/2014/main" id="{3C93C387-155D-4553-A4E1-2A2674F5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91025"/>
            <a:ext cx="243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用例子更新参数</a:t>
            </a:r>
          </a:p>
        </p:txBody>
      </p:sp>
      <p:sp>
        <p:nvSpPr>
          <p:cNvPr id="10" name="选版本">
            <a:extLst xmlns:a="http://schemas.openxmlformats.org/drawingml/2006/main">
              <a:ext uri="{FF2B5EF4-FFF2-40B4-BE49-F238E27FC236}">
                <a16:creationId xmlns:a16="http://schemas.microsoft.com/office/drawing/2014/main" id="{773F1D59-A969-42D0-B4AC-13533B8B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85925"/>
            <a:ext cx="2438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选版本</a:t>
            </a:r>
          </a:p>
        </p:txBody>
      </p:sp>
      <p:sp>
        <p:nvSpPr>
          <p:cNvPr id="11" name="50条">
            <a:extLst xmlns:a="http://schemas.openxmlformats.org/drawingml/2006/main">
              <a:ext uri="{FF2B5EF4-FFF2-40B4-BE49-F238E27FC236}">
                <a16:creationId xmlns:a16="http://schemas.microsoft.com/office/drawing/2014/main" id="{C189AAB0-2038-4F4C-A8F2-BEFA1913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00300"/>
            <a:ext cx="24384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1430">
            <a:solidFill>
              <a:srgbClr val="EDF3F8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rPr>
              <a:t>50条</a:t>
            </a:r>
          </a:p>
        </p:txBody>
      </p:sp>
      <p:sp>
        <p:nvSpPr>
          <p:cNvPr id="12" name="dev">
            <a:extLst xmlns:a="http://schemas.openxmlformats.org/drawingml/2006/main">
              <a:ext uri="{FF2B5EF4-FFF2-40B4-BE49-F238E27FC236}">
                <a16:creationId xmlns:a16="http://schemas.microsoft.com/office/drawing/2014/main" id="{837C4430-BFBD-49CD-8316-8418A190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00475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dev</a:t>
            </a:r>
          </a:p>
        </p:txBody>
      </p:sp>
      <p:sp>
        <p:nvSpPr>
          <p:cNvPr id="13" name="比较每轮训练结果">
            <a:extLst xmlns:a="http://schemas.openxmlformats.org/drawingml/2006/main">
              <a:ext uri="{FF2B5EF4-FFF2-40B4-BE49-F238E27FC236}">
                <a16:creationId xmlns:a16="http://schemas.microsoft.com/office/drawing/2014/main" id="{A00252E9-8FEC-4C23-BC67-5A1DB822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391025"/>
            <a:ext cx="243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比较每轮训练结果</a:t>
            </a:r>
          </a:p>
        </p:txBody>
      </p:sp>
      <p:sp>
        <p:nvSpPr>
          <p:cNvPr id="14" name="调分数">
            <a:extLst xmlns:a="http://schemas.openxmlformats.org/drawingml/2006/main">
              <a:ext uri="{FF2B5EF4-FFF2-40B4-BE49-F238E27FC236}">
                <a16:creationId xmlns:a16="http://schemas.microsoft.com/office/drawing/2014/main" id="{BD4D9F9E-C533-44CF-8EF5-63555246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85925"/>
            <a:ext cx="2438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调分数</a:t>
            </a:r>
          </a:p>
        </p:txBody>
      </p:sp>
      <p:sp>
        <p:nvSpPr>
          <p:cNvPr id="15" name="50条">
            <a:extLst xmlns:a="http://schemas.openxmlformats.org/drawingml/2006/main">
              <a:ext uri="{FF2B5EF4-FFF2-40B4-BE49-F238E27FC236}">
                <a16:creationId xmlns:a16="http://schemas.microsoft.com/office/drawing/2014/main" id="{4EF2DC8A-FF90-4532-A673-8F3A60A7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24384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1430">
            <a:solidFill>
              <a:srgbClr val="EDF3F8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rPr>
              <a:t>50条</a:t>
            </a:r>
          </a:p>
        </p:txBody>
      </p:sp>
      <p:sp>
        <p:nvSpPr>
          <p:cNvPr id="16" name="calibration">
            <a:extLst xmlns:a="http://schemas.openxmlformats.org/drawingml/2006/main">
              <a:ext uri="{FF2B5EF4-FFF2-40B4-BE49-F238E27FC236}">
                <a16:creationId xmlns:a16="http://schemas.microsoft.com/office/drawing/2014/main" id="{B0F1DD46-169A-40DF-99F5-5F9105DF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00475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calibration</a:t>
            </a:r>
          </a:p>
        </p:txBody>
      </p:sp>
      <p:sp>
        <p:nvSpPr>
          <p:cNvPr id="17" name="只拟合温度 T">
            <a:extLst xmlns:a="http://schemas.openxmlformats.org/drawingml/2006/main">
              <a:ext uri="{FF2B5EF4-FFF2-40B4-BE49-F238E27FC236}">
                <a16:creationId xmlns:a16="http://schemas.microsoft.com/office/drawing/2014/main" id="{1845BDD4-E276-433C-A76E-D4C82B15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91025"/>
            <a:ext cx="243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只拟合温度 T</a:t>
            </a:r>
          </a:p>
        </p:txBody>
      </p:sp>
      <p:sp>
        <p:nvSpPr>
          <p:cNvPr id="18" name="考试">
            <a:extLst xmlns:a="http://schemas.openxmlformats.org/drawingml/2006/main">
              <a:ext uri="{FF2B5EF4-FFF2-40B4-BE49-F238E27FC236}">
                <a16:creationId xmlns:a16="http://schemas.microsoft.com/office/drawing/2014/main" id="{51BF21FF-5872-414D-B7FC-3D5D208A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85925"/>
            <a:ext cx="2438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考试</a:t>
            </a:r>
          </a:p>
        </p:txBody>
      </p:sp>
      <p:sp>
        <p:nvSpPr>
          <p:cNvPr id="19" name="50条">
            <a:extLst xmlns:a="http://schemas.openxmlformats.org/drawingml/2006/main">
              <a:ext uri="{FF2B5EF4-FFF2-40B4-BE49-F238E27FC236}">
                <a16:creationId xmlns:a16="http://schemas.microsoft.com/office/drawing/2014/main" id="{895296E6-56D2-45F8-A9F1-9EF264D5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00300"/>
            <a:ext cx="24384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50条</a:t>
            </a:r>
          </a:p>
        </p:txBody>
      </p:sp>
      <p:sp>
        <p:nvSpPr>
          <p:cNvPr id="20" name="test">
            <a:extLst xmlns:a="http://schemas.openxmlformats.org/drawingml/2006/main">
              <a:ext uri="{FF2B5EF4-FFF2-40B4-BE49-F238E27FC236}">
                <a16:creationId xmlns:a16="http://schemas.microsoft.com/office/drawing/2014/main" id="{F89B81AF-88C2-430A-93FC-CD059544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00475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test</a:t>
            </a:r>
          </a:p>
        </p:txBody>
      </p:sp>
      <p:sp>
        <p:nvSpPr>
          <p:cNvPr id="21" name="查看最终预测表现">
            <a:extLst xmlns:a="http://schemas.openxmlformats.org/drawingml/2006/main">
              <a:ext uri="{FF2B5EF4-FFF2-40B4-BE49-F238E27FC236}">
                <a16:creationId xmlns:a16="http://schemas.microsoft.com/office/drawing/2014/main" id="{0ABDA7BD-7DB4-4097-8E18-9AC6B6B1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391025"/>
            <a:ext cx="243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查看最终预测表现</a:t>
            </a:r>
          </a:p>
        </p:txBody>
      </p:sp>
      <p:sp>
        <p:nvSpPr>
          <p:cNvPr id="22" name="同一句的改写和互译放在同组，避免跨份“见过近亲”">
            <a:extLst xmlns:a="http://schemas.openxmlformats.org/drawingml/2006/main">
              <a:ext uri="{FF2B5EF4-FFF2-40B4-BE49-F238E27FC236}">
                <a16:creationId xmlns:a16="http://schemas.microsoft.com/office/drawing/2014/main" id="{628523FC-3C94-422D-A0D1-9B2D2721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72125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同一句的改写和互译放在同组，避免跨份“见过近亲”</a:t>
            </a:r>
          </a:p>
        </p:txBody>
      </p:sp>
    </p:spTree>
    <p:extLst>
      <p:ext uri="{BB962C8B-B14F-4D97-AF65-F5344CB8AC3E}">
        <p14:creationId xmlns:p14="http://schemas.microsoft.com/office/powerpoint/2010/main" val="18326583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10题冒烟测试，先看接口能否走通">
            <a:extLst xmlns:a="http://schemas.openxmlformats.org/drawingml/2006/main">
              <a:ext uri="{FF2B5EF4-FFF2-40B4-BE49-F238E27FC236}">
                <a16:creationId xmlns:a16="http://schemas.microsoft.com/office/drawing/2014/main" id="{0BBFA5BB-1274-437D-914A-E79CF2CD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991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10题冒烟测试，先看接口能否走通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278DD-796E-44D3-85FE-66E20AF1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DBC6E-A210-4744-87D3-455CA197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4" name="同一组10条合成样本的真实运行；蓝点命中参考标签；不能据此排出模型名次">
            <a:extLst xmlns:a="http://schemas.openxmlformats.org/drawingml/2006/main">
              <a:ext uri="{FF2B5EF4-FFF2-40B4-BE49-F238E27FC236}">
                <a16:creationId xmlns:a16="http://schemas.microsoft.com/office/drawing/2014/main" id="{5233ADAC-CB13-4E0E-B2C3-4A64AA0C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同一组10条合成样本的真实运行；蓝点命中参考标签；不能据此排出模型名次</a:t>
            </a:r>
          </a:p>
        </p:txBody>
      </p:sp>
      <p:sp>
        <p:nvSpPr>
          <p:cNvPr id="5" name="11">
            <a:extLst xmlns:a="http://schemas.openxmlformats.org/drawingml/2006/main">
              <a:ext uri="{FF2B5EF4-FFF2-40B4-BE49-F238E27FC236}">
                <a16:creationId xmlns:a16="http://schemas.microsoft.com/office/drawing/2014/main" id="{2C51C178-2FA3-453A-8BEE-4124BFC1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sp>
        <p:nvSpPr>
          <p:cNvPr id="6" name="DeepSeek">
            <a:extLst xmlns:a="http://schemas.openxmlformats.org/drawingml/2006/main">
              <a:ext uri="{FF2B5EF4-FFF2-40B4-BE49-F238E27FC236}">
                <a16:creationId xmlns:a16="http://schemas.microsoft.com/office/drawing/2014/main" id="{21A7FB9A-82EC-4393-A2EB-1C60C328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811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DeepSeek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922F9-1D4D-4D1E-942F-E95BC31C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866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CCECD-C204-4F2A-9D44-BD73A0EC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66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BD487-FE14-4B38-A772-0988884C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866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B8EDC-6D5C-43C6-BBB6-F6FA3517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66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7475D-E172-4BD5-BFA4-FCBF200F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866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88E017-9874-42DD-AD18-03ADBD2F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66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1B634B-AD61-4475-A2E8-C80EE4F4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1866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009267-BBB6-475D-B5B2-398AEB64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866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E0AD71-0487-46C5-904D-E36D90A0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866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A7637B-0462-4790-ADA2-E65F4565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66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</p:sp>
      <p:sp>
        <p:nvSpPr>
          <p:cNvPr id="17" name="9 / 10">
            <a:extLst xmlns:a="http://schemas.openxmlformats.org/drawingml/2006/main">
              <a:ext uri="{FF2B5EF4-FFF2-40B4-BE49-F238E27FC236}">
                <a16:creationId xmlns:a16="http://schemas.microsoft.com/office/drawing/2014/main" id="{512C860C-0C8A-4783-B0B1-5B9F35FC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762125"/>
            <a:ext cx="1743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rPr>
              <a:t>9 / 10</a:t>
            </a:r>
          </a:p>
        </p:txBody>
      </p:sp>
      <p:sp>
        <p:nvSpPr>
          <p:cNvPr id="18" name="生成五类概率 JSON">
            <a:extLst xmlns:a="http://schemas.openxmlformats.org/drawingml/2006/main">
              <a:ext uri="{FF2B5EF4-FFF2-40B4-BE49-F238E27FC236}">
                <a16:creationId xmlns:a16="http://schemas.microsoft.com/office/drawing/2014/main" id="{47256250-8E48-40DA-81F7-D2160CFB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781175"/>
            <a:ext cx="21621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生成五类概率 JSON</a:t>
            </a:r>
          </a:p>
        </p:txBody>
      </p:sp>
      <p:sp>
        <p:nvSpPr>
          <p:cNvPr id="19" name="Laya">
            <a:extLst xmlns:a="http://schemas.openxmlformats.org/drawingml/2006/main">
              <a:ext uri="{FF2B5EF4-FFF2-40B4-BE49-F238E27FC236}">
                <a16:creationId xmlns:a16="http://schemas.microsoft.com/office/drawing/2014/main" id="{8219B40B-D6B5-49E2-8F00-0A22622B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194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Laya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AB6FA0-0BAA-4C39-AAC5-DDB4B834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051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BB0E81-6B42-45AA-BB73-C4B6F4E2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051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E53200-F74D-4FB2-A6B2-CAE5D9F6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1051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2196D1-E12E-401A-939C-F71544CA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051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39E745-3487-4EA2-9149-87740ED6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1051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7E5B6A-F855-488A-BE40-4398C629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051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22B61B-45C6-4625-9D3A-38F2FE47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1051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FA60E6-21DE-4467-92CD-C4CC41D9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051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EDA191-D5F0-4A94-8B5E-DE2070CB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1051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46759C-B81E-4CD5-B818-A76303F2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051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</p:sp>
      <p:sp>
        <p:nvSpPr>
          <p:cNvPr id="30" name="7 / 10">
            <a:extLst xmlns:a="http://schemas.openxmlformats.org/drawingml/2006/main">
              <a:ext uri="{FF2B5EF4-FFF2-40B4-BE49-F238E27FC236}">
                <a16:creationId xmlns:a16="http://schemas.microsoft.com/office/drawing/2014/main" id="{5DABCF87-7607-4472-9F4F-67042B64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00375"/>
            <a:ext cx="1743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rPr>
              <a:t>7 / 10</a:t>
            </a:r>
          </a:p>
        </p:txBody>
      </p:sp>
      <p:sp>
        <p:nvSpPr>
          <p:cNvPr id="31" name="本地决策分布">
            <a:extLst xmlns:a="http://schemas.openxmlformats.org/drawingml/2006/main">
              <a:ext uri="{FF2B5EF4-FFF2-40B4-BE49-F238E27FC236}">
                <a16:creationId xmlns:a16="http://schemas.microsoft.com/office/drawing/2014/main" id="{A29C75E0-278D-4FFD-AE89-937C6C0D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19425"/>
            <a:ext cx="21621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本地决策分布</a:t>
            </a:r>
          </a:p>
        </p:txBody>
      </p:sp>
      <p:sp>
        <p:nvSpPr>
          <p:cNvPr id="32" name="Jev">
            <a:extLst xmlns:a="http://schemas.openxmlformats.org/drawingml/2006/main">
              <a:ext uri="{FF2B5EF4-FFF2-40B4-BE49-F238E27FC236}">
                <a16:creationId xmlns:a16="http://schemas.microsoft.com/office/drawing/2014/main" id="{F75A630C-1BF1-4878-A92C-4B1503C2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576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C48173-6112-4E1C-A684-55C7740C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434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0E71B8-DDFF-435D-A9D6-19234A80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434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BBFF83-450F-44CA-A86B-AE2C2F9A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3434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5D6436-57A6-4D45-94CD-318F00EB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3434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9F06DC-9C20-4EEA-8110-2751383D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3434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D4A793-056A-4012-9A43-EF840374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434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E657C8-F4B1-4DCB-91E0-57611804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3434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640DA0-EF3A-42C7-B387-5C705BF2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3434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EBF7B8-E8ED-4273-95CC-1778EACE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3434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3B1D2A-2A67-4735-AAE1-4C377F69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434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</p:sp>
      <p:sp>
        <p:nvSpPr>
          <p:cNvPr id="43" name="8 / 10">
            <a:extLst xmlns:a="http://schemas.openxmlformats.org/drawingml/2006/main">
              <a:ext uri="{FF2B5EF4-FFF2-40B4-BE49-F238E27FC236}">
                <a16:creationId xmlns:a16="http://schemas.microsoft.com/office/drawing/2014/main" id="{10DD5DE1-C76B-4FE7-BACA-116378D9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38625"/>
            <a:ext cx="1743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rPr>
              <a:t>8 / 10</a:t>
            </a:r>
          </a:p>
        </p:txBody>
      </p:sp>
      <p:sp>
        <p:nvSpPr>
          <p:cNvPr id="44" name="托管 Choice 分布">
            <a:extLst xmlns:a="http://schemas.openxmlformats.org/drawingml/2006/main">
              <a:ext uri="{FF2B5EF4-FFF2-40B4-BE49-F238E27FC236}">
                <a16:creationId xmlns:a16="http://schemas.microsoft.com/office/drawing/2014/main" id="{33274C2E-71E2-40ED-BF37-C83EFC8F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257675"/>
            <a:ext cx="21621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托管 Choice 分布</a:t>
            </a:r>
          </a:p>
        </p:txBody>
      </p:sp>
      <p:sp>
        <p:nvSpPr>
          <p:cNvPr id="45" name="同一道播报题，三个系统都选中了数字人入口">
            <a:extLst xmlns:a="http://schemas.openxmlformats.org/drawingml/2006/main">
              <a:ext uri="{FF2B5EF4-FFF2-40B4-BE49-F238E27FC236}">
                <a16:creationId xmlns:a16="http://schemas.microsoft.com/office/drawing/2014/main" id="{1A4EC755-F57A-4AB6-8145-CBA1758D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0225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同一道播报题，三个系统都选中了数字人入口</a:t>
            </a:r>
          </a:p>
        </p:txBody>
      </p:sp>
    </p:spTree>
    <p:extLst>
      <p:ext uri="{BB962C8B-B14F-4D97-AF65-F5344CB8AC3E}">
        <p14:creationId xmlns:p14="http://schemas.microsoft.com/office/powerpoint/2010/main" val="17391296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oRA 在开发集上多答对了8题">
            <a:extLst xmlns:a="http://schemas.openxmlformats.org/drawingml/2006/main">
              <a:ext uri="{FF2B5EF4-FFF2-40B4-BE49-F238E27FC236}">
                <a16:creationId xmlns:a16="http://schemas.microsoft.com/office/drawing/2014/main" id="{F4232446-6C3E-4386-B3AC-022147EE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991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LoRA 在开发集上多答对了8题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45F93-EF9E-48FC-9C74-F033B8E4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D52A0D-65A1-42DE-8177-FF3787DC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4" name="两种训练均为4轮、seed42；0代表训练前，1–4代表训练轮次">
            <a:extLst xmlns:a="http://schemas.openxmlformats.org/drawingml/2006/main">
              <a:ext uri="{FF2B5EF4-FFF2-40B4-BE49-F238E27FC236}">
                <a16:creationId xmlns:a16="http://schemas.microsoft.com/office/drawing/2014/main" id="{B76AC1B2-99C9-4B08-91C8-35446034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两种训练均为4轮、seed42；0代表训练前，1–4代表训练轮次</a:t>
            </a:r>
          </a:p>
        </p:txBody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6CB9877B-9E5D-4185-9916-42EF53C9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90550" y="1628775"/>
          <a:ext xmlns:a="http://schemas.openxmlformats.org/drawingml/2006/main" cx="5314950" cy="3543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3e6db480eb34f98"/>
          </a:graphicData>
        </a:graphic>
      </p:graphicFrame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286500" y="1628775"/>
          <a:ext xmlns:a="http://schemas.openxmlformats.org/drawingml/2006/main" cx="5314950" cy="3543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ff58210a3b4182"/>
          </a:graphicData>
        </a:graphic>
      </p:graphicFrame>
      <p:sp>
        <p:nvSpPr>
          <p:cNvPr id="8" name="Head-only：27 / 50，始终未变">
            <a:extLst xmlns:a="http://schemas.openxmlformats.org/drawingml/2006/main">
              <a:ext uri="{FF2B5EF4-FFF2-40B4-BE49-F238E27FC236}">
                <a16:creationId xmlns:a16="http://schemas.microsoft.com/office/drawing/2014/main" id="{0D4857D1-9214-4C2E-998C-267C1848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91175"/>
            <a:ext cx="5314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Head-only：27 / 50，始终未变</a:t>
            </a:r>
          </a:p>
        </p:txBody>
      </p:sp>
      <p:sp>
        <p:nvSpPr>
          <p:cNvPr id="9" name="LoRA：27 / 50 变成 35 / 50">
            <a:extLst xmlns:a="http://schemas.openxmlformats.org/drawingml/2006/main">
              <a:ext uri="{FF2B5EF4-FFF2-40B4-BE49-F238E27FC236}">
                <a16:creationId xmlns:a16="http://schemas.microsoft.com/office/drawing/2014/main" id="{F3F8183F-239E-4048-9714-42A3A791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91175"/>
            <a:ext cx="5314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rPr>
              <a:t>LoRA：27 / 50 变成 35 / 50</a:t>
            </a:r>
          </a:p>
        </p:txBody>
      </p:sp>
    </p:spTree>
    <p:extLst>
      <p:ext uri="{BB962C8B-B14F-4D97-AF65-F5344CB8AC3E}">
        <p14:creationId xmlns:p14="http://schemas.microsoft.com/office/powerpoint/2010/main" val="5238912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同一份50题，LoRA多答对11题">
            <a:extLst xmlns:a="http://schemas.openxmlformats.org/drawingml/2006/main">
              <a:ext uri="{FF2B5EF4-FFF2-40B4-BE49-F238E27FC236}">
                <a16:creationId xmlns:a16="http://schemas.microsoft.com/office/drawing/2014/main" id="{5A1CB35D-6C4C-41B5-AFE2-9582D82A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991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同一份50题，LoRA多答对11题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D818B7-B6D2-433F-9650-7E883811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DA2FD-6290-4078-A2DB-987C8EEC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4" name="50题合成测试集的逐题配对；每格一题，列为ID尾号001–010；蓝色正确，空心错误">
            <a:extLst xmlns:a="http://schemas.openxmlformats.org/drawingml/2006/main">
              <a:ext uri="{FF2B5EF4-FFF2-40B4-BE49-F238E27FC236}">
                <a16:creationId xmlns:a16="http://schemas.microsoft.com/office/drawing/2014/main" id="{7E9229FC-6B96-4E4C-8FAD-5DDB7F7D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50题合成测试集的逐题配对；每格一题，列为ID尾号001–010；蓝色正确，空心错误</a:t>
            </a:r>
          </a:p>
        </p:txBody>
      </p:sp>
      <p:sp>
        <p:nvSpPr>
          <p:cNvPr id="5" name="13">
            <a:extLst xmlns:a="http://schemas.openxmlformats.org/drawingml/2006/main">
              <a:ext uri="{FF2B5EF4-FFF2-40B4-BE49-F238E27FC236}">
                <a16:creationId xmlns:a16="http://schemas.microsoft.com/office/drawing/2014/main" id="{38159DBA-5E80-445D-9799-B67153C7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13</a:t>
            </a:r>
          </a:p>
        </p:txBody>
      </p:sp>
      <p:sp>
        <p:nvSpPr>
          <p:cNvPr id="6" name="Head-only   24 / 50">
            <a:extLst xmlns:a="http://schemas.openxmlformats.org/drawingml/2006/main">
              <a:ext uri="{FF2B5EF4-FFF2-40B4-BE49-F238E27FC236}">
                <a16:creationId xmlns:a16="http://schemas.microsoft.com/office/drawing/2014/main" id="{9827C98A-B6D3-46AA-943F-AD83DA26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9725"/>
            <a:ext cx="5200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Head-only   24 / 50</a:t>
            </a:r>
          </a:p>
        </p:txBody>
      </p:sp>
      <p:sp>
        <p:nvSpPr>
          <p:cNvPr id="7" name="LoRA   35 / 50">
            <a:extLst xmlns:a="http://schemas.openxmlformats.org/drawingml/2006/main">
              <a:ext uri="{FF2B5EF4-FFF2-40B4-BE49-F238E27FC236}">
                <a16:creationId xmlns:a16="http://schemas.microsoft.com/office/drawing/2014/main" id="{D692AACE-CD44-477E-A6FB-4928CABD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09725"/>
            <a:ext cx="4991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rPr>
              <a:t>LoRA   35 / 50</a:t>
            </a:r>
          </a:p>
        </p:txBody>
      </p:sp>
      <p:sp>
        <p:nvSpPr>
          <p:cNvPr id="8" name="数字人">
            <a:extLst xmlns:a="http://schemas.openxmlformats.org/drawingml/2006/main">
              <a:ext uri="{FF2B5EF4-FFF2-40B4-BE49-F238E27FC236}">
                <a16:creationId xmlns:a16="http://schemas.microsoft.com/office/drawing/2014/main" id="{6C574798-6A1C-40F8-983B-58AFFEDE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982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数字人</a:t>
            </a:r>
          </a:p>
        </p:txBody>
      </p:sp>
      <p:sp>
        <p:nvSpPr>
          <p:cNvPr id="9" name="tutorial-test-digital_human-001 correct">
            <a:extLst xmlns:a="http://schemas.openxmlformats.org/drawingml/2006/main">
              <a:ext uri="{FF2B5EF4-FFF2-40B4-BE49-F238E27FC236}">
                <a16:creationId xmlns:a16="http://schemas.microsoft.com/office/drawing/2014/main" id="{28AD2628-DBB8-4ADB-B3F4-6DA12166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098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0" name="tutorial-test-digital_human-002 correct">
            <a:extLst xmlns:a="http://schemas.openxmlformats.org/drawingml/2006/main">
              <a:ext uri="{FF2B5EF4-FFF2-40B4-BE49-F238E27FC236}">
                <a16:creationId xmlns:a16="http://schemas.microsoft.com/office/drawing/2014/main" id="{5F39FA73-DCA1-4411-89FD-62E21AF9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4098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1" name="tutorial-test-digital_human-003 correct">
            <a:extLst xmlns:a="http://schemas.openxmlformats.org/drawingml/2006/main">
              <a:ext uri="{FF2B5EF4-FFF2-40B4-BE49-F238E27FC236}">
                <a16:creationId xmlns:a16="http://schemas.microsoft.com/office/drawing/2014/main" id="{FEF4FF5E-90D5-4221-828B-33F8E42C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4098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12" name="tutorial-test-digital_human-004 correct">
            <a:extLst xmlns:a="http://schemas.openxmlformats.org/drawingml/2006/main">
              <a:ext uri="{FF2B5EF4-FFF2-40B4-BE49-F238E27FC236}">
                <a16:creationId xmlns:a16="http://schemas.microsoft.com/office/drawing/2014/main" id="{E3AEE980-DE44-4BD2-B03C-67A19F9D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098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13" name="tutorial-test-digital_human-005 correct">
            <a:extLst xmlns:a="http://schemas.openxmlformats.org/drawingml/2006/main">
              <a:ext uri="{FF2B5EF4-FFF2-40B4-BE49-F238E27FC236}">
                <a16:creationId xmlns:a16="http://schemas.microsoft.com/office/drawing/2014/main" id="{9EE93B32-2E6F-450C-9C37-3806C4B0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098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14" name="tutorial-test-digital_human-006 correct">
            <a:extLst xmlns:a="http://schemas.openxmlformats.org/drawingml/2006/main">
              <a:ext uri="{FF2B5EF4-FFF2-40B4-BE49-F238E27FC236}">
                <a16:creationId xmlns:a16="http://schemas.microsoft.com/office/drawing/2014/main" id="{80384E56-9845-43C7-AC75-22ABA14F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098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6</a:t>
            </a:r>
          </a:p>
        </p:txBody>
      </p:sp>
      <p:sp>
        <p:nvSpPr>
          <p:cNvPr id="15" name="tutorial-test-digital_human-007 correct">
            <a:extLst xmlns:a="http://schemas.openxmlformats.org/drawingml/2006/main">
              <a:ext uri="{FF2B5EF4-FFF2-40B4-BE49-F238E27FC236}">
                <a16:creationId xmlns:a16="http://schemas.microsoft.com/office/drawing/2014/main" id="{0DDE4252-1918-4905-B835-BC5CB1B1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098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7</a:t>
            </a:r>
          </a:p>
        </p:txBody>
      </p:sp>
      <p:sp>
        <p:nvSpPr>
          <p:cNvPr id="16" name="tutorial-test-digital_human-008 correct">
            <a:extLst xmlns:a="http://schemas.openxmlformats.org/drawingml/2006/main">
              <a:ext uri="{FF2B5EF4-FFF2-40B4-BE49-F238E27FC236}">
                <a16:creationId xmlns:a16="http://schemas.microsoft.com/office/drawing/2014/main" id="{68620238-2DE5-4593-B059-787C82E7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098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8</a:t>
            </a:r>
          </a:p>
        </p:txBody>
      </p:sp>
      <p:sp>
        <p:nvSpPr>
          <p:cNvPr id="17" name="tutorial-test-digital_human-009 correct">
            <a:extLst xmlns:a="http://schemas.openxmlformats.org/drawingml/2006/main">
              <a:ext uri="{FF2B5EF4-FFF2-40B4-BE49-F238E27FC236}">
                <a16:creationId xmlns:a16="http://schemas.microsoft.com/office/drawing/2014/main" id="{7A13EC2D-9E3E-438F-82E2-D122FF1A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98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9</a:t>
            </a:r>
          </a:p>
        </p:txBody>
      </p:sp>
      <p:sp>
        <p:nvSpPr>
          <p:cNvPr id="18" name="tutorial-test-digital_human-010 wrong">
            <a:extLst xmlns:a="http://schemas.openxmlformats.org/drawingml/2006/main">
              <a:ext uri="{FF2B5EF4-FFF2-40B4-BE49-F238E27FC236}">
                <a16:creationId xmlns:a16="http://schemas.microsoft.com/office/drawing/2014/main" id="{C9AFC6C9-5439-4D0F-80F6-B45CA38B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098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19" name="翻译">
            <a:extLst xmlns:a="http://schemas.openxmlformats.org/drawingml/2006/main">
              <a:ext uri="{FF2B5EF4-FFF2-40B4-BE49-F238E27FC236}">
                <a16:creationId xmlns:a16="http://schemas.microsoft.com/office/drawing/2014/main" id="{0E352BC6-4FA0-4107-8521-EFA20149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4797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翻译</a:t>
            </a:r>
          </a:p>
        </p:txBody>
      </p:sp>
      <p:sp>
        <p:nvSpPr>
          <p:cNvPr id="20" name="tutorial-test-translation-001 correct">
            <a:extLst xmlns:a="http://schemas.openxmlformats.org/drawingml/2006/main">
              <a:ext uri="{FF2B5EF4-FFF2-40B4-BE49-F238E27FC236}">
                <a16:creationId xmlns:a16="http://schemas.microsoft.com/office/drawing/2014/main" id="{2659093E-F4E9-46A2-9A1F-14406956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479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21" name="tutorial-test-translation-002 correct">
            <a:extLst xmlns:a="http://schemas.openxmlformats.org/drawingml/2006/main">
              <a:ext uri="{FF2B5EF4-FFF2-40B4-BE49-F238E27FC236}">
                <a16:creationId xmlns:a16="http://schemas.microsoft.com/office/drawing/2014/main" id="{57EA1BCB-1B91-4CB8-AF5D-F2F8CD25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8479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22" name="tutorial-test-translation-003 correct">
            <a:extLst xmlns:a="http://schemas.openxmlformats.org/drawingml/2006/main">
              <a:ext uri="{FF2B5EF4-FFF2-40B4-BE49-F238E27FC236}">
                <a16:creationId xmlns:a16="http://schemas.microsoft.com/office/drawing/2014/main" id="{9717A22E-0BC2-4101-9229-4AC33F3A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479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3" name="tutorial-test-translation-004 correct">
            <a:extLst xmlns:a="http://schemas.openxmlformats.org/drawingml/2006/main">
              <a:ext uri="{FF2B5EF4-FFF2-40B4-BE49-F238E27FC236}">
                <a16:creationId xmlns:a16="http://schemas.microsoft.com/office/drawing/2014/main" id="{66A0E441-1ADB-42FA-BB17-0CC985C8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479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24" name="tutorial-test-translation-005 correct">
            <a:extLst xmlns:a="http://schemas.openxmlformats.org/drawingml/2006/main">
              <a:ext uri="{FF2B5EF4-FFF2-40B4-BE49-F238E27FC236}">
                <a16:creationId xmlns:a16="http://schemas.microsoft.com/office/drawing/2014/main" id="{BC7E0966-5DC6-4D66-A977-C6200ACE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479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25" name="tutorial-test-translation-006 correct">
            <a:extLst xmlns:a="http://schemas.openxmlformats.org/drawingml/2006/main">
              <a:ext uri="{FF2B5EF4-FFF2-40B4-BE49-F238E27FC236}">
                <a16:creationId xmlns:a16="http://schemas.microsoft.com/office/drawing/2014/main" id="{4066134D-BB7A-4227-90C7-5BE9DF09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479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6</a:t>
            </a:r>
          </a:p>
        </p:txBody>
      </p:sp>
      <p:sp>
        <p:nvSpPr>
          <p:cNvPr id="26" name="tutorial-test-translation-007 correct">
            <a:extLst xmlns:a="http://schemas.openxmlformats.org/drawingml/2006/main">
              <a:ext uri="{FF2B5EF4-FFF2-40B4-BE49-F238E27FC236}">
                <a16:creationId xmlns:a16="http://schemas.microsoft.com/office/drawing/2014/main" id="{BD6F26BC-401C-4E3E-AA9E-6731D715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479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7</a:t>
            </a:r>
          </a:p>
        </p:txBody>
      </p:sp>
      <p:sp>
        <p:nvSpPr>
          <p:cNvPr id="27" name="tutorial-test-translation-008 correct">
            <a:extLst xmlns:a="http://schemas.openxmlformats.org/drawingml/2006/main">
              <a:ext uri="{FF2B5EF4-FFF2-40B4-BE49-F238E27FC236}">
                <a16:creationId xmlns:a16="http://schemas.microsoft.com/office/drawing/2014/main" id="{6F5EFDE7-A817-4325-BAD1-CB117085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479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8</a:t>
            </a:r>
          </a:p>
        </p:txBody>
      </p:sp>
      <p:sp>
        <p:nvSpPr>
          <p:cNvPr id="28" name="tutorial-test-translation-009 correct">
            <a:extLst xmlns:a="http://schemas.openxmlformats.org/drawingml/2006/main">
              <a:ext uri="{FF2B5EF4-FFF2-40B4-BE49-F238E27FC236}">
                <a16:creationId xmlns:a16="http://schemas.microsoft.com/office/drawing/2014/main" id="{EF0B37D1-B7E4-4E6F-B35E-201ACEA7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479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9</a:t>
            </a:r>
          </a:p>
        </p:txBody>
      </p:sp>
      <p:sp>
        <p:nvSpPr>
          <p:cNvPr id="29" name="tutorial-test-translation-010 correct">
            <a:extLst xmlns:a="http://schemas.openxmlformats.org/drawingml/2006/main">
              <a:ext uri="{FF2B5EF4-FFF2-40B4-BE49-F238E27FC236}">
                <a16:creationId xmlns:a16="http://schemas.microsoft.com/office/drawing/2014/main" id="{D38FE4E3-7381-4B05-838B-9045AB3E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479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30" name="工作流">
            <a:extLst xmlns:a="http://schemas.openxmlformats.org/drawingml/2006/main">
              <a:ext uri="{FF2B5EF4-FFF2-40B4-BE49-F238E27FC236}">
                <a16:creationId xmlns:a16="http://schemas.microsoft.com/office/drawing/2014/main" id="{AB0F4FD7-5539-4D53-8AB8-4FEEF7C7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8612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工作流</a:t>
            </a:r>
          </a:p>
        </p:txBody>
      </p:sp>
      <p:sp>
        <p:nvSpPr>
          <p:cNvPr id="31" name="tutorial-test-agent_workflow-001 wrong">
            <a:extLst xmlns:a="http://schemas.openxmlformats.org/drawingml/2006/main">
              <a:ext uri="{FF2B5EF4-FFF2-40B4-BE49-F238E27FC236}">
                <a16:creationId xmlns:a16="http://schemas.microsoft.com/office/drawing/2014/main" id="{EAF9E6AC-E5A5-4880-A77D-A5ECC1F9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861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32" name="tutorial-test-agent_workflow-002 wrong">
            <a:extLst xmlns:a="http://schemas.openxmlformats.org/drawingml/2006/main">
              <a:ext uri="{FF2B5EF4-FFF2-40B4-BE49-F238E27FC236}">
                <a16:creationId xmlns:a16="http://schemas.microsoft.com/office/drawing/2014/main" id="{4E2DAB57-22CA-4C29-BD40-B5C9F992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2861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33" name="tutorial-test-agent_workflow-003 correct">
            <a:extLst xmlns:a="http://schemas.openxmlformats.org/drawingml/2006/main">
              <a:ext uri="{FF2B5EF4-FFF2-40B4-BE49-F238E27FC236}">
                <a16:creationId xmlns:a16="http://schemas.microsoft.com/office/drawing/2014/main" id="{35715A83-FFFD-42FA-AAF8-C0F49345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2861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34" name="tutorial-test-agent_workflow-004 wrong">
            <a:extLst xmlns:a="http://schemas.openxmlformats.org/drawingml/2006/main">
              <a:ext uri="{FF2B5EF4-FFF2-40B4-BE49-F238E27FC236}">
                <a16:creationId xmlns:a16="http://schemas.microsoft.com/office/drawing/2014/main" id="{313BAB97-2FE9-4B21-ABF7-3694F157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861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35" name="tutorial-test-agent_workflow-005 wrong">
            <a:extLst xmlns:a="http://schemas.openxmlformats.org/drawingml/2006/main">
              <a:ext uri="{FF2B5EF4-FFF2-40B4-BE49-F238E27FC236}">
                <a16:creationId xmlns:a16="http://schemas.microsoft.com/office/drawing/2014/main" id="{3AA39BEA-45BE-4ACE-9F9F-6AEEE386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861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36" name="tutorial-test-agent_workflow-006 wrong">
            <a:extLst xmlns:a="http://schemas.openxmlformats.org/drawingml/2006/main">
              <a:ext uri="{FF2B5EF4-FFF2-40B4-BE49-F238E27FC236}">
                <a16:creationId xmlns:a16="http://schemas.microsoft.com/office/drawing/2014/main" id="{89CB5B12-347F-41A4-BF26-6FFCA786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861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6</a:t>
            </a:r>
          </a:p>
        </p:txBody>
      </p:sp>
      <p:sp>
        <p:nvSpPr>
          <p:cNvPr id="37" name="tutorial-test-agent_workflow-007 wrong">
            <a:extLst xmlns:a="http://schemas.openxmlformats.org/drawingml/2006/main">
              <a:ext uri="{FF2B5EF4-FFF2-40B4-BE49-F238E27FC236}">
                <a16:creationId xmlns:a16="http://schemas.microsoft.com/office/drawing/2014/main" id="{F5CE5188-C924-414B-AE5B-C1AC11A3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861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7</a:t>
            </a:r>
          </a:p>
        </p:txBody>
      </p:sp>
      <p:sp>
        <p:nvSpPr>
          <p:cNvPr id="38" name="tutorial-test-agent_workflow-008 correct">
            <a:extLst xmlns:a="http://schemas.openxmlformats.org/drawingml/2006/main">
              <a:ext uri="{FF2B5EF4-FFF2-40B4-BE49-F238E27FC236}">
                <a16:creationId xmlns:a16="http://schemas.microsoft.com/office/drawing/2014/main" id="{01524C05-BBAE-4D37-887B-35EA54E5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861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8</a:t>
            </a:r>
          </a:p>
        </p:txBody>
      </p:sp>
      <p:sp>
        <p:nvSpPr>
          <p:cNvPr id="39" name="tutorial-test-agent_workflow-009 wrong">
            <a:extLst xmlns:a="http://schemas.openxmlformats.org/drawingml/2006/main">
              <a:ext uri="{FF2B5EF4-FFF2-40B4-BE49-F238E27FC236}">
                <a16:creationId xmlns:a16="http://schemas.microsoft.com/office/drawing/2014/main" id="{382918E2-C2DB-4611-905F-D60F0734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861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9</a:t>
            </a:r>
          </a:p>
        </p:txBody>
      </p:sp>
      <p:sp>
        <p:nvSpPr>
          <p:cNvPr id="40" name="tutorial-test-agent_workflow-010 wrong">
            <a:extLst xmlns:a="http://schemas.openxmlformats.org/drawingml/2006/main">
              <a:ext uri="{FF2B5EF4-FFF2-40B4-BE49-F238E27FC236}">
                <a16:creationId xmlns:a16="http://schemas.microsoft.com/office/drawing/2014/main" id="{F2590D0B-19A7-4A8F-B758-5392D6CB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861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41" name="需澄清">
            <a:extLst xmlns:a="http://schemas.openxmlformats.org/drawingml/2006/main">
              <a:ext uri="{FF2B5EF4-FFF2-40B4-BE49-F238E27FC236}">
                <a16:creationId xmlns:a16="http://schemas.microsoft.com/office/drawing/2014/main" id="{3D9192CE-F204-4309-9640-1FF1BE1C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2427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需澄清</a:t>
            </a:r>
          </a:p>
        </p:txBody>
      </p:sp>
      <p:sp>
        <p:nvSpPr>
          <p:cNvPr id="42" name="tutorial-test-clarify-001 wrong">
            <a:extLst xmlns:a="http://schemas.openxmlformats.org/drawingml/2006/main">
              <a:ext uri="{FF2B5EF4-FFF2-40B4-BE49-F238E27FC236}">
                <a16:creationId xmlns:a16="http://schemas.microsoft.com/office/drawing/2014/main" id="{89A87CA6-9A77-4C16-8E7D-3FC6AEBA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242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43" name="tutorial-test-clarify-002 wrong">
            <a:extLst xmlns:a="http://schemas.openxmlformats.org/drawingml/2006/main">
              <a:ext uri="{FF2B5EF4-FFF2-40B4-BE49-F238E27FC236}">
                <a16:creationId xmlns:a16="http://schemas.microsoft.com/office/drawing/2014/main" id="{0D7D8562-22F7-4B9E-BEAB-9FB4AA97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7242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44" name="tutorial-test-clarify-003 wrong">
            <a:extLst xmlns:a="http://schemas.openxmlformats.org/drawingml/2006/main">
              <a:ext uri="{FF2B5EF4-FFF2-40B4-BE49-F238E27FC236}">
                <a16:creationId xmlns:a16="http://schemas.microsoft.com/office/drawing/2014/main" id="{831E1591-1CE1-4833-8C81-C4B0C863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242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45" name="tutorial-test-clarify-004 wrong">
            <a:extLst xmlns:a="http://schemas.openxmlformats.org/drawingml/2006/main">
              <a:ext uri="{FF2B5EF4-FFF2-40B4-BE49-F238E27FC236}">
                <a16:creationId xmlns:a16="http://schemas.microsoft.com/office/drawing/2014/main" id="{7747118D-AF95-4283-B686-AFA713D8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242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46" name="tutorial-test-clarify-005 wrong">
            <a:extLst xmlns:a="http://schemas.openxmlformats.org/drawingml/2006/main">
              <a:ext uri="{FF2B5EF4-FFF2-40B4-BE49-F238E27FC236}">
                <a16:creationId xmlns:a16="http://schemas.microsoft.com/office/drawing/2014/main" id="{0AFAEC06-A904-4D0E-A186-ED2C9385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242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47" name="tutorial-test-clarify-006 wrong">
            <a:extLst xmlns:a="http://schemas.openxmlformats.org/drawingml/2006/main">
              <a:ext uri="{FF2B5EF4-FFF2-40B4-BE49-F238E27FC236}">
                <a16:creationId xmlns:a16="http://schemas.microsoft.com/office/drawing/2014/main" id="{6A1643DA-2A57-417F-842A-A6B98870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242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6</a:t>
            </a:r>
          </a:p>
        </p:txBody>
      </p:sp>
      <p:sp>
        <p:nvSpPr>
          <p:cNvPr id="48" name="tutorial-test-clarify-007 wrong">
            <a:extLst xmlns:a="http://schemas.openxmlformats.org/drawingml/2006/main">
              <a:ext uri="{FF2B5EF4-FFF2-40B4-BE49-F238E27FC236}">
                <a16:creationId xmlns:a16="http://schemas.microsoft.com/office/drawing/2014/main" id="{56BB7388-F9A5-4A55-A268-C7D0D2E5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242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7</a:t>
            </a:r>
          </a:p>
        </p:txBody>
      </p:sp>
      <p:sp>
        <p:nvSpPr>
          <p:cNvPr id="49" name="tutorial-test-clarify-008 wrong">
            <a:extLst xmlns:a="http://schemas.openxmlformats.org/drawingml/2006/main">
              <a:ext uri="{FF2B5EF4-FFF2-40B4-BE49-F238E27FC236}">
                <a16:creationId xmlns:a16="http://schemas.microsoft.com/office/drawing/2014/main" id="{3D94C999-3759-4203-877E-B81303F3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242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8</a:t>
            </a:r>
          </a:p>
        </p:txBody>
      </p:sp>
      <p:sp>
        <p:nvSpPr>
          <p:cNvPr id="50" name="tutorial-test-clarify-009 wrong">
            <a:extLst xmlns:a="http://schemas.openxmlformats.org/drawingml/2006/main">
              <a:ext uri="{FF2B5EF4-FFF2-40B4-BE49-F238E27FC236}">
                <a16:creationId xmlns:a16="http://schemas.microsoft.com/office/drawing/2014/main" id="{88E33558-0600-4192-A8E9-C38C251D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242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9</a:t>
            </a:r>
          </a:p>
        </p:txBody>
      </p:sp>
      <p:sp>
        <p:nvSpPr>
          <p:cNvPr id="51" name="tutorial-test-clarify-010 wrong">
            <a:extLst xmlns:a="http://schemas.openxmlformats.org/drawingml/2006/main">
              <a:ext uri="{FF2B5EF4-FFF2-40B4-BE49-F238E27FC236}">
                <a16:creationId xmlns:a16="http://schemas.microsoft.com/office/drawing/2014/main" id="{161B9C05-2736-402C-A9EF-528CFDED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242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52" name="其他">
            <a:extLst xmlns:a="http://schemas.openxmlformats.org/drawingml/2006/main">
              <a:ext uri="{FF2B5EF4-FFF2-40B4-BE49-F238E27FC236}">
                <a16:creationId xmlns:a16="http://schemas.microsoft.com/office/drawing/2014/main" id="{7F316B94-78A8-4C55-9E2D-3DD0F84E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6242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其他</a:t>
            </a:r>
          </a:p>
        </p:txBody>
      </p:sp>
      <p:sp>
        <p:nvSpPr>
          <p:cNvPr id="53" name="tutorial-test-other-001 wrong">
            <a:extLst xmlns:a="http://schemas.openxmlformats.org/drawingml/2006/main">
              <a:ext uri="{FF2B5EF4-FFF2-40B4-BE49-F238E27FC236}">
                <a16:creationId xmlns:a16="http://schemas.microsoft.com/office/drawing/2014/main" id="{A0F63E56-AD2E-48EE-98EE-1F4AAC8B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624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54" name="tutorial-test-other-002 wrong">
            <a:extLst xmlns:a="http://schemas.openxmlformats.org/drawingml/2006/main">
              <a:ext uri="{FF2B5EF4-FFF2-40B4-BE49-F238E27FC236}">
                <a16:creationId xmlns:a16="http://schemas.microsoft.com/office/drawing/2014/main" id="{D4A95190-C7C9-4E22-9E23-FC633B34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1624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55" name="tutorial-test-other-003 correct">
            <a:extLst xmlns:a="http://schemas.openxmlformats.org/drawingml/2006/main">
              <a:ext uri="{FF2B5EF4-FFF2-40B4-BE49-F238E27FC236}">
                <a16:creationId xmlns:a16="http://schemas.microsoft.com/office/drawing/2014/main" id="{1987E812-0176-4136-9083-737BF5B3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1624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56" name="tutorial-test-other-004 wrong">
            <a:extLst xmlns:a="http://schemas.openxmlformats.org/drawingml/2006/main">
              <a:ext uri="{FF2B5EF4-FFF2-40B4-BE49-F238E27FC236}">
                <a16:creationId xmlns:a16="http://schemas.microsoft.com/office/drawing/2014/main" id="{4C424223-9D5B-485A-97B0-CB9EC1F2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624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57" name="tutorial-test-other-005 wrong">
            <a:extLst xmlns:a="http://schemas.openxmlformats.org/drawingml/2006/main">
              <a:ext uri="{FF2B5EF4-FFF2-40B4-BE49-F238E27FC236}">
                <a16:creationId xmlns:a16="http://schemas.microsoft.com/office/drawing/2014/main" id="{7502F259-CCC8-4979-A996-E1952A3E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624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58" name="tutorial-test-other-006 correct">
            <a:extLst xmlns:a="http://schemas.openxmlformats.org/drawingml/2006/main">
              <a:ext uri="{FF2B5EF4-FFF2-40B4-BE49-F238E27FC236}">
                <a16:creationId xmlns:a16="http://schemas.microsoft.com/office/drawing/2014/main" id="{42B2B1B5-1872-470C-974A-88133FAE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1624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6</a:t>
            </a:r>
          </a:p>
        </p:txBody>
      </p:sp>
      <p:sp>
        <p:nvSpPr>
          <p:cNvPr id="59" name="tutorial-test-other-007 wrong">
            <a:extLst xmlns:a="http://schemas.openxmlformats.org/drawingml/2006/main">
              <a:ext uri="{FF2B5EF4-FFF2-40B4-BE49-F238E27FC236}">
                <a16:creationId xmlns:a16="http://schemas.microsoft.com/office/drawing/2014/main" id="{24DAA426-2BC2-4072-B072-58DEFABA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624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7</a:t>
            </a:r>
          </a:p>
        </p:txBody>
      </p:sp>
      <p:sp>
        <p:nvSpPr>
          <p:cNvPr id="60" name="tutorial-test-other-008 wrong">
            <a:extLst xmlns:a="http://schemas.openxmlformats.org/drawingml/2006/main">
              <a:ext uri="{FF2B5EF4-FFF2-40B4-BE49-F238E27FC236}">
                <a16:creationId xmlns:a16="http://schemas.microsoft.com/office/drawing/2014/main" id="{1F3EBD4C-8100-46EF-9DCF-5196A250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624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8</a:t>
            </a:r>
          </a:p>
        </p:txBody>
      </p:sp>
      <p:sp>
        <p:nvSpPr>
          <p:cNvPr id="61" name="tutorial-test-other-009 correct">
            <a:extLst xmlns:a="http://schemas.openxmlformats.org/drawingml/2006/main">
              <a:ext uri="{FF2B5EF4-FFF2-40B4-BE49-F238E27FC236}">
                <a16:creationId xmlns:a16="http://schemas.microsoft.com/office/drawing/2014/main" id="{E1144A5D-3ECA-4637-B1F6-154847D7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624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9</a:t>
            </a:r>
          </a:p>
        </p:txBody>
      </p:sp>
      <p:sp>
        <p:nvSpPr>
          <p:cNvPr id="62" name="tutorial-test-other-010 wrong">
            <a:extLst xmlns:a="http://schemas.openxmlformats.org/drawingml/2006/main">
              <a:ext uri="{FF2B5EF4-FFF2-40B4-BE49-F238E27FC236}">
                <a16:creationId xmlns:a16="http://schemas.microsoft.com/office/drawing/2014/main" id="{31A8B44E-F4AE-4B6C-B0EC-D903D41D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624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63" name="数字人">
            <a:extLst xmlns:a="http://schemas.openxmlformats.org/drawingml/2006/main">
              <a:ext uri="{FF2B5EF4-FFF2-40B4-BE49-F238E27FC236}">
                <a16:creationId xmlns:a16="http://schemas.microsoft.com/office/drawing/2014/main" id="{51977F5B-212A-48F9-8410-FBBDDE7A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0982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数字人</a:t>
            </a:r>
          </a:p>
        </p:txBody>
      </p:sp>
      <p:sp>
        <p:nvSpPr>
          <p:cNvPr id="64" name="tutorial-test-digital_human-001 correct">
            <a:extLst xmlns:a="http://schemas.openxmlformats.org/drawingml/2006/main">
              <a:ext uri="{FF2B5EF4-FFF2-40B4-BE49-F238E27FC236}">
                <a16:creationId xmlns:a16="http://schemas.microsoft.com/office/drawing/2014/main" id="{23CF1774-B447-460B-9793-78DC0C61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098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65" name="tutorial-test-digital_human-002 correct">
            <a:extLst xmlns:a="http://schemas.openxmlformats.org/drawingml/2006/main">
              <a:ext uri="{FF2B5EF4-FFF2-40B4-BE49-F238E27FC236}">
                <a16:creationId xmlns:a16="http://schemas.microsoft.com/office/drawing/2014/main" id="{FEF4C0D7-FE24-4068-A086-213B1840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098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66" name="tutorial-test-digital_human-003 correct">
            <a:extLst xmlns:a="http://schemas.openxmlformats.org/drawingml/2006/main">
              <a:ext uri="{FF2B5EF4-FFF2-40B4-BE49-F238E27FC236}">
                <a16:creationId xmlns:a16="http://schemas.microsoft.com/office/drawing/2014/main" id="{7EC6867F-6EA7-4EFF-885E-B62EA37B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098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67" name="tutorial-test-digital_human-004 correct">
            <a:extLst xmlns:a="http://schemas.openxmlformats.org/drawingml/2006/main">
              <a:ext uri="{FF2B5EF4-FFF2-40B4-BE49-F238E27FC236}">
                <a16:creationId xmlns:a16="http://schemas.microsoft.com/office/drawing/2014/main" id="{1D901161-F53C-4D92-958A-1793E579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098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68" name="tutorial-test-digital_human-005 correct">
            <a:extLst xmlns:a="http://schemas.openxmlformats.org/drawingml/2006/main">
              <a:ext uri="{FF2B5EF4-FFF2-40B4-BE49-F238E27FC236}">
                <a16:creationId xmlns:a16="http://schemas.microsoft.com/office/drawing/2014/main" id="{C3609453-EF03-4813-A77B-CF273494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098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69" name="tutorial-test-digital_human-006 correct">
            <a:extLst xmlns:a="http://schemas.openxmlformats.org/drawingml/2006/main">
              <a:ext uri="{FF2B5EF4-FFF2-40B4-BE49-F238E27FC236}">
                <a16:creationId xmlns:a16="http://schemas.microsoft.com/office/drawing/2014/main" id="{C23624CA-209E-4644-9544-664032B4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098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6</a:t>
            </a:r>
          </a:p>
        </p:txBody>
      </p:sp>
      <p:sp>
        <p:nvSpPr>
          <p:cNvPr id="70" name="tutorial-test-digital_human-007 correct">
            <a:extLst xmlns:a="http://schemas.openxmlformats.org/drawingml/2006/main">
              <a:ext uri="{FF2B5EF4-FFF2-40B4-BE49-F238E27FC236}">
                <a16:creationId xmlns:a16="http://schemas.microsoft.com/office/drawing/2014/main" id="{DFFEB3C7-1CC4-4CE9-B3CA-DF53DDB3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098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7</a:t>
            </a:r>
          </a:p>
        </p:txBody>
      </p:sp>
      <p:sp>
        <p:nvSpPr>
          <p:cNvPr id="71" name="tutorial-test-digital_human-008 correct">
            <a:extLst xmlns:a="http://schemas.openxmlformats.org/drawingml/2006/main">
              <a:ext uri="{FF2B5EF4-FFF2-40B4-BE49-F238E27FC236}">
                <a16:creationId xmlns:a16="http://schemas.microsoft.com/office/drawing/2014/main" id="{4E9106C1-8B4B-4B62-BE5E-41E1DA04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4098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8</a:t>
            </a:r>
          </a:p>
        </p:txBody>
      </p:sp>
      <p:sp>
        <p:nvSpPr>
          <p:cNvPr id="72" name="tutorial-test-digital_human-009 correct">
            <a:extLst xmlns:a="http://schemas.openxmlformats.org/drawingml/2006/main">
              <a:ext uri="{FF2B5EF4-FFF2-40B4-BE49-F238E27FC236}">
                <a16:creationId xmlns:a16="http://schemas.microsoft.com/office/drawing/2014/main" id="{F835DA55-1367-4E42-9F1C-443ED8EA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098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9</a:t>
            </a:r>
          </a:p>
        </p:txBody>
      </p:sp>
      <p:sp>
        <p:nvSpPr>
          <p:cNvPr id="73" name="tutorial-test-digital_human-010 correct">
            <a:extLst xmlns:a="http://schemas.openxmlformats.org/drawingml/2006/main">
              <a:ext uri="{FF2B5EF4-FFF2-40B4-BE49-F238E27FC236}">
                <a16:creationId xmlns:a16="http://schemas.microsoft.com/office/drawing/2014/main" id="{860AD88D-1B3F-45E2-A627-365383EB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4098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74" name="翻译">
            <a:extLst xmlns:a="http://schemas.openxmlformats.org/drawingml/2006/main">
              <a:ext uri="{FF2B5EF4-FFF2-40B4-BE49-F238E27FC236}">
                <a16:creationId xmlns:a16="http://schemas.microsoft.com/office/drawing/2014/main" id="{86623B89-F7C5-48DD-9D05-804483D1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4797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翻译</a:t>
            </a:r>
          </a:p>
        </p:txBody>
      </p:sp>
      <p:sp>
        <p:nvSpPr>
          <p:cNvPr id="75" name="tutorial-test-translation-001 correct">
            <a:extLst xmlns:a="http://schemas.openxmlformats.org/drawingml/2006/main">
              <a:ext uri="{FF2B5EF4-FFF2-40B4-BE49-F238E27FC236}">
                <a16:creationId xmlns:a16="http://schemas.microsoft.com/office/drawing/2014/main" id="{84D5709B-BA9B-4687-9E45-092757D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479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76" name="tutorial-test-translation-002 correct">
            <a:extLst xmlns:a="http://schemas.openxmlformats.org/drawingml/2006/main">
              <a:ext uri="{FF2B5EF4-FFF2-40B4-BE49-F238E27FC236}">
                <a16:creationId xmlns:a16="http://schemas.microsoft.com/office/drawing/2014/main" id="{8CA6EBBF-6E17-4450-B9E5-10C28B99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479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77" name="tutorial-test-translation-003 correct">
            <a:extLst xmlns:a="http://schemas.openxmlformats.org/drawingml/2006/main">
              <a:ext uri="{FF2B5EF4-FFF2-40B4-BE49-F238E27FC236}">
                <a16:creationId xmlns:a16="http://schemas.microsoft.com/office/drawing/2014/main" id="{37063578-7D32-4C59-86FF-4302F722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479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78" name="tutorial-test-translation-004 correct">
            <a:extLst xmlns:a="http://schemas.openxmlformats.org/drawingml/2006/main">
              <a:ext uri="{FF2B5EF4-FFF2-40B4-BE49-F238E27FC236}">
                <a16:creationId xmlns:a16="http://schemas.microsoft.com/office/drawing/2014/main" id="{C87EF850-0E0A-45A1-90AD-59FC656F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479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79" name="tutorial-test-translation-005 wrong">
            <a:extLst xmlns:a="http://schemas.openxmlformats.org/drawingml/2006/main">
              <a:ext uri="{FF2B5EF4-FFF2-40B4-BE49-F238E27FC236}">
                <a16:creationId xmlns:a16="http://schemas.microsoft.com/office/drawing/2014/main" id="{9636F036-CA69-4B36-BC57-A2DA16D9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479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80" name="tutorial-test-translation-006 correct">
            <a:extLst xmlns:a="http://schemas.openxmlformats.org/drawingml/2006/main">
              <a:ext uri="{FF2B5EF4-FFF2-40B4-BE49-F238E27FC236}">
                <a16:creationId xmlns:a16="http://schemas.microsoft.com/office/drawing/2014/main" id="{F9C9A55B-4B8D-44BF-B3D2-73335202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479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6</a:t>
            </a:r>
          </a:p>
        </p:txBody>
      </p:sp>
      <p:sp>
        <p:nvSpPr>
          <p:cNvPr id="81" name="tutorial-test-translation-007 correct">
            <a:extLst xmlns:a="http://schemas.openxmlformats.org/drawingml/2006/main">
              <a:ext uri="{FF2B5EF4-FFF2-40B4-BE49-F238E27FC236}">
                <a16:creationId xmlns:a16="http://schemas.microsoft.com/office/drawing/2014/main" id="{26ADE0E2-8109-423B-AF85-09F442EB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479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7</a:t>
            </a:r>
          </a:p>
        </p:txBody>
      </p:sp>
      <p:sp>
        <p:nvSpPr>
          <p:cNvPr id="82" name="tutorial-test-translation-008 wrong">
            <a:extLst xmlns:a="http://schemas.openxmlformats.org/drawingml/2006/main">
              <a:ext uri="{FF2B5EF4-FFF2-40B4-BE49-F238E27FC236}">
                <a16:creationId xmlns:a16="http://schemas.microsoft.com/office/drawing/2014/main" id="{28C3E1F4-E43F-4677-A3E7-D390802C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8479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8</a:t>
            </a:r>
          </a:p>
        </p:txBody>
      </p:sp>
      <p:sp>
        <p:nvSpPr>
          <p:cNvPr id="83" name="tutorial-test-translation-009 correct">
            <a:extLst xmlns:a="http://schemas.openxmlformats.org/drawingml/2006/main">
              <a:ext uri="{FF2B5EF4-FFF2-40B4-BE49-F238E27FC236}">
                <a16:creationId xmlns:a16="http://schemas.microsoft.com/office/drawing/2014/main" id="{DA0B8CCF-011A-427E-BD2B-54A9DD19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479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9</a:t>
            </a:r>
          </a:p>
        </p:txBody>
      </p:sp>
      <p:sp>
        <p:nvSpPr>
          <p:cNvPr id="84" name="tutorial-test-translation-010 correct">
            <a:extLst xmlns:a="http://schemas.openxmlformats.org/drawingml/2006/main">
              <a:ext uri="{FF2B5EF4-FFF2-40B4-BE49-F238E27FC236}">
                <a16:creationId xmlns:a16="http://schemas.microsoft.com/office/drawing/2014/main" id="{8F786F6E-1195-40C4-A33B-2D0CB3C0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8479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85" name="工作流">
            <a:extLst xmlns:a="http://schemas.openxmlformats.org/drawingml/2006/main">
              <a:ext uri="{FF2B5EF4-FFF2-40B4-BE49-F238E27FC236}">
                <a16:creationId xmlns:a16="http://schemas.microsoft.com/office/drawing/2014/main" id="{9FE946A6-6F4F-4FB6-93D2-1EA734B5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8612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工作流</a:t>
            </a:r>
          </a:p>
        </p:txBody>
      </p:sp>
      <p:sp>
        <p:nvSpPr>
          <p:cNvPr id="86" name="tutorial-test-agent_workflow-001 correct">
            <a:extLst xmlns:a="http://schemas.openxmlformats.org/drawingml/2006/main">
              <a:ext uri="{FF2B5EF4-FFF2-40B4-BE49-F238E27FC236}">
                <a16:creationId xmlns:a16="http://schemas.microsoft.com/office/drawing/2014/main" id="{24D6D01E-1D86-4B7C-8215-7FE4C406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861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87" name="tutorial-test-agent_workflow-002 wrong">
            <a:extLst xmlns:a="http://schemas.openxmlformats.org/drawingml/2006/main">
              <a:ext uri="{FF2B5EF4-FFF2-40B4-BE49-F238E27FC236}">
                <a16:creationId xmlns:a16="http://schemas.microsoft.com/office/drawing/2014/main" id="{65473792-25AE-4D9B-BBDF-A592D939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861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88" name="tutorial-test-agent_workflow-003 correct">
            <a:extLst xmlns:a="http://schemas.openxmlformats.org/drawingml/2006/main">
              <a:ext uri="{FF2B5EF4-FFF2-40B4-BE49-F238E27FC236}">
                <a16:creationId xmlns:a16="http://schemas.microsoft.com/office/drawing/2014/main" id="{391D5FAD-B4D8-4B80-9B08-3E3F7018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861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89" name="tutorial-test-agent_workflow-004 wrong">
            <a:extLst xmlns:a="http://schemas.openxmlformats.org/drawingml/2006/main">
              <a:ext uri="{FF2B5EF4-FFF2-40B4-BE49-F238E27FC236}">
                <a16:creationId xmlns:a16="http://schemas.microsoft.com/office/drawing/2014/main" id="{560CBE1D-00C8-43DA-AB25-31677F88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861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90" name="tutorial-test-agent_workflow-005 correct">
            <a:extLst xmlns:a="http://schemas.openxmlformats.org/drawingml/2006/main">
              <a:ext uri="{FF2B5EF4-FFF2-40B4-BE49-F238E27FC236}">
                <a16:creationId xmlns:a16="http://schemas.microsoft.com/office/drawing/2014/main" id="{E1DC4C3C-A000-4E9E-9AA4-41F1C09D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861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91" name="tutorial-test-agent_workflow-006 correct">
            <a:extLst xmlns:a="http://schemas.openxmlformats.org/drawingml/2006/main">
              <a:ext uri="{FF2B5EF4-FFF2-40B4-BE49-F238E27FC236}">
                <a16:creationId xmlns:a16="http://schemas.microsoft.com/office/drawing/2014/main" id="{A1774851-76D3-4EFE-B364-315AAA5E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861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6</a:t>
            </a:r>
          </a:p>
        </p:txBody>
      </p:sp>
      <p:sp>
        <p:nvSpPr>
          <p:cNvPr id="92" name="tutorial-test-agent_workflow-007 correct">
            <a:extLst xmlns:a="http://schemas.openxmlformats.org/drawingml/2006/main">
              <a:ext uri="{FF2B5EF4-FFF2-40B4-BE49-F238E27FC236}">
                <a16:creationId xmlns:a16="http://schemas.microsoft.com/office/drawing/2014/main" id="{84EB9500-225C-4162-B4B4-E428CA49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2861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7</a:t>
            </a:r>
          </a:p>
        </p:txBody>
      </p:sp>
      <p:sp>
        <p:nvSpPr>
          <p:cNvPr id="93" name="tutorial-test-agent_workflow-008 correct">
            <a:extLst xmlns:a="http://schemas.openxmlformats.org/drawingml/2006/main">
              <a:ext uri="{FF2B5EF4-FFF2-40B4-BE49-F238E27FC236}">
                <a16:creationId xmlns:a16="http://schemas.microsoft.com/office/drawing/2014/main" id="{B15AC2C3-5ED7-4045-948A-256F8B1B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2861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8</a:t>
            </a:r>
          </a:p>
        </p:txBody>
      </p:sp>
      <p:sp>
        <p:nvSpPr>
          <p:cNvPr id="94" name="tutorial-test-agent_workflow-009 correct">
            <a:extLst xmlns:a="http://schemas.openxmlformats.org/drawingml/2006/main">
              <a:ext uri="{FF2B5EF4-FFF2-40B4-BE49-F238E27FC236}">
                <a16:creationId xmlns:a16="http://schemas.microsoft.com/office/drawing/2014/main" id="{D56E53F2-3779-42FA-AA26-54D78DB0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9</a:t>
            </a:r>
          </a:p>
        </p:txBody>
      </p:sp>
      <p:sp>
        <p:nvSpPr>
          <p:cNvPr id="95" name="tutorial-test-agent_workflow-010 correct">
            <a:extLst xmlns:a="http://schemas.openxmlformats.org/drawingml/2006/main">
              <a:ext uri="{FF2B5EF4-FFF2-40B4-BE49-F238E27FC236}">
                <a16:creationId xmlns:a16="http://schemas.microsoft.com/office/drawing/2014/main" id="{6C76D9A2-F0FF-4DC9-AE7E-78290484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2861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96" name="需澄清">
            <a:extLst xmlns:a="http://schemas.openxmlformats.org/drawingml/2006/main">
              <a:ext uri="{FF2B5EF4-FFF2-40B4-BE49-F238E27FC236}">
                <a16:creationId xmlns:a16="http://schemas.microsoft.com/office/drawing/2014/main" id="{F7AA35A3-3555-4A4D-9FD2-1B47DC70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2427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需澄清</a:t>
            </a:r>
          </a:p>
        </p:txBody>
      </p:sp>
      <p:sp>
        <p:nvSpPr>
          <p:cNvPr id="97" name="tutorial-test-clarify-001 wrong">
            <a:extLst xmlns:a="http://schemas.openxmlformats.org/drawingml/2006/main">
              <a:ext uri="{FF2B5EF4-FFF2-40B4-BE49-F238E27FC236}">
                <a16:creationId xmlns:a16="http://schemas.microsoft.com/office/drawing/2014/main" id="{586DD5B5-E85C-4D7D-8659-5E06F8F7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242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98" name="tutorial-test-clarify-002 wrong">
            <a:extLst xmlns:a="http://schemas.openxmlformats.org/drawingml/2006/main">
              <a:ext uri="{FF2B5EF4-FFF2-40B4-BE49-F238E27FC236}">
                <a16:creationId xmlns:a16="http://schemas.microsoft.com/office/drawing/2014/main" id="{451F1A49-4597-447A-8ADB-7A416DF0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242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99" name="tutorial-test-clarify-003 wrong">
            <a:extLst xmlns:a="http://schemas.openxmlformats.org/drawingml/2006/main">
              <a:ext uri="{FF2B5EF4-FFF2-40B4-BE49-F238E27FC236}">
                <a16:creationId xmlns:a16="http://schemas.microsoft.com/office/drawing/2014/main" id="{541A42AE-8A40-4451-8F42-70727D62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242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100" name="tutorial-test-clarify-004 wrong">
            <a:extLst xmlns:a="http://schemas.openxmlformats.org/drawingml/2006/main">
              <a:ext uri="{FF2B5EF4-FFF2-40B4-BE49-F238E27FC236}">
                <a16:creationId xmlns:a16="http://schemas.microsoft.com/office/drawing/2014/main" id="{CE615B1F-1CA4-4F6F-8669-D4B521B8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242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101" name="tutorial-test-clarify-005 wrong">
            <a:extLst xmlns:a="http://schemas.openxmlformats.org/drawingml/2006/main">
              <a:ext uri="{FF2B5EF4-FFF2-40B4-BE49-F238E27FC236}">
                <a16:creationId xmlns:a16="http://schemas.microsoft.com/office/drawing/2014/main" id="{FBE9C4E2-8078-400C-B135-0D8085EC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242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102" name="tutorial-test-clarify-006 wrong">
            <a:extLst xmlns:a="http://schemas.openxmlformats.org/drawingml/2006/main">
              <a:ext uri="{FF2B5EF4-FFF2-40B4-BE49-F238E27FC236}">
                <a16:creationId xmlns:a16="http://schemas.microsoft.com/office/drawing/2014/main" id="{9B2003EE-E514-4941-991D-B87F198A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242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6</a:t>
            </a:r>
          </a:p>
        </p:txBody>
      </p:sp>
      <p:sp>
        <p:nvSpPr>
          <p:cNvPr id="103" name="tutorial-test-clarify-007 wrong">
            <a:extLst xmlns:a="http://schemas.openxmlformats.org/drawingml/2006/main">
              <a:ext uri="{FF2B5EF4-FFF2-40B4-BE49-F238E27FC236}">
                <a16:creationId xmlns:a16="http://schemas.microsoft.com/office/drawing/2014/main" id="{CD5DFA69-2A6A-4307-BE7A-F39B8206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242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7</a:t>
            </a:r>
          </a:p>
        </p:txBody>
      </p:sp>
      <p:sp>
        <p:nvSpPr>
          <p:cNvPr id="104" name="tutorial-test-clarify-008 wrong">
            <a:extLst xmlns:a="http://schemas.openxmlformats.org/drawingml/2006/main">
              <a:ext uri="{FF2B5EF4-FFF2-40B4-BE49-F238E27FC236}">
                <a16:creationId xmlns:a16="http://schemas.microsoft.com/office/drawing/2014/main" id="{032F74FD-73FA-4058-9A32-60DD003C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7242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8</a:t>
            </a:r>
          </a:p>
        </p:txBody>
      </p:sp>
      <p:sp>
        <p:nvSpPr>
          <p:cNvPr id="105" name="tutorial-test-clarify-009 wrong">
            <a:extLst xmlns:a="http://schemas.openxmlformats.org/drawingml/2006/main">
              <a:ext uri="{FF2B5EF4-FFF2-40B4-BE49-F238E27FC236}">
                <a16:creationId xmlns:a16="http://schemas.microsoft.com/office/drawing/2014/main" id="{FEF9E03A-6C55-4627-B3D2-91AA44E7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7242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9</a:t>
            </a:r>
          </a:p>
        </p:txBody>
      </p:sp>
      <p:sp>
        <p:nvSpPr>
          <p:cNvPr id="106" name="tutorial-test-clarify-010 wrong">
            <a:extLst xmlns:a="http://schemas.openxmlformats.org/drawingml/2006/main">
              <a:ext uri="{FF2B5EF4-FFF2-40B4-BE49-F238E27FC236}">
                <a16:creationId xmlns:a16="http://schemas.microsoft.com/office/drawing/2014/main" id="{F228952E-BF51-46CE-B413-0A633CF2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7242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107" name="其他">
            <a:extLst xmlns:a="http://schemas.openxmlformats.org/drawingml/2006/main">
              <a:ext uri="{FF2B5EF4-FFF2-40B4-BE49-F238E27FC236}">
                <a16:creationId xmlns:a16="http://schemas.microsoft.com/office/drawing/2014/main" id="{DCE5E91E-925D-4C32-92A3-94A0F652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6242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其他</a:t>
            </a:r>
          </a:p>
        </p:txBody>
      </p:sp>
      <p:sp>
        <p:nvSpPr>
          <p:cNvPr id="108" name="tutorial-test-other-001 wrong">
            <a:extLst xmlns:a="http://schemas.openxmlformats.org/drawingml/2006/main">
              <a:ext uri="{FF2B5EF4-FFF2-40B4-BE49-F238E27FC236}">
                <a16:creationId xmlns:a16="http://schemas.microsoft.com/office/drawing/2014/main" id="{EEF261F1-1C92-4D09-A397-B435E460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624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09" name="tutorial-test-other-002 correct">
            <a:extLst xmlns:a="http://schemas.openxmlformats.org/drawingml/2006/main">
              <a:ext uri="{FF2B5EF4-FFF2-40B4-BE49-F238E27FC236}">
                <a16:creationId xmlns:a16="http://schemas.microsoft.com/office/drawing/2014/main" id="{8DA120CA-3B4A-4944-AF2F-9A2FAA38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624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10" name="tutorial-test-other-003 correct">
            <a:extLst xmlns:a="http://schemas.openxmlformats.org/drawingml/2006/main">
              <a:ext uri="{FF2B5EF4-FFF2-40B4-BE49-F238E27FC236}">
                <a16:creationId xmlns:a16="http://schemas.microsoft.com/office/drawing/2014/main" id="{CC5B93AE-747A-4B2A-ADF0-3DEC68F1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624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111" name="tutorial-test-other-004 correct">
            <a:extLst xmlns:a="http://schemas.openxmlformats.org/drawingml/2006/main">
              <a:ext uri="{FF2B5EF4-FFF2-40B4-BE49-F238E27FC236}">
                <a16:creationId xmlns:a16="http://schemas.microsoft.com/office/drawing/2014/main" id="{7074D158-09D4-4B15-8E68-06C3360E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624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112" name="tutorial-test-other-005 correct">
            <a:extLst xmlns:a="http://schemas.openxmlformats.org/drawingml/2006/main">
              <a:ext uri="{FF2B5EF4-FFF2-40B4-BE49-F238E27FC236}">
                <a16:creationId xmlns:a16="http://schemas.microsoft.com/office/drawing/2014/main" id="{144E3607-90D8-4111-8FD3-5F70D0C1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624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113" name="tutorial-test-other-006 correct">
            <a:extLst xmlns:a="http://schemas.openxmlformats.org/drawingml/2006/main">
              <a:ext uri="{FF2B5EF4-FFF2-40B4-BE49-F238E27FC236}">
                <a16:creationId xmlns:a16="http://schemas.microsoft.com/office/drawing/2014/main" id="{87027C96-386B-4D4D-8A6F-3AA9D3E5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624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6</a:t>
            </a:r>
          </a:p>
        </p:txBody>
      </p:sp>
      <p:sp>
        <p:nvSpPr>
          <p:cNvPr id="114" name="tutorial-test-other-007 correct">
            <a:extLst xmlns:a="http://schemas.openxmlformats.org/drawingml/2006/main">
              <a:ext uri="{FF2B5EF4-FFF2-40B4-BE49-F238E27FC236}">
                <a16:creationId xmlns:a16="http://schemas.microsoft.com/office/drawing/2014/main" id="{6825A929-F20A-488E-B1CD-05D2524E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1624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7</a:t>
            </a:r>
          </a:p>
        </p:txBody>
      </p:sp>
      <p:sp>
        <p:nvSpPr>
          <p:cNvPr id="115" name="tutorial-test-other-008 correct">
            <a:extLst xmlns:a="http://schemas.openxmlformats.org/drawingml/2006/main">
              <a:ext uri="{FF2B5EF4-FFF2-40B4-BE49-F238E27FC236}">
                <a16:creationId xmlns:a16="http://schemas.microsoft.com/office/drawing/2014/main" id="{36CAF5BB-4AD4-4B93-807F-6138A2A8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1624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8</a:t>
            </a:r>
          </a:p>
        </p:txBody>
      </p:sp>
      <p:sp>
        <p:nvSpPr>
          <p:cNvPr id="116" name="tutorial-test-other-009 correct">
            <a:extLst xmlns:a="http://schemas.openxmlformats.org/drawingml/2006/main">
              <a:ext uri="{FF2B5EF4-FFF2-40B4-BE49-F238E27FC236}">
                <a16:creationId xmlns:a16="http://schemas.microsoft.com/office/drawing/2014/main" id="{6C161E76-52D0-481B-A806-22602FE7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624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9</a:t>
            </a:r>
          </a:p>
        </p:txBody>
      </p:sp>
      <p:sp>
        <p:nvSpPr>
          <p:cNvPr id="117" name="tutorial-test-other-010 correct">
            <a:extLst xmlns:a="http://schemas.openxmlformats.org/drawingml/2006/main">
              <a:ext uri="{FF2B5EF4-FFF2-40B4-BE49-F238E27FC236}">
                <a16:creationId xmlns:a16="http://schemas.microsoft.com/office/drawing/2014/main" id="{A27426D2-D6B7-42CB-9DFD-D56BBAD7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1624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118" name="48%">
            <a:extLst xmlns:a="http://schemas.openxmlformats.org/drawingml/2006/main">
              <a:ext uri="{FF2B5EF4-FFF2-40B4-BE49-F238E27FC236}">
                <a16:creationId xmlns:a16="http://schemas.microsoft.com/office/drawing/2014/main" id="{1A09D7A6-2F2F-421E-A97B-AE64DAA6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05375"/>
            <a:ext cx="219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48%</a:t>
            </a:r>
          </a:p>
        </p:txBody>
      </p:sp>
      <p:sp>
        <p:nvSpPr>
          <p:cNvPr id="119" name="70%">
            <a:extLst xmlns:a="http://schemas.openxmlformats.org/drawingml/2006/main">
              <a:ext uri="{FF2B5EF4-FFF2-40B4-BE49-F238E27FC236}">
                <a16:creationId xmlns:a16="http://schemas.microsoft.com/office/drawing/2014/main" id="{599C081F-BD86-46FD-B7E9-86F12C58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05375"/>
            <a:ext cx="219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rPr>
              <a:t>70%</a:t>
            </a:r>
          </a:p>
        </p:txBody>
      </p:sp>
      <p:sp>
        <p:nvSpPr>
          <p:cNvPr id="120" name="13题改对，2题改错，净增11题">
            <a:extLst xmlns:a="http://schemas.openxmlformats.org/drawingml/2006/main">
              <a:ext uri="{FF2B5EF4-FFF2-40B4-BE49-F238E27FC236}">
                <a16:creationId xmlns:a16="http://schemas.microsoft.com/office/drawing/2014/main" id="{B656737F-E2DA-4D68-AF26-28CB8F79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24500"/>
            <a:ext cx="8743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13题改对，2题改错，净增11题</a:t>
            </a:r>
          </a:p>
        </p:txBody>
      </p:sp>
    </p:spTree>
    <p:extLst>
      <p:ext uri="{BB962C8B-B14F-4D97-AF65-F5344CB8AC3E}">
        <p14:creationId xmlns:p14="http://schemas.microsoft.com/office/powerpoint/2010/main" val="7440395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最需要追问的10题，一题也没接住">
            <a:extLst xmlns:a="http://schemas.openxmlformats.org/drawingml/2006/main">
              <a:ext uri="{FF2B5EF4-FFF2-40B4-BE49-F238E27FC236}">
                <a16:creationId xmlns:a16="http://schemas.microsoft.com/office/drawing/2014/main" id="{42351B84-BE22-4C4C-8DED-629FA4D2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991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最需要追问的10题，一题也没接住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715B4-DDE6-4A0E-B3DC-B1E3DB26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D9A9A-B0D6-4466-9AE1-F6335941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4" name="合成test中的真实预测；这10题的参考标签全部是 clarify">
            <a:extLst xmlns:a="http://schemas.openxmlformats.org/drawingml/2006/main">
              <a:ext uri="{FF2B5EF4-FFF2-40B4-BE49-F238E27FC236}">
                <a16:creationId xmlns:a16="http://schemas.microsoft.com/office/drawing/2014/main" id="{E9CA51DD-926E-40DA-ADD0-96B8E798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合成test中的真实预测；这10题的参考标签全部是 clarify</a:t>
            </a:r>
          </a:p>
        </p:txBody>
      </p:sp>
      <p:sp>
        <p:nvSpPr>
          <p:cNvPr id="5" name="14">
            <a:extLst xmlns:a="http://schemas.openxmlformats.org/drawingml/2006/main">
              <a:ext uri="{FF2B5EF4-FFF2-40B4-BE49-F238E27FC236}">
                <a16:creationId xmlns:a16="http://schemas.microsoft.com/office/drawing/2014/main" id="{7163035F-D9BF-4BB6-A0D5-1A7EE518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sp>
        <p:nvSpPr>
          <p:cNvPr id="6" name="本该先追问">
            <a:extLst xmlns:a="http://schemas.openxmlformats.org/drawingml/2006/main">
              <a:ext uri="{FF2B5EF4-FFF2-40B4-BE49-F238E27FC236}">
                <a16:creationId xmlns:a16="http://schemas.microsoft.com/office/drawing/2014/main" id="{08227A31-C378-45A9-99AE-6C7E3958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4286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本该先追问</a:t>
            </a:r>
          </a:p>
        </p:txBody>
      </p:sp>
      <p:sp>
        <p:nvSpPr>
          <p:cNvPr id="7" name="?">
            <a:extLst xmlns:a="http://schemas.openxmlformats.org/drawingml/2006/main">
              <a:ext uri="{FF2B5EF4-FFF2-40B4-BE49-F238E27FC236}">
                <a16:creationId xmlns:a16="http://schemas.microsoft.com/office/drawing/2014/main" id="{A1524D3E-D731-478C-BA6B-CC2CF08E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?</a:t>
            </a:r>
          </a:p>
        </p:txBody>
      </p:sp>
      <p:sp>
        <p:nvSpPr>
          <p:cNvPr id="8" name="?">
            <a:extLst xmlns:a="http://schemas.openxmlformats.org/drawingml/2006/main">
              <a:ext uri="{FF2B5EF4-FFF2-40B4-BE49-F238E27FC236}">
                <a16:creationId xmlns:a16="http://schemas.microsoft.com/office/drawing/2014/main" id="{FE3016E0-EB2C-4402-B828-1A7B8875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2860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?</a:t>
            </a:r>
          </a:p>
        </p:txBody>
      </p:sp>
      <p:sp>
        <p:nvSpPr>
          <p:cNvPr id="9" name="?">
            <a:extLst xmlns:a="http://schemas.openxmlformats.org/drawingml/2006/main">
              <a:ext uri="{FF2B5EF4-FFF2-40B4-BE49-F238E27FC236}">
                <a16:creationId xmlns:a16="http://schemas.microsoft.com/office/drawing/2014/main" id="{3DA7F506-F74F-4987-8C2C-84CF9BAC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860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?</a:t>
            </a:r>
          </a:p>
        </p:txBody>
      </p:sp>
      <p:sp>
        <p:nvSpPr>
          <p:cNvPr id="10" name="?">
            <a:extLst xmlns:a="http://schemas.openxmlformats.org/drawingml/2006/main">
              <a:ext uri="{FF2B5EF4-FFF2-40B4-BE49-F238E27FC236}">
                <a16:creationId xmlns:a16="http://schemas.microsoft.com/office/drawing/2014/main" id="{42431068-FD16-4774-9147-53FE64EE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2860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?</a:t>
            </a:r>
          </a:p>
        </p:txBody>
      </p:sp>
      <p:sp>
        <p:nvSpPr>
          <p:cNvPr id="11" name="?">
            <a:extLst xmlns:a="http://schemas.openxmlformats.org/drawingml/2006/main">
              <a:ext uri="{FF2B5EF4-FFF2-40B4-BE49-F238E27FC236}">
                <a16:creationId xmlns:a16="http://schemas.microsoft.com/office/drawing/2014/main" id="{B5AC312D-F477-4140-BB27-23803D0D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2860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?</a:t>
            </a:r>
          </a:p>
        </p:txBody>
      </p:sp>
      <p:sp>
        <p:nvSpPr>
          <p:cNvPr id="12" name="?">
            <a:extLst xmlns:a="http://schemas.openxmlformats.org/drawingml/2006/main">
              <a:ext uri="{FF2B5EF4-FFF2-40B4-BE49-F238E27FC236}">
                <a16:creationId xmlns:a16="http://schemas.microsoft.com/office/drawing/2014/main" id="{63E287CA-33E8-4106-83BF-31BD49A5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337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?</a:t>
            </a:r>
          </a:p>
        </p:txBody>
      </p:sp>
      <p:sp>
        <p:nvSpPr>
          <p:cNvPr id="13" name="?">
            <a:extLst xmlns:a="http://schemas.openxmlformats.org/drawingml/2006/main">
              <a:ext uri="{FF2B5EF4-FFF2-40B4-BE49-F238E27FC236}">
                <a16:creationId xmlns:a16="http://schemas.microsoft.com/office/drawing/2014/main" id="{1C8F2D64-11FD-4FDE-B781-821FED1F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9337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?</a:t>
            </a:r>
          </a:p>
        </p:txBody>
      </p:sp>
      <p:sp>
        <p:nvSpPr>
          <p:cNvPr id="14" name="?">
            <a:extLst xmlns:a="http://schemas.openxmlformats.org/drawingml/2006/main">
              <a:ext uri="{FF2B5EF4-FFF2-40B4-BE49-F238E27FC236}">
                <a16:creationId xmlns:a16="http://schemas.microsoft.com/office/drawing/2014/main" id="{C0E41AC8-FF47-4C37-B42E-4AE65583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337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?</a:t>
            </a:r>
          </a:p>
        </p:txBody>
      </p:sp>
      <p:sp>
        <p:nvSpPr>
          <p:cNvPr id="15" name="?">
            <a:extLst xmlns:a="http://schemas.openxmlformats.org/drawingml/2006/main">
              <a:ext uri="{FF2B5EF4-FFF2-40B4-BE49-F238E27FC236}">
                <a16:creationId xmlns:a16="http://schemas.microsoft.com/office/drawing/2014/main" id="{BE7C11FA-6813-4ECA-8804-65EEC4F2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9337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?</a:t>
            </a:r>
          </a:p>
        </p:txBody>
      </p:sp>
      <p:sp>
        <p:nvSpPr>
          <p:cNvPr id="16" name="?">
            <a:extLst xmlns:a="http://schemas.openxmlformats.org/drawingml/2006/main">
              <a:ext uri="{FF2B5EF4-FFF2-40B4-BE49-F238E27FC236}">
                <a16:creationId xmlns:a16="http://schemas.microsoft.com/office/drawing/2014/main" id="{150B34DB-B13C-46E6-BD69-AD4174EE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337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3C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?</a:t>
            </a:r>
          </a:p>
        </p:txBody>
      </p:sp>
      <p:sp>
        <p:nvSpPr>
          <p:cNvPr id="17" name="0 / 10">
            <a:extLst xmlns:a="http://schemas.openxmlformats.org/drawingml/2006/main">
              <a:ext uri="{FF2B5EF4-FFF2-40B4-BE49-F238E27FC236}">
                <a16:creationId xmlns:a16="http://schemas.microsoft.com/office/drawing/2014/main" id="{B9578562-59C6-417B-BA7C-EBFA33DC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33051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A54F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750" b="1">
                <a:solidFill>
                  <a:srgbClr val="A54F47"/>
                </a:solidFill>
                <a:latin typeface="Noto Sans CJK SC"/>
                <a:ea typeface="Noto Sans CJK SC"/>
                <a:cs typeface="Noto Sans CJK SC"/>
              </a:rPr>
              <a:t>0 / 10</a:t>
            </a:r>
          </a:p>
        </p:txBody>
      </p:sp>
      <p:sp>
        <p:nvSpPr>
          <p:cNvPr id="18" name="实际选择了其他入口">
            <a:extLst xmlns:a="http://schemas.openxmlformats.org/drawingml/2006/main">
              <a:ext uri="{FF2B5EF4-FFF2-40B4-BE49-F238E27FC236}">
                <a16:creationId xmlns:a16="http://schemas.microsoft.com/office/drawing/2014/main" id="{092FAD40-9D0A-447D-B6CB-4D1450B9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676400"/>
            <a:ext cx="6410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实际选择了其他入口</a:t>
            </a:r>
          </a:p>
        </p:txBody>
      </p:sp>
      <p:sp>
        <p:nvSpPr>
          <p:cNvPr id="19" name="数字人  1题">
            <a:extLst xmlns:a="http://schemas.openxmlformats.org/drawingml/2006/main">
              <a:ext uri="{FF2B5EF4-FFF2-40B4-BE49-F238E27FC236}">
                <a16:creationId xmlns:a16="http://schemas.microsoft.com/office/drawing/2014/main" id="{89F277B1-73FA-42B3-B665-28F18FD3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333625"/>
            <a:ext cx="2352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数字人  1题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A0BD36-CA3F-4E9C-918D-3B98FC75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8125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21" name="翻译  1题">
            <a:extLst xmlns:a="http://schemas.openxmlformats.org/drawingml/2006/main">
              <a:ext uri="{FF2B5EF4-FFF2-40B4-BE49-F238E27FC236}">
                <a16:creationId xmlns:a16="http://schemas.microsoft.com/office/drawing/2014/main" id="{A340AE85-154D-4F15-A0BD-12D83E2A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71800"/>
            <a:ext cx="2352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翻译  1题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477004-F3DB-4783-BBA3-3F20E90E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0194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23" name="工作流  4题">
            <a:extLst xmlns:a="http://schemas.openxmlformats.org/drawingml/2006/main">
              <a:ext uri="{FF2B5EF4-FFF2-40B4-BE49-F238E27FC236}">
                <a16:creationId xmlns:a16="http://schemas.microsoft.com/office/drawing/2014/main" id="{7BB07AF3-656F-42CB-8474-452804C1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609975"/>
            <a:ext cx="2352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工作流  4题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DA2B14-8B37-4A54-B0CF-3498C7DA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5760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293614-F992-49A2-A323-FFA638D2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5760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B64E7A-D9E1-4D3A-BF29-A444C394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65760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CF95DE-6E88-4230-B7FD-8183949A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65760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28" name="其他  4题">
            <a:extLst xmlns:a="http://schemas.openxmlformats.org/drawingml/2006/main">
              <a:ext uri="{FF2B5EF4-FFF2-40B4-BE49-F238E27FC236}">
                <a16:creationId xmlns:a16="http://schemas.microsoft.com/office/drawing/2014/main" id="{0737C04C-A408-44D9-A8AA-D4E45911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48150"/>
            <a:ext cx="2352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其他  4题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E56D2A-8910-4DF0-BEF9-16EF37A1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29577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909AC4-FC2E-4986-BA4A-4361012D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29577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1DF0AF-41AF-4CE7-A54D-B63F8FD2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29577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4F12DE-2284-47FF-8858-6DECCD5C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29577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16888E-B234-45A5-B579-2D22187A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34" name="“按对方说的改一下” 还缺少修改对象和对方要求">
            <a:extLst xmlns:a="http://schemas.openxmlformats.org/drawingml/2006/main">
              <a:ext uri="{FF2B5EF4-FFF2-40B4-BE49-F238E27FC236}">
                <a16:creationId xmlns:a16="http://schemas.microsoft.com/office/drawing/2014/main" id="{CB2C4DA3-D228-4399-8CC1-99B745C7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72125"/>
            <a:ext cx="11010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“按对方说的改一下” 还缺少修改对象和对方要求</a:t>
            </a:r>
          </a:p>
        </p:txBody>
      </p:sp>
    </p:spTree>
    <p:extLst>
      <p:ext uri="{BB962C8B-B14F-4D97-AF65-F5344CB8AC3E}">
        <p14:creationId xmlns:p14="http://schemas.microsoft.com/office/powerpoint/2010/main" val="18344012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它只选了翻译入口，可能漏掉后半件事">
            <a:extLst xmlns:a="http://schemas.openxmlformats.org/drawingml/2006/main">
              <a:ext uri="{FF2B5EF4-FFF2-40B4-BE49-F238E27FC236}">
                <a16:creationId xmlns:a16="http://schemas.microsoft.com/office/drawing/2014/main" id="{04542891-CF3B-4715-B07A-F3D1941F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991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它只选了翻译入口，可能漏掉后半件事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DF100-AE47-42E7-BFDE-72826445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57310-9F46-45CB-9831-C0ABC76C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4" name="合成test中的真实错例：tutorial-test-agent_workflow-004；只展示预测及可能后果">
            <a:extLst xmlns:a="http://schemas.openxmlformats.org/drawingml/2006/main">
              <a:ext uri="{FF2B5EF4-FFF2-40B4-BE49-F238E27FC236}">
                <a16:creationId xmlns:a16="http://schemas.microsoft.com/office/drawing/2014/main" id="{C5DD200F-CC9F-40C3-B4B5-35A8246A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合成test中的真实错例：tutorial-test-agent_workflow-004；只展示预测及可能后果</a:t>
            </a:r>
          </a:p>
        </p:txBody>
      </p:sp>
      <p:sp>
        <p:nvSpPr>
          <p:cNvPr id="5" name="15">
            <a:extLst xmlns:a="http://schemas.openxmlformats.org/drawingml/2006/main">
              <a:ext uri="{FF2B5EF4-FFF2-40B4-BE49-F238E27FC236}">
                <a16:creationId xmlns:a16="http://schemas.microsoft.com/office/drawing/2014/main" id="{BE7125E2-045D-43B7-8849-D95AF088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15</a:t>
            </a:r>
          </a:p>
        </p:txBody>
      </p:sp>
      <p:sp>
        <p:nvSpPr>
          <p:cNvPr id="6" name="把这份葡语问卷译成中文，&#10;再导入问卷平台生成草稿。">
            <a:extLst xmlns:a="http://schemas.openxmlformats.org/drawingml/2006/main">
              <a:ext uri="{FF2B5EF4-FFF2-40B4-BE49-F238E27FC236}">
                <a16:creationId xmlns:a16="http://schemas.microsoft.com/office/drawing/2014/main" id="{9B0DC4A8-400B-4E31-A879-FB20624C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1101090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1430">
            <a:solidFill>
              <a:srgbClr val="EDF3F8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把这份葡语问卷译成中文，</a:t>
            </a:r>
          </a:p>
          <a:p xmlns:a="http://schemas.openxmlformats.org/drawingml/2006/main">
            <a:pPr algn="ctr">
              <a:defRPr sz="232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再导入问卷平台生成草稿。</a:t>
            </a:r>
          </a:p>
        </p:txBody>
      </p:sp>
      <p:sp>
        <p:nvSpPr>
          <p:cNvPr id="7" name="参考任务">
            <a:extLst xmlns:a="http://schemas.openxmlformats.org/drawingml/2006/main">
              <a:ext uri="{FF2B5EF4-FFF2-40B4-BE49-F238E27FC236}">
                <a16:creationId xmlns:a16="http://schemas.microsoft.com/office/drawing/2014/main" id="{F3D95FC3-D683-4667-8BDC-D202CB01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参考任务</a:t>
            </a:r>
          </a:p>
        </p:txBody>
      </p:sp>
      <p:sp>
        <p:nvSpPr>
          <p:cNvPr id="8" name="翻译问卷">
            <a:extLst xmlns:a="http://schemas.openxmlformats.org/drawingml/2006/main">
              <a:ext uri="{FF2B5EF4-FFF2-40B4-BE49-F238E27FC236}">
                <a16:creationId xmlns:a16="http://schemas.microsoft.com/office/drawing/2014/main" id="{8FB0C21F-CE4A-497F-BF69-15FE9040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76575"/>
            <a:ext cx="29051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ED4DA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翻译问卷</a:t>
            </a:r>
          </a:p>
        </p:txBody>
      </p:sp>
      <p:sp>
        <p:nvSpPr>
          <p:cNvPr id="9" name="导入平台，生成草稿">
            <a:extLst xmlns:a="http://schemas.openxmlformats.org/drawingml/2006/main">
              <a:ext uri="{FF2B5EF4-FFF2-40B4-BE49-F238E27FC236}">
                <a16:creationId xmlns:a16="http://schemas.microsoft.com/office/drawing/2014/main" id="{B166D6EE-B198-4D2A-AE7C-0DFE83FB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076575"/>
            <a:ext cx="43148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ED4DA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导入平台，生成草稿</a:t>
            </a:r>
          </a:p>
        </p:txBody>
      </p:sp>
      <p:cxnSp>
        <p:nvCxnSpPr>
          <p:cNvPr id="2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86425" y="3448050"/>
            <a:ext cx="16002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8616B"/>
            </a:solidFill>
            <a:tailEnd type="arrow" w="sm" len="sm"/>
          </a:ln>
        </p:spPr>
      </p:cxnSp>
      <p:sp>
        <p:nvSpPr>
          <p:cNvPr id="11" name="实际预测">
            <a:extLst xmlns:a="http://schemas.openxmlformats.org/drawingml/2006/main">
              <a:ext uri="{FF2B5EF4-FFF2-40B4-BE49-F238E27FC236}">
                <a16:creationId xmlns:a16="http://schemas.microsoft.com/office/drawing/2014/main" id="{7B8679DB-B483-4E98-A30D-1C2C5A03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243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实际预测</a:t>
            </a:r>
          </a:p>
        </p:txBody>
      </p:sp>
      <p:sp>
        <p:nvSpPr>
          <p:cNvPr id="12" name="translation">
            <a:extLst xmlns:a="http://schemas.openxmlformats.org/drawingml/2006/main">
              <a:ext uri="{FF2B5EF4-FFF2-40B4-BE49-F238E27FC236}">
                <a16:creationId xmlns:a16="http://schemas.microsoft.com/office/drawing/2014/main" id="{F2DA693E-3724-49A4-8703-630B0EB0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29100"/>
            <a:ext cx="29051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translation</a:t>
            </a:r>
          </a:p>
        </p:txBody>
      </p:sp>
      <p:sp>
        <p:nvSpPr>
          <p:cNvPr id="13" name="后一步可能被遗漏">
            <a:extLst xmlns:a="http://schemas.openxmlformats.org/drawingml/2006/main">
              <a:ext uri="{FF2B5EF4-FFF2-40B4-BE49-F238E27FC236}">
                <a16:creationId xmlns:a16="http://schemas.microsoft.com/office/drawing/2014/main" id="{9C7AD70D-1F2A-4A06-95BE-2C0B21B3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410075"/>
            <a:ext cx="43148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54F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A54F47"/>
                </a:solidFill>
                <a:latin typeface="Noto Sans CJK SC"/>
                <a:ea typeface="Noto Sans CJK SC"/>
                <a:cs typeface="Noto Sans CJK SC"/>
              </a:rPr>
              <a:t>后一步可能被遗漏</a:t>
            </a:r>
          </a:p>
        </p:txBody>
      </p:sp>
      <p:sp>
        <p:nvSpPr>
          <p:cNvPr id="14" name="LoRA给“翻译”98.49%的原始概率，仍选错入口">
            <a:extLst xmlns:a="http://schemas.openxmlformats.org/drawingml/2006/main">
              <a:ext uri="{FF2B5EF4-FFF2-40B4-BE49-F238E27FC236}">
                <a16:creationId xmlns:a16="http://schemas.microsoft.com/office/drawing/2014/main" id="{23B23907-3AE8-4938-AC8C-8DBA1445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5785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LoRA给“翻译”98.49%的原始概率，仍选错入口</a:t>
            </a:r>
          </a:p>
        </p:txBody>
      </p:sp>
    </p:spTree>
    <p:extLst>
      <p:ext uri="{BB962C8B-B14F-4D97-AF65-F5344CB8AC3E}">
        <p14:creationId xmlns:p14="http://schemas.microsoft.com/office/powerpoint/2010/main" val="19418049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报80%的那一组，应该约八成答对">
            <a:extLst xmlns:a="http://schemas.openxmlformats.org/drawingml/2006/main">
              <a:ext uri="{FF2B5EF4-FFF2-40B4-BE49-F238E27FC236}">
                <a16:creationId xmlns:a16="http://schemas.microsoft.com/office/drawing/2014/main" id="{35472EA6-3B78-4B57-96F9-90950A7F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991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报80%的那一组，应该约八成答对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8202F-C06B-4849-91E0-2DFB43DD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93946-D53B-4E32-A586-89B69B5E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4" name="理想校准关系的教学示意；这些小点不是本次实验样本">
            <a:extLst xmlns:a="http://schemas.openxmlformats.org/drawingml/2006/main">
              <a:ext uri="{FF2B5EF4-FFF2-40B4-BE49-F238E27FC236}">
                <a16:creationId xmlns:a16="http://schemas.microsoft.com/office/drawing/2014/main" id="{ED0BEF87-3813-489E-9EFC-82E12F59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理想校准关系的教学示意；这些小点不是本次实验样本</a:t>
            </a:r>
          </a:p>
        </p:txBody>
      </p:sp>
      <p:sp>
        <p:nvSpPr>
          <p:cNvPr id="5" name="16">
            <a:extLst xmlns:a="http://schemas.openxmlformats.org/drawingml/2006/main">
              <a:ext uri="{FF2B5EF4-FFF2-40B4-BE49-F238E27FC236}">
                <a16:creationId xmlns:a16="http://schemas.microsoft.com/office/drawing/2014/main" id="{FA6992E0-033B-4558-AB10-88FA1158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16</a:t>
            </a:r>
          </a:p>
        </p:txBody>
      </p:sp>
      <p:sp>
        <p:nvSpPr>
          <p:cNvPr id="6" name="不同请求的预测&#10;最高选项概率都在80%左右">
            <a:extLst xmlns:a="http://schemas.openxmlformats.org/drawingml/2006/main">
              <a:ext uri="{FF2B5EF4-FFF2-40B4-BE49-F238E27FC236}">
                <a16:creationId xmlns:a16="http://schemas.microsoft.com/office/drawing/2014/main" id="{8BE72988-8C8C-4853-A3A9-55E21FB7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4572000" cy="1228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1430">
            <a:solidFill>
              <a:srgbClr val="EDF3F8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不同请求的预测</a:t>
            </a:r>
          </a:p>
          <a:p xmlns:a="http://schemas.openxmlformats.org/drawingml/2006/main">
            <a:pPr algn="ctr">
              <a:defRPr sz="24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最高选项概率都在80%左右</a:t>
            </a:r>
          </a:p>
        </p:txBody>
      </p:sp>
      <p:sp>
        <p:nvSpPr>
          <p:cNvPr id="7" name="看这一组实际答对多少">
            <a:extLst xmlns:a="http://schemas.openxmlformats.org/drawingml/2006/main">
              <a:ext uri="{FF2B5EF4-FFF2-40B4-BE49-F238E27FC236}">
                <a16:creationId xmlns:a16="http://schemas.microsoft.com/office/drawing/2014/main" id="{104C7AD6-A36B-4685-ABDE-BC095A74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14500"/>
            <a:ext cx="48863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看这一组实际答对多少</a:t>
            </a:r>
          </a:p>
        </p:txBody>
      </p:sp>
      <p:sp>
        <p:nvSpPr>
          <p:cNvPr id="8" name="✓">
            <a:extLst xmlns:a="http://schemas.openxmlformats.org/drawingml/2006/main">
              <a:ext uri="{FF2B5EF4-FFF2-40B4-BE49-F238E27FC236}">
                <a16:creationId xmlns:a16="http://schemas.microsoft.com/office/drawing/2014/main" id="{2E6F619C-42EB-4F19-8F96-FFACCE16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66975"/>
            <a:ext cx="619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✓</a:t>
            </a:r>
          </a:p>
        </p:txBody>
      </p:sp>
      <p:sp>
        <p:nvSpPr>
          <p:cNvPr id="9" name="✓">
            <a:extLst xmlns:a="http://schemas.openxmlformats.org/drawingml/2006/main">
              <a:ext uri="{FF2B5EF4-FFF2-40B4-BE49-F238E27FC236}">
                <a16:creationId xmlns:a16="http://schemas.microsoft.com/office/drawing/2014/main" id="{FED9D8FC-25FC-4836-8ABB-A9599F9E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66975"/>
            <a:ext cx="619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✓</a:t>
            </a:r>
          </a:p>
        </p:txBody>
      </p:sp>
      <p:sp>
        <p:nvSpPr>
          <p:cNvPr id="10" name="✓">
            <a:extLst xmlns:a="http://schemas.openxmlformats.org/drawingml/2006/main">
              <a:ext uri="{FF2B5EF4-FFF2-40B4-BE49-F238E27FC236}">
                <a16:creationId xmlns:a16="http://schemas.microsoft.com/office/drawing/2014/main" id="{07628E6F-CA2D-4A8B-A677-1A031D89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466975"/>
            <a:ext cx="619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✓</a:t>
            </a:r>
          </a:p>
        </p:txBody>
      </p:sp>
      <p:sp>
        <p:nvSpPr>
          <p:cNvPr id="11" name="✓">
            <a:extLst xmlns:a="http://schemas.openxmlformats.org/drawingml/2006/main">
              <a:ext uri="{FF2B5EF4-FFF2-40B4-BE49-F238E27FC236}">
                <a16:creationId xmlns:a16="http://schemas.microsoft.com/office/drawing/2014/main" id="{E870D553-F0C6-4C6D-A9C5-F98D962D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66975"/>
            <a:ext cx="619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✓</a:t>
            </a:r>
          </a:p>
        </p:txBody>
      </p:sp>
      <p:sp>
        <p:nvSpPr>
          <p:cNvPr id="12" name="✓">
            <a:extLst xmlns:a="http://schemas.openxmlformats.org/drawingml/2006/main">
              <a:ext uri="{FF2B5EF4-FFF2-40B4-BE49-F238E27FC236}">
                <a16:creationId xmlns:a16="http://schemas.microsoft.com/office/drawing/2014/main" id="{BC985BB5-A751-4129-B738-7D7A373C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466975"/>
            <a:ext cx="619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✓</a:t>
            </a:r>
          </a:p>
        </p:txBody>
      </p:sp>
      <p:sp>
        <p:nvSpPr>
          <p:cNvPr id="13" name="✓">
            <a:extLst xmlns:a="http://schemas.openxmlformats.org/drawingml/2006/main">
              <a:ext uri="{FF2B5EF4-FFF2-40B4-BE49-F238E27FC236}">
                <a16:creationId xmlns:a16="http://schemas.microsoft.com/office/drawing/2014/main" id="{D018483F-146B-4E4D-B525-F53ED759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429000"/>
            <a:ext cx="619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✓</a:t>
            </a:r>
          </a:p>
        </p:txBody>
      </p:sp>
      <p:sp>
        <p:nvSpPr>
          <p:cNvPr id="14" name="✓">
            <a:extLst xmlns:a="http://schemas.openxmlformats.org/drawingml/2006/main">
              <a:ext uri="{FF2B5EF4-FFF2-40B4-BE49-F238E27FC236}">
                <a16:creationId xmlns:a16="http://schemas.microsoft.com/office/drawing/2014/main" id="{6705A144-D792-487C-9E11-458C9420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29000"/>
            <a:ext cx="619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✓</a:t>
            </a:r>
          </a:p>
        </p:txBody>
      </p:sp>
      <p:sp>
        <p:nvSpPr>
          <p:cNvPr id="15" name="✓">
            <a:extLst xmlns:a="http://schemas.openxmlformats.org/drawingml/2006/main">
              <a:ext uri="{FF2B5EF4-FFF2-40B4-BE49-F238E27FC236}">
                <a16:creationId xmlns:a16="http://schemas.microsoft.com/office/drawing/2014/main" id="{80C918DB-5387-4EA4-8B0E-5D89C338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429000"/>
            <a:ext cx="619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✓</a:t>
            </a:r>
          </a:p>
        </p:txBody>
      </p:sp>
      <p:sp>
        <p:nvSpPr>
          <p:cNvPr id="16" name="×">
            <a:extLst xmlns:a="http://schemas.openxmlformats.org/drawingml/2006/main">
              <a:ext uri="{FF2B5EF4-FFF2-40B4-BE49-F238E27FC236}">
                <a16:creationId xmlns:a16="http://schemas.microsoft.com/office/drawing/2014/main" id="{57B621C2-AB57-408A-9623-653B74DE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29000"/>
            <a:ext cx="619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54F4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A54F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>
                <a:solidFill>
                  <a:srgbClr val="A54F47"/>
                </a:solidFill>
                <a:latin typeface="Noto Sans CJK SC"/>
                <a:ea typeface="Noto Sans CJK SC"/>
                <a:cs typeface="Noto Sans CJK SC"/>
              </a:rPr>
              <a:t>×</a:t>
            </a:r>
          </a:p>
        </p:txBody>
      </p:sp>
      <p:sp>
        <p:nvSpPr>
          <p:cNvPr id="17" name="×">
            <a:extLst xmlns:a="http://schemas.openxmlformats.org/drawingml/2006/main">
              <a:ext uri="{FF2B5EF4-FFF2-40B4-BE49-F238E27FC236}">
                <a16:creationId xmlns:a16="http://schemas.microsoft.com/office/drawing/2014/main" id="{27F2D0AA-A436-407C-BA2A-3B53C76E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29000"/>
            <a:ext cx="619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54F4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A54F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>
                <a:solidFill>
                  <a:srgbClr val="A54F47"/>
                </a:solidFill>
                <a:latin typeface="Noto Sans CJK SC"/>
                <a:ea typeface="Noto Sans CJK SC"/>
                <a:cs typeface="Noto Sans CJK SC"/>
              </a:rPr>
              <a:t>×</a:t>
            </a:r>
          </a:p>
        </p:txBody>
      </p:sp>
      <p:sp>
        <p:nvSpPr>
          <p:cNvPr id="18" name="理想情况下，长期命中率接近80%">
            <a:extLst xmlns:a="http://schemas.openxmlformats.org/drawingml/2006/main">
              <a:ext uri="{FF2B5EF4-FFF2-40B4-BE49-F238E27FC236}">
                <a16:creationId xmlns:a16="http://schemas.microsoft.com/office/drawing/2014/main" id="{ABE19DA1-1E78-459D-9B80-6D80EC4E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686300"/>
            <a:ext cx="48863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rPr>
              <a:t>理想情况下，长期命中率接近80%</a:t>
            </a:r>
          </a:p>
        </p:txBody>
      </p:sp>
      <p:sp>
        <p:nvSpPr>
          <p:cNvPr id="19" name="校准检查的是一组预测的频率，单条结果仍可能错">
            <a:extLst xmlns:a="http://schemas.openxmlformats.org/drawingml/2006/main">
              <a:ext uri="{FF2B5EF4-FFF2-40B4-BE49-F238E27FC236}">
                <a16:creationId xmlns:a16="http://schemas.microsoft.com/office/drawing/2014/main" id="{5E7340A9-8B67-4ADD-8985-8995244F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34050"/>
            <a:ext cx="11010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校准检查的是一组预测的频率，单条结果仍可能错</a:t>
            </a:r>
          </a:p>
        </p:txBody>
      </p:sp>
    </p:spTree>
    <p:extLst>
      <p:ext uri="{BB962C8B-B14F-4D97-AF65-F5344CB8AC3E}">
        <p14:creationId xmlns:p14="http://schemas.microsoft.com/office/powerpoint/2010/main" val="13887990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调过分数后，50题的答案一个也没变">
            <a:extLst xmlns:a="http://schemas.openxmlformats.org/drawingml/2006/main">
              <a:ext uri="{FF2B5EF4-FFF2-40B4-BE49-F238E27FC236}">
                <a16:creationId xmlns:a16="http://schemas.microsoft.com/office/drawing/2014/main" id="{47E325EA-7503-4130-8116-DD530A6F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991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调过分数后，50题的答案一个也没变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D2B99-BC8D-4ECD-95B8-30087F0D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BE12F-0F95-4D1A-8A12-71B7485F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4" name="T=1.575只用50条合成 calibration 拟合；可配合短片②「概率变了，答案没变」">
            <a:extLst xmlns:a="http://schemas.openxmlformats.org/drawingml/2006/main">
              <a:ext uri="{FF2B5EF4-FFF2-40B4-BE49-F238E27FC236}">
                <a16:creationId xmlns:a16="http://schemas.microsoft.com/office/drawing/2014/main" id="{4D7BA2FF-ED35-4943-A693-A6692D6D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T=1.575只用50条合成 calibration 拟合；可配合短片②「概率变了，答案没变」</a:t>
            </a:r>
          </a:p>
        </p:txBody>
      </p:sp>
      <p:sp>
        <p:nvSpPr>
          <p:cNvPr id="5" name="17">
            <a:extLst xmlns:a="http://schemas.openxmlformats.org/drawingml/2006/main">
              <a:ext uri="{FF2B5EF4-FFF2-40B4-BE49-F238E27FC236}">
                <a16:creationId xmlns:a16="http://schemas.microsoft.com/office/drawing/2014/main" id="{30EAC906-54F0-4347-9816-89FE2A2C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17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90550" y="1647825"/>
          <a:ext xmlns:a="http://schemas.openxmlformats.org/drawingml/2006/main" cx="6848475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2f9ef8e688b4a0d"/>
          </a:graphicData>
        </a:graphic>
      </p:graphicFrame>
      <p:sp>
        <p:nvSpPr>
          <p:cNvPr id="7" name="平均概率指标变好">
            <a:extLst xmlns:a="http://schemas.openxmlformats.org/drawingml/2006/main">
              <a:ext uri="{FF2B5EF4-FFF2-40B4-BE49-F238E27FC236}">
                <a16:creationId xmlns:a16="http://schemas.microsoft.com/office/drawing/2014/main" id="{C97BED1A-9C52-4717-B40F-CBB72C79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33550"/>
            <a:ext cx="3562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平均概率指标变好</a:t>
            </a:r>
          </a:p>
        </p:txBody>
      </p:sp>
      <p:sp>
        <p:nvSpPr>
          <p:cNvPr id="8" name="下面三项越低越好">
            <a:extLst xmlns:a="http://schemas.openxmlformats.org/drawingml/2006/main">
              <a:ext uri="{FF2B5EF4-FFF2-40B4-BE49-F238E27FC236}">
                <a16:creationId xmlns:a16="http://schemas.microsoft.com/office/drawing/2014/main" id="{2E56A729-21F6-430B-BB62-FB5C6673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00275"/>
            <a:ext cx="3562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下面三项越低越好</a:t>
            </a:r>
          </a:p>
        </p:txBody>
      </p:sp>
      <p:sp>
        <p:nvSpPr>
          <p:cNvPr id="9" name="NLL   .751  变成  .704">
            <a:extLst xmlns:a="http://schemas.openxmlformats.org/drawingml/2006/main">
              <a:ext uri="{FF2B5EF4-FFF2-40B4-BE49-F238E27FC236}">
                <a16:creationId xmlns:a16="http://schemas.microsoft.com/office/drawing/2014/main" id="{198ADB6D-7D23-4F13-A7FC-495523E3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57450"/>
            <a:ext cx="356235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rPr>
              <a:t>NLL   .751  变成  .704</a:t>
            </a:r>
          </a:p>
          <a:p xmlns:a="http://schemas.openxmlformats.org/drawingml/2006/main">
            <a:pPr>
              <a:defRPr sz="1875" b="0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rPr>
              <a:t>Brier  .412  变成  .386</a:t>
            </a:r>
          </a:p>
          <a:p xmlns:a="http://schemas.openxmlformats.org/drawingml/2006/main">
            <a:pPr>
              <a:defRPr sz="1875" b="0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rPr>
              <a:t>ECE   .162  变成  .141</a:t>
            </a:r>
          </a:p>
        </p:txBody>
      </p:sp>
      <p:sp>
        <p:nvSpPr>
          <p:cNvPr id="10" name="准确率仍是 35 / 50">
            <a:extLst xmlns:a="http://schemas.openxmlformats.org/drawingml/2006/main">
              <a:ext uri="{FF2B5EF4-FFF2-40B4-BE49-F238E27FC236}">
                <a16:creationId xmlns:a16="http://schemas.microsoft.com/office/drawing/2014/main" id="{7C738986-6691-4FAD-9201-DA83695E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43425"/>
            <a:ext cx="3562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准确率仍是 35 / 50</a:t>
            </a:r>
          </a:p>
          <a:p xmlns:a="http://schemas.openxmlformats.org/drawingml/2006/main">
            <a:pPr>
              <a:defRPr sz="202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选项顺序没有改变</a:t>
            </a:r>
          </a:p>
        </p:txBody>
      </p:sp>
      <p:sp>
        <p:nvSpPr>
          <p:cNvPr id="11" name="温度校准调整概率的尖锐程度，不会补救选错入口">
            <a:extLst xmlns:a="http://schemas.openxmlformats.org/drawingml/2006/main">
              <a:ext uri="{FF2B5EF4-FFF2-40B4-BE49-F238E27FC236}">
                <a16:creationId xmlns:a16="http://schemas.microsoft.com/office/drawing/2014/main" id="{FC6D3C6F-FFFA-4990-830C-7F5FFFA0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1101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温度校准调整概率的尖锐程度，不会补救选错入口</a:t>
            </a:r>
          </a:p>
        </p:txBody>
      </p:sp>
    </p:spTree>
    <p:extLst>
      <p:ext uri="{BB962C8B-B14F-4D97-AF65-F5344CB8AC3E}">
        <p14:creationId xmlns:p14="http://schemas.microsoft.com/office/powerpoint/2010/main" val="10444524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门槛都是90%，留下的错例没有减少">
            <a:extLst xmlns:a="http://schemas.openxmlformats.org/drawingml/2006/main">
              <a:ext uri="{FF2B5EF4-FFF2-40B4-BE49-F238E27FC236}">
                <a16:creationId xmlns:a16="http://schemas.microsoft.com/office/drawing/2014/main" id="{2CFEC35A-A95C-4DC3-BF05-B53D75B4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991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门槛都是90%，留下的错例没有减少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4C83A-10F6-4640-8660-E2CE0015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CD21D5-0698-41BB-94AE-F267C573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4" name="50条合成test的事后探索：以最高选项概率≥0.90接受；没有冻结的生产门槛">
            <a:extLst xmlns:a="http://schemas.openxmlformats.org/drawingml/2006/main">
              <a:ext uri="{FF2B5EF4-FFF2-40B4-BE49-F238E27FC236}">
                <a16:creationId xmlns:a16="http://schemas.microsoft.com/office/drawing/2014/main" id="{801A0335-0C4D-49FB-BAE3-1FCB08FF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50条合成test的事后探索：以最高选项概率≥0.90接受；没有冻结的生产门槛</a:t>
            </a:r>
          </a:p>
        </p:txBody>
      </p:sp>
      <p:sp>
        <p:nvSpPr>
          <p:cNvPr id="5" name="18">
            <a:extLst xmlns:a="http://schemas.openxmlformats.org/drawingml/2006/main">
              <a:ext uri="{FF2B5EF4-FFF2-40B4-BE49-F238E27FC236}">
                <a16:creationId xmlns:a16="http://schemas.microsoft.com/office/drawing/2014/main" id="{C2FE1E6F-39BE-4CF5-81AD-BAC76C67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18</a:t>
            </a:r>
          </a:p>
        </p:txBody>
      </p:sp>
      <p:sp>
        <p:nvSpPr>
          <p:cNvPr id="6" name="校准前">
            <a:extLst xmlns:a="http://schemas.openxmlformats.org/drawingml/2006/main">
              <a:ext uri="{FF2B5EF4-FFF2-40B4-BE49-F238E27FC236}">
                <a16:creationId xmlns:a16="http://schemas.microsoft.com/office/drawing/2014/main" id="{03803615-144D-4D13-BBCC-DEF912EF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校准前</a:t>
            </a:r>
          </a:p>
        </p:txBody>
      </p:sp>
      <p:sp>
        <p:nvSpPr>
          <p:cNvPr id="7" name="校准后">
            <a:extLst xmlns:a="http://schemas.openxmlformats.org/drawingml/2006/main">
              <a:ext uri="{FF2B5EF4-FFF2-40B4-BE49-F238E27FC236}">
                <a16:creationId xmlns:a16="http://schemas.microsoft.com/office/drawing/2014/main" id="{C8231417-6C30-4891-90C5-69F63285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57350"/>
            <a:ext cx="4819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校准后</a:t>
            </a:r>
          </a:p>
        </p:txBody>
      </p:sp>
      <p:sp>
        <p:nvSpPr>
          <p:cNvPr id="8" name="留下26题">
            <a:extLst xmlns:a="http://schemas.openxmlformats.org/drawingml/2006/main">
              <a:ext uri="{FF2B5EF4-FFF2-40B4-BE49-F238E27FC236}">
                <a16:creationId xmlns:a16="http://schemas.microsoft.com/office/drawing/2014/main" id="{6A8D607F-3842-4B45-9C7B-0F82CEF8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留下26题</a:t>
            </a:r>
          </a:p>
        </p:txBody>
      </p:sp>
      <p:sp>
        <p:nvSpPr>
          <p:cNvPr id="9" name="留下13题">
            <a:extLst xmlns:a="http://schemas.openxmlformats.org/drawingml/2006/main">
              <a:ext uri="{FF2B5EF4-FFF2-40B4-BE49-F238E27FC236}">
                <a16:creationId xmlns:a16="http://schemas.microsoft.com/office/drawing/2014/main" id="{E395EF57-CC19-471F-9B94-BB5143CA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66950"/>
            <a:ext cx="4819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留下13题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F01F66-601B-4F5A-BDE7-C302C216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67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A1BFE5-FF66-4206-A455-106DE8D3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A7CD39-7358-4F6E-967E-AA872DC0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67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FD5C85-9ADA-48DA-9876-4AE02E97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67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BD0569-F4D2-4719-90B0-A20A0186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067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875A2C-5C0B-49EB-B820-A8950C97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67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6053FF-44F7-477B-8EA2-384E696E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67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538B68-886B-41B6-82AB-D7766895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67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BFCE6B-1574-4FC6-951A-FB521E06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67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5CD959-C3FF-441A-93D6-420D7325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67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DDC20B-F56B-48AC-AC06-497CC9CE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67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D55A9E-A0C5-403D-8615-B9AA7DFC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067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605CEB-E69F-42DF-A574-909B6C85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67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9DEDAE-C62F-4CDB-8CD7-50D962A5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2078F4-32A5-4481-BBD9-FD63E24B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BB9F63-4EA9-4757-B567-F86AC43F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90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250DB0-62AC-49D0-8C0F-28814D09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90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6B7F56-B45C-4196-A94B-3BFFEDA0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90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C9F482-7243-4DDA-B0B4-10773C32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390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BC7A61-B2CA-4DF0-BB4E-F4B32EAD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90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3981A1-1717-41C3-A499-74246C58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90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AA2827-617B-4BB4-983F-06D5E88D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90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9541A2-E66D-4F8D-A44A-B10642DC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90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2D132C-CFF7-4B30-AAF4-701D7AD2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90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D045DD-8550-430B-99EE-7C2E883F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390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4F47"/>
          </a:solidFill>
          <a:ln xmlns:a="http://schemas.openxmlformats.org/drawingml/2006/main" w="11430">
            <a:solidFill>
              <a:srgbClr val="A54F47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596B3D-5D3F-4FB6-8C4E-A2B165C3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90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4F47"/>
          </a:solidFill>
          <a:ln xmlns:a="http://schemas.openxmlformats.org/drawingml/2006/main" w="11430">
            <a:solidFill>
              <a:srgbClr val="A54F47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FBBA48-F1A7-47EC-BA69-F4242CC6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67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3F6E41-B51F-4C33-9853-F72A3E80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67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D5CAE6-A2A7-4DF9-8217-1EAB9F30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67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002F1F-D6AE-4405-9146-5D5D7588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67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1CA870-FCAF-4B02-AF80-B8E1DD99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67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2EDEF1-ABD2-4FD5-904C-A71D5A41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67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E92C51-BB0A-467A-BEA2-162D00F4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67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2D9907-6BC0-4E1C-8D11-84C8AECB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67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1FA531-369E-4CF5-9F07-089C6E32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67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84D72D-3D6A-4F57-8C44-1A481D57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67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691993-051F-4D6F-AC3E-F6BAEC33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067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F624971-B116-403C-8F35-28A27E43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067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4F47"/>
          </a:solidFill>
          <a:ln xmlns:a="http://schemas.openxmlformats.org/drawingml/2006/main" w="11430">
            <a:solidFill>
              <a:srgbClr val="A54F47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9582CE-D136-44EC-B43C-9806A816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67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4F47"/>
          </a:solidFill>
          <a:ln xmlns:a="http://schemas.openxmlformats.org/drawingml/2006/main" w="11430">
            <a:solidFill>
              <a:srgbClr val="A54F47"/>
            </a:solidFill>
          </a:ln>
        </p:spPr>
      </p:sp>
      <p:sp>
        <p:nvSpPr>
          <p:cNvPr id="49" name="错2题 / 接受26题">
            <a:extLst xmlns:a="http://schemas.openxmlformats.org/drawingml/2006/main">
              <a:ext uri="{FF2B5EF4-FFF2-40B4-BE49-F238E27FC236}">
                <a16:creationId xmlns:a16="http://schemas.microsoft.com/office/drawing/2014/main" id="{3B3F9D0E-1029-487F-818F-1E0412AA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19575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54F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A54F47"/>
                </a:solidFill>
                <a:latin typeface="Noto Sans CJK SC"/>
                <a:ea typeface="Noto Sans CJK SC"/>
                <a:cs typeface="Noto Sans CJK SC"/>
              </a:rPr>
              <a:t>错2题 / 接受26题</a:t>
            </a:r>
          </a:p>
        </p:txBody>
      </p:sp>
      <p:sp>
        <p:nvSpPr>
          <p:cNvPr id="50" name="错2题 / 接受13题">
            <a:extLst xmlns:a="http://schemas.openxmlformats.org/drawingml/2006/main">
              <a:ext uri="{FF2B5EF4-FFF2-40B4-BE49-F238E27FC236}">
                <a16:creationId xmlns:a16="http://schemas.microsoft.com/office/drawing/2014/main" id="{340A557F-0C84-4350-A3D2-DDA8BDEE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19575"/>
            <a:ext cx="4819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54F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A54F47"/>
                </a:solidFill>
                <a:latin typeface="Noto Sans CJK SC"/>
                <a:ea typeface="Noto Sans CJK SC"/>
                <a:cs typeface="Noto Sans CJK SC"/>
              </a:rPr>
              <a:t>错2题 / 接受13题</a:t>
            </a:r>
          </a:p>
        </p:txBody>
      </p:sp>
      <p:sp>
        <p:nvSpPr>
          <p:cNvPr id="51" name="7.7%">
            <a:extLst xmlns:a="http://schemas.openxmlformats.org/drawingml/2006/main">
              <a:ext uri="{FF2B5EF4-FFF2-40B4-BE49-F238E27FC236}">
                <a16:creationId xmlns:a16="http://schemas.microsoft.com/office/drawing/2014/main" id="{C900E3F0-FF51-4D3A-9987-34A23E1D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958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7.7%</a:t>
            </a:r>
          </a:p>
        </p:txBody>
      </p:sp>
      <p:sp>
        <p:nvSpPr>
          <p:cNvPr id="52" name="15.4%">
            <a:extLst xmlns:a="http://schemas.openxmlformats.org/drawingml/2006/main">
              <a:ext uri="{FF2B5EF4-FFF2-40B4-BE49-F238E27FC236}">
                <a16:creationId xmlns:a16="http://schemas.microsoft.com/office/drawing/2014/main" id="{22966CCF-85AA-49E3-8E88-7A709CB9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8958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15.4%</a:t>
            </a:r>
          </a:p>
        </p:txBody>
      </p:sp>
      <p:sp>
        <p:nvSpPr>
          <p:cNvPr id="53" name="平均概率更好，不代表同一个门槛就更安全">
            <a:extLst xmlns:a="http://schemas.openxmlformats.org/drawingml/2006/main">
              <a:ext uri="{FF2B5EF4-FFF2-40B4-BE49-F238E27FC236}">
                <a16:creationId xmlns:a16="http://schemas.microsoft.com/office/drawing/2014/main" id="{C086D9E2-2E9F-4F57-8B0F-1C4AD61D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1101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平均概率更好，不代表同一个门槛就更安全</a:t>
            </a:r>
          </a:p>
        </p:txBody>
      </p:sp>
    </p:spTree>
    <p:extLst>
      <p:ext uri="{BB962C8B-B14F-4D97-AF65-F5344CB8AC3E}">
        <p14:creationId xmlns:p14="http://schemas.microsoft.com/office/powerpoint/2010/main" val="150928881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上线前，还得跑通追问和回退">
            <a:extLst xmlns:a="http://schemas.openxmlformats.org/drawingml/2006/main">
              <a:ext uri="{FF2B5EF4-FFF2-40B4-BE49-F238E27FC236}">
                <a16:creationId xmlns:a16="http://schemas.microsoft.com/office/drawing/2014/main" id="{8559C73C-BC14-4081-9083-0BD00FE1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991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上线前，还得跑通追问和回退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71FED6-B014-4CEF-AD6D-7D1135C4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D1391-A023-4F6C-B783-CE0D2816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4" name="建议的业务流程，尚未实施或复测">
            <a:extLst xmlns:a="http://schemas.openxmlformats.org/drawingml/2006/main">
              <a:ext uri="{FF2B5EF4-FFF2-40B4-BE49-F238E27FC236}">
                <a16:creationId xmlns:a16="http://schemas.microsoft.com/office/drawing/2014/main" id="{C58A6B79-C018-43B4-B34C-2365EFAD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建议的业务流程，尚未实施或复测</a:t>
            </a:r>
          </a:p>
        </p:txBody>
      </p:sp>
      <p:sp>
        <p:nvSpPr>
          <p:cNvPr id="5" name="19">
            <a:extLst xmlns:a="http://schemas.openxmlformats.org/drawingml/2006/main">
              <a:ext uri="{FF2B5EF4-FFF2-40B4-BE49-F238E27FC236}">
                <a16:creationId xmlns:a16="http://schemas.microsoft.com/office/drawing/2014/main" id="{955B73BD-22AB-437C-A6E8-294EBB7E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19</a:t>
            </a:r>
          </a:p>
        </p:txBody>
      </p:sp>
      <p:sp>
        <p:nvSpPr>
          <p:cNvPr id="6" name="收到请求">
            <a:extLst xmlns:a="http://schemas.openxmlformats.org/drawingml/2006/main">
              <a:ext uri="{FF2B5EF4-FFF2-40B4-BE49-F238E27FC236}">
                <a16:creationId xmlns:a16="http://schemas.microsoft.com/office/drawing/2014/main" id="{BD49BD31-F8B6-492E-B8DC-A95A77E1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20478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ED4DA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收到请求</a:t>
            </a:r>
          </a:p>
        </p:txBody>
      </p:sp>
      <p:sp>
        <p:nvSpPr>
          <p:cNvPr id="7" name="选择入口">
            <a:extLst xmlns:a="http://schemas.openxmlformats.org/drawingml/2006/main">
              <a:ext uri="{FF2B5EF4-FFF2-40B4-BE49-F238E27FC236}">
                <a16:creationId xmlns:a16="http://schemas.microsoft.com/office/drawing/2014/main" id="{27774D3A-C6E3-4981-9C35-479B69F8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33600"/>
            <a:ext cx="22860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1"/>
          </a:solidFill>
          <a:ln xmlns:a="http://schemas.openxmlformats.org/drawingml/2006/main" w="11430">
            <a:solidFill>
              <a:srgbClr val="315B81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选择入口</a:t>
            </a:r>
          </a:p>
        </p:txBody>
      </p:sp>
      <p:sp>
        <p:nvSpPr>
          <p:cNvPr id="8" name="检查参数与权限">
            <a:extLst xmlns:a="http://schemas.openxmlformats.org/drawingml/2006/main">
              <a:ext uri="{FF2B5EF4-FFF2-40B4-BE49-F238E27FC236}">
                <a16:creationId xmlns:a16="http://schemas.microsoft.com/office/drawing/2014/main" id="{55FDEB9C-69F9-40BE-BE6A-76A65D37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133600"/>
            <a:ext cx="44481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ED4DA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检查参数与权限</a:t>
            </a:r>
          </a:p>
        </p:txBody>
      </p:sp>
      <p:cxnSp>
        <p:nvCxnSpPr>
          <p:cNvPr id="2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38425" y="2566988"/>
            <a:ext cx="9334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8616B"/>
            </a:solidFill>
            <a:tailEnd type="arrow" w="sm" len="sm"/>
          </a:ln>
        </p:spPr>
      </p:cxn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857875" y="2566988"/>
            <a:ext cx="12954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8616B"/>
            </a:solidFill>
            <a:tailEnd type="arrow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E3C636-1B26-40BC-BF2E-ADC2FB12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00375"/>
            <a:ext cx="0" cy="695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8616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26A3C0-CB76-4009-94B9-7729CB09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695700"/>
            <a:ext cx="693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8616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38E74A-2FD5-408B-AD89-A4FE4CE1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695700"/>
            <a:ext cx="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8616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BFD067-319A-4B3D-930B-03152E46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695700"/>
            <a:ext cx="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8616B"/>
            </a:solidFill>
          </a:ln>
        </p:spPr>
      </p:sp>
      <p:sp>
        <p:nvSpPr>
          <p:cNvPr id="15" name="入口不明：追问">
            <a:extLst xmlns:a="http://schemas.openxmlformats.org/drawingml/2006/main">
              <a:ext uri="{FF2B5EF4-FFF2-40B4-BE49-F238E27FC236}">
                <a16:creationId xmlns:a16="http://schemas.microsoft.com/office/drawing/2014/main" id="{0A19BB45-9462-4571-B109-59507900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24350"/>
            <a:ext cx="37147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ED4DA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入口不明：追问</a:t>
            </a:r>
          </a:p>
        </p:txBody>
      </p:sp>
      <p:sp>
        <p:nvSpPr>
          <p:cNvPr id="16" name="疑难样本：复核或回退">
            <a:extLst xmlns:a="http://schemas.openxmlformats.org/drawingml/2006/main">
              <a:ext uri="{FF2B5EF4-FFF2-40B4-BE49-F238E27FC236}">
                <a16:creationId xmlns:a16="http://schemas.microsoft.com/office/drawing/2014/main" id="{41BA8693-F1EC-4A0F-AD4E-BBD29A42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324350"/>
            <a:ext cx="6286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1430">
            <a:solidFill>
              <a:srgbClr val="EDF3F8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疑难样本：复核或回退</a:t>
            </a:r>
          </a:p>
        </p:txBody>
      </p:sp>
      <p:sp>
        <p:nvSpPr>
          <p:cNvPr id="17" name="每次记录：原预测、补问或回退后的答案、是否真的纠错">
            <a:extLst xmlns:a="http://schemas.openxmlformats.org/drawingml/2006/main">
              <a:ext uri="{FF2B5EF4-FFF2-40B4-BE49-F238E27FC236}">
                <a16:creationId xmlns:a16="http://schemas.microsoft.com/office/drawing/2014/main" id="{4380B704-CA8C-4C30-8D4F-83C9A50D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05475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每次记录：原预测、补问或回退后的答案、是否真的纠错</a:t>
            </a:r>
          </a:p>
        </p:txBody>
      </p:sp>
    </p:spTree>
    <p:extLst>
      <p:ext uri="{BB962C8B-B14F-4D97-AF65-F5344CB8AC3E}">
        <p14:creationId xmlns:p14="http://schemas.microsoft.com/office/powerpoint/2010/main" val="93767568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下一步，让它跟着真实请求试跑">
            <a:extLst xmlns:a="http://schemas.openxmlformats.org/drawingml/2006/main">
              <a:ext uri="{FF2B5EF4-FFF2-40B4-BE49-F238E27FC236}">
                <a16:creationId xmlns:a16="http://schemas.microsoft.com/office/drawing/2014/main" id="{9A1B703B-0D06-46B0-A176-6C0BA551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991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下一步，让它跟着真实请求试跑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B4851-46AB-4000-A753-8362AFD4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4DA62A-B2EA-4721-BCD1-521C614C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4" name="建议先影子运行，保留现有用户流程">
            <a:extLst xmlns:a="http://schemas.openxmlformats.org/drawingml/2006/main">
              <a:ext uri="{FF2B5EF4-FFF2-40B4-BE49-F238E27FC236}">
                <a16:creationId xmlns:a16="http://schemas.microsoft.com/office/drawing/2014/main" id="{5A0E8296-D9D2-48A9-9ADF-BF082920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建议先影子运行，保留现有用户流程</a:t>
            </a:r>
          </a:p>
        </p:txBody>
      </p:sp>
      <p:sp>
        <p:nvSpPr>
          <p:cNvPr id="5" name="20">
            <a:extLst xmlns:a="http://schemas.openxmlformats.org/drawingml/2006/main">
              <a:ext uri="{FF2B5EF4-FFF2-40B4-BE49-F238E27FC236}">
                <a16:creationId xmlns:a16="http://schemas.microsoft.com/office/drawing/2014/main" id="{29AC8F74-7889-49B2-A6B9-F9328A0D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20</a:t>
            </a:r>
          </a:p>
        </p:txBody>
      </p:sp>
      <p:sp>
        <p:nvSpPr>
          <p:cNvPr id="6" name="这次已经看到">
            <a:extLst xmlns:a="http://schemas.openxmlformats.org/drawingml/2006/main">
              <a:ext uri="{FF2B5EF4-FFF2-40B4-BE49-F238E27FC236}">
                <a16:creationId xmlns:a16="http://schemas.microsoft.com/office/drawing/2014/main" id="{7019CC16-155E-49DC-9ACD-A5D85447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383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这次已经看到</a:t>
            </a:r>
          </a:p>
        </p:txBody>
      </p:sp>
      <p:sp>
        <p:nvSpPr>
          <p:cNvPr id="7" name="24 / 50  变成  35 / 50">
            <a:extLst xmlns:a="http://schemas.openxmlformats.org/drawingml/2006/main">
              <a:ext uri="{FF2B5EF4-FFF2-40B4-BE49-F238E27FC236}">
                <a16:creationId xmlns:a16="http://schemas.microsoft.com/office/drawing/2014/main" id="{924ED5F0-DC42-4B1B-AEC3-67E19676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rPr>
              <a:t>24 / 50  变成  35 / 50</a:t>
            </a:r>
          </a:p>
        </p:txBody>
      </p:sp>
      <p:sp>
        <p:nvSpPr>
          <p:cNvPr id="8" name="LoRA在这份合成test上多答对11题">
            <a:extLst xmlns:a="http://schemas.openxmlformats.org/drawingml/2006/main">
              <a:ext uri="{FF2B5EF4-FFF2-40B4-BE49-F238E27FC236}">
                <a16:creationId xmlns:a16="http://schemas.microsoft.com/office/drawing/2014/main" id="{ACFEAC08-F76B-403D-BDE2-0D9A0945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623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LoRA在这份合成test上多答对11题</a:t>
            </a:r>
          </a:p>
        </p:txBody>
      </p:sp>
      <p:sp>
        <p:nvSpPr>
          <p:cNvPr id="9" name="但该追问的10题，仍然全错">
            <a:extLst xmlns:a="http://schemas.openxmlformats.org/drawingml/2006/main">
              <a:ext uri="{FF2B5EF4-FFF2-40B4-BE49-F238E27FC236}">
                <a16:creationId xmlns:a16="http://schemas.microsoft.com/office/drawing/2014/main" id="{DCCA7BF1-3C81-43B2-BF05-0C533B36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95825"/>
            <a:ext cx="4953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54F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A54F47"/>
                </a:solidFill>
                <a:latin typeface="Noto Sans CJK SC"/>
                <a:ea typeface="Noto Sans CJK SC"/>
                <a:cs typeface="Noto Sans CJK SC"/>
              </a:rPr>
              <a:t>但该追问的10题，仍然全错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51DB0-A04C-4AB3-A283-BB91D73B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85925"/>
            <a:ext cx="0" cy="401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11" name="下一轮要补的证据">
            <a:extLst xmlns:a="http://schemas.openxmlformats.org/drawingml/2006/main">
              <a:ext uri="{FF2B5EF4-FFF2-40B4-BE49-F238E27FC236}">
                <a16:creationId xmlns:a16="http://schemas.microsoft.com/office/drawing/2014/main" id="{6783BF85-25A2-48A0-915C-899E75CD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38300"/>
            <a:ext cx="4800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下一轮要补的证据</a:t>
            </a:r>
          </a:p>
        </p:txBody>
      </p:sp>
      <p:sp>
        <p:nvSpPr>
          <p:cNvPr id="12" name="真实请求，人工复核标签">
            <a:extLst xmlns:a="http://schemas.openxmlformats.org/drawingml/2006/main">
              <a:ext uri="{FF2B5EF4-FFF2-40B4-BE49-F238E27FC236}">
                <a16:creationId xmlns:a16="http://schemas.microsoft.com/office/drawing/2014/main" id="{1F9BBDC5-8BA3-474A-BFC7-95F6BFCD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05075"/>
            <a:ext cx="4800600" cy="2543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真实请求，人工复核标签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同一覆盖率下的关键错路由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追问、回退、延迟和总成本</a:t>
            </a:r>
          </a:p>
        </p:txBody>
      </p:sp>
      <p:sp>
        <p:nvSpPr>
          <p:cNvPr id="13" name="先知道它会错在哪儿，再决定交给它多少自动处理">
            <a:extLst xmlns:a="http://schemas.openxmlformats.org/drawingml/2006/main">
              <a:ext uri="{FF2B5EF4-FFF2-40B4-BE49-F238E27FC236}">
                <a16:creationId xmlns:a16="http://schemas.microsoft.com/office/drawing/2014/main" id="{580EB5D3-BA89-4298-92EF-8B6E034B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11010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先知道它会错在哪儿，再决定交给它多少自动处理</a:t>
            </a:r>
          </a:p>
        </p:txBody>
      </p:sp>
    </p:spTree>
    <p:extLst>
      <p:ext uri="{BB962C8B-B14F-4D97-AF65-F5344CB8AC3E}">
        <p14:creationId xmlns:p14="http://schemas.microsoft.com/office/powerpoint/2010/main" val="336482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附录：PyTRIO 怎样把选择题变成训练样本">
            <a:extLst xmlns:a="http://schemas.openxmlformats.org/drawingml/2006/main">
              <a:ext uri="{FF2B5EF4-FFF2-40B4-BE49-F238E27FC236}">
                <a16:creationId xmlns:a16="http://schemas.microsoft.com/office/drawing/2014/main" id="{6E4E9AA6-24A0-4390-BD5B-074E4422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991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附录：PyTRIO 怎样把选择题变成训练样本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FE501-AD2A-493A-85F0-85B46FD2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51A26-68B0-4E32-9C3B-6CEB3851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4" name="来源：agentic-rl-lab/09-pytrio-jev与PyTRIO文档；代码快照d2ba99c">
            <a:extLst xmlns:a="http://schemas.openxmlformats.org/drawingml/2006/main">
              <a:ext uri="{FF2B5EF4-FFF2-40B4-BE49-F238E27FC236}">
                <a16:creationId xmlns:a16="http://schemas.microsoft.com/office/drawing/2014/main" id="{04428304-5FEF-4EA2-93CA-14391772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来源：agentic-rl-lab/09-pytrio-jev与PyTRIO文档；代码快照d2ba99c</a:t>
            </a:r>
          </a:p>
        </p:txBody>
      </p:sp>
      <p:sp>
        <p:nvSpPr>
          <p:cNvPr id="5" name="21">
            <a:extLst xmlns:a="http://schemas.openxmlformats.org/drawingml/2006/main">
              <a:ext uri="{FF2B5EF4-FFF2-40B4-BE49-F238E27FC236}">
                <a16:creationId xmlns:a16="http://schemas.microsoft.com/office/drawing/2014/main" id="{1AF63153-C1B5-41E9-A7C4-B1FF9833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21</a:t>
            </a:r>
          </a:p>
        </p:txBody>
      </p:sp>
      <p:sp>
        <p:nvSpPr>
          <p:cNvPr id="6" name="PyTRIO提供远程训练基础设施，社区配方使用Qwen3.5-4B LoRA SFT">
            <a:extLst xmlns:a="http://schemas.openxmlformats.org/drawingml/2006/main">
              <a:ext uri="{FF2B5EF4-FFF2-40B4-BE49-F238E27FC236}">
                <a16:creationId xmlns:a16="http://schemas.microsoft.com/office/drawing/2014/main" id="{2E2C696B-463A-4849-9D79-F1CFCA7E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14475"/>
            <a:ext cx="11010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PyTRIO提供远程训练基础设施，社区配方使用Qwen3.5-4B LoRA SFT</a:t>
            </a:r>
          </a:p>
        </p:txBody>
      </p:sp>
      <p:sp>
        <p:nvSpPr>
          <p:cNvPr id="7" name="state与全部问题&#10;完整JSON骨架">
            <a:extLst xmlns:a="http://schemas.openxmlformats.org/drawingml/2006/main">
              <a:ext uri="{FF2B5EF4-FFF2-40B4-BE49-F238E27FC236}">
                <a16:creationId xmlns:a16="http://schemas.microsoft.com/office/drawing/2014/main" id="{D5EEB128-183B-4797-99DB-95DC1376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52675"/>
            <a:ext cx="3095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8616B"/>
            </a:solidFill>
          </a:ln>
        </p:spPr>
        <p:txBody>
          <a:bodyPr xmlns:a="http://schemas.openxmlformats.org/drawingml/2006/main" lIns="114300" tIns="17145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state与全部问题</a:t>
            </a:r>
          </a:p>
          <a:p xmlns:a="http://schemas.openxmlformats.org/drawingml/2006/main">
            <a:pPr algn="ctr">
              <a:defRPr sz="18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完整JSON骨架</a:t>
            </a:r>
          </a:p>
        </p:txBody>
      </p:sp>
      <p:sp>
        <p:nvSpPr>
          <p:cNvPr id="8" name="标记位置监督&#10;全词表交叉熵">
            <a:extLst xmlns:a="http://schemas.openxmlformats.org/drawingml/2006/main">
              <a:ext uri="{FF2B5EF4-FFF2-40B4-BE49-F238E27FC236}">
                <a16:creationId xmlns:a16="http://schemas.microsoft.com/office/drawing/2014/main" id="{9925CF2D-8E22-4A45-A083-8128A5C7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352675"/>
            <a:ext cx="3095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8616B"/>
            </a:solidFill>
          </a:ln>
        </p:spPr>
        <p:txBody>
          <a:bodyPr xmlns:a="http://schemas.openxmlformats.org/drawingml/2006/main" lIns="114300" tIns="17145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标记位置监督</a:t>
            </a:r>
          </a:p>
          <a:p xmlns:a="http://schemas.openxmlformats.org/drawingml/2006/main">
            <a:pPr algn="ctr">
              <a:defRPr sz="18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全词表交叉熵</a:t>
            </a:r>
          </a:p>
        </p:txBody>
      </p:sp>
      <p:sp>
        <p:nvSpPr>
          <p:cNvPr id="9" name="候选符号读出&#10;映射回原始答案">
            <a:extLst xmlns:a="http://schemas.openxmlformats.org/drawingml/2006/main">
              <a:ext uri="{FF2B5EF4-FFF2-40B4-BE49-F238E27FC236}">
                <a16:creationId xmlns:a16="http://schemas.microsoft.com/office/drawing/2014/main" id="{E54BD24F-4DA7-423D-863D-33B2F642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352675"/>
            <a:ext cx="3114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8616B"/>
            </a:solidFill>
          </a:ln>
        </p:spPr>
        <p:txBody>
          <a:bodyPr xmlns:a="http://schemas.openxmlformats.org/drawingml/2006/main" lIns="114300" tIns="17145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候选符号读出</a:t>
            </a:r>
          </a:p>
          <a:p xmlns:a="http://schemas.openxmlformats.org/drawingml/2006/main">
            <a:pPr algn="ctr">
              <a:defRPr sz="18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映射回原始答案</a:t>
            </a:r>
          </a:p>
        </p:txBody>
      </p:sp>
      <p:cxnSp>
        <p:nvCxnSpPr>
          <p:cNvPr id="2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86175" y="28765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8616B"/>
            </a:solidFill>
            <a:tailEnd type="arrow" w="sm" len="sm"/>
          </a:ln>
        </p:spPr>
      </p:cxnSp>
      <p:cxnSp>
        <p:nvCxnSpPr>
          <p:cNvPr id="2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639050" y="2876550"/>
            <a:ext cx="8477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8616B"/>
            </a:solidFill>
            <a:tailEnd type="arrow" w="sm" len="sm"/>
          </a:ln>
        </p:spPr>
      </p:cxnSp>
      <p:graphicFrame>
        <p:nvGraphicFramePr>
          <p:cNvPr id="24" name=""/>
          <p:cNvGraphicFramePr/>
          <p:nvPr/>
        </p:nvGraphicFramePr>
        <p:xfrm>
          <a:off xmlns:a="http://schemas.openxmlformats.org/drawingml/2006/main" x="590550" y="3914775"/>
          <a:ext xmlns:a="http://schemas.openxmlformats.org/drawingml/2006/main" cx="11010900" cy="2114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5867400"/>
              </a:tblGrid>
              <a:tr h="5286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公开的训练设置</a:t>
                      </a:r>
                    </a:p>
                  </a:txBody>
                  <a:tcPr marL="142875" marR="142875" marT="114300" marB="1143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实现与评估边界</a:t>
                      </a:r>
                    </a:p>
                  </a:txBody>
                  <a:tcPr marL="142875" marR="142875" marT="114300" marB="114300" anchor="ctr">
                    <a:solidFill>
                      <a:srgbClr val="F1F4F6"/>
                    </a:solidFill>
                  </a:tcPr>
                </a:tc>
              </a:tr>
              <a:tr h="52863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2160条 / 2个epoch / rank32 / 270步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监督CE训练，未复现TypeSafe RLCD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</a:tr>
              <a:tr h="52863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标记前一位置监督，其余位置权重为0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top-k候选读出，缺失项近似填充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</a:tr>
              <a:tr h="52863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公开数据处理、训练、推理与校准代码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同工作流专用评测；本次未复跑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986680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附录：Intern-Decision 怎样读出答案">
            <a:extLst xmlns:a="http://schemas.openxmlformats.org/drawingml/2006/main">
              <a:ext uri="{FF2B5EF4-FFF2-40B4-BE49-F238E27FC236}">
                <a16:creationId xmlns:a16="http://schemas.microsoft.com/office/drawing/2014/main" id="{12D08AEF-852F-4649-AD4E-C7C277CE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991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附录：Intern-Decision 怎样读出答案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18EB1-FCBD-4922-BF74-A5F702C7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5E13C-3756-4D4D-B8FD-C4E04256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4" name="来源：InternLM/Intern-Decision README_zh-CN、源码与模型卡；本次未复跑">
            <a:extLst xmlns:a="http://schemas.openxmlformats.org/drawingml/2006/main">
              <a:ext uri="{FF2B5EF4-FFF2-40B4-BE49-F238E27FC236}">
                <a16:creationId xmlns:a16="http://schemas.microsoft.com/office/drawing/2014/main" id="{7B4D3A32-57AF-4DE6-BA1C-666CC950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来源：InternLM/Intern-Decision README_zh-CN、源码与模型卡；本次未复跑</a:t>
            </a:r>
          </a:p>
        </p:txBody>
      </p:sp>
      <p:sp>
        <p:nvSpPr>
          <p:cNvPr id="5" name="22">
            <a:extLst xmlns:a="http://schemas.openxmlformats.org/drawingml/2006/main">
              <a:ext uri="{FF2B5EF4-FFF2-40B4-BE49-F238E27FC236}">
                <a16:creationId xmlns:a16="http://schemas.microsoft.com/office/drawing/2014/main" id="{205ED6F3-4110-454E-A2C5-3339EFCF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22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90550" y="1628775"/>
          <a:ext xmlns:a="http://schemas.openxmlformats.org/drawingml/2006/main" cx="11010900" cy="3876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724400"/>
                <a:gridCol w="4476750"/>
              </a:tblGrid>
              <a:tr h="77533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方面</a:t>
                      </a:r>
                    </a:p>
                  </a:txBody>
                  <a:tcPr marL="142875" marR="142875" marT="114300" marB="1143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已公开的实现</a:t>
                      </a:r>
                    </a:p>
                  </a:txBody>
                  <a:tcPr marL="142875" marR="142875" marT="114300" marB="1143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使用时应核对</a:t>
                      </a:r>
                    </a:p>
                  </a:txBody>
                  <a:tcPr marL="142875" marR="142875" marT="114300" marB="114300" anchor="ctr">
                    <a:solidFill>
                      <a:srgbClr val="F1F4F6"/>
                    </a:solidFill>
                  </a:tcPr>
                </a:tc>
              </a:tr>
              <a:tr h="77533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基座与输入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Qwen3.5 0.8B / 2B / 4B</a:t>
                      </a:r>
                    </a:p>
                    <a:p>
                      <a:r>
                        <a:rPr sz="165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支持文本与图片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名称大小不是精确总参数数</a:t>
                      </a:r>
                    </a:p>
                    <a:p>
                      <a:r>
                        <a:rPr sz="165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默认决策长度8192 token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</a:tr>
              <a:tr h="77533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训练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冻结视觉与projector</a:t>
                      </a:r>
                    </a:p>
                    <a:p>
                      <a:r>
                        <a:rPr sz="165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训练语言骨干的标记位置CE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完整历史训练数据与混合细节未公开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</a:tr>
              <a:tr h="77533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推理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一次因果前向读取合法候选logits</a:t>
                      </a:r>
                    </a:p>
                    <a:p>
                      <a:r>
                        <a:rPr sz="165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输出Choice / Score / Noul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保持问题和选项顺序</a:t>
                      </a:r>
                    </a:p>
                    <a:p>
                      <a:r>
                        <a:rPr sz="165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记录backend与校准artifact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</a:tr>
              <a:tr h="77533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评测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作者提供多套任务结果与复现实验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准确率使用XTuner，延迟使用HF</a:t>
                      </a:r>
                    </a:p>
                    <a:p>
                      <a:r>
                        <a:rPr sz="165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不能直接当同硬件Jev速度比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可作为多模态决策扩展，在独立业务数据上评估后再决定采用">
            <a:extLst xmlns:a="http://schemas.openxmlformats.org/drawingml/2006/main">
              <a:ext uri="{FF2B5EF4-FFF2-40B4-BE49-F238E27FC236}">
                <a16:creationId xmlns:a16="http://schemas.microsoft.com/office/drawing/2014/main" id="{05918B3A-28D6-49C9-A9E7-C4019778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rPr>
              <a:t>可作为多模态决策扩展，在独立业务数据上评估后再决定采用</a:t>
            </a:r>
          </a:p>
        </p:txBody>
      </p:sp>
    </p:spTree>
    <p:extLst>
      <p:ext uri="{BB962C8B-B14F-4D97-AF65-F5344CB8AC3E}">
        <p14:creationId xmlns:p14="http://schemas.microsoft.com/office/powerpoint/2010/main" val="199074193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附录：来源与阅读路径">
            <a:extLst xmlns:a="http://schemas.openxmlformats.org/drawingml/2006/main">
              <a:ext uri="{FF2B5EF4-FFF2-40B4-BE49-F238E27FC236}">
                <a16:creationId xmlns:a16="http://schemas.microsoft.com/office/drawing/2014/main" id="{961C3D34-B6F2-46C9-870D-7395E9C5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991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附录：来源与阅读路径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40CFE-78C2-45F3-9308-E5302A0A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2549E-FA5B-45FF-8B14-DB6D2BCF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4" name="新增资料核验：2026-10-04；完整链接保存在对应页演讲者备注">
            <a:extLst xmlns:a="http://schemas.openxmlformats.org/drawingml/2006/main">
              <a:ext uri="{FF2B5EF4-FFF2-40B4-BE49-F238E27FC236}">
                <a16:creationId xmlns:a16="http://schemas.microsoft.com/office/drawing/2014/main" id="{11115D79-18EC-4F0E-929F-8F25E4D9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新增资料核验：2026-10-04；完整链接保存在对应页演讲者备注</a:t>
            </a:r>
          </a:p>
        </p:txBody>
      </p:sp>
      <p:sp>
        <p:nvSpPr>
          <p:cNvPr id="5" name="23">
            <a:extLst xmlns:a="http://schemas.openxmlformats.org/drawingml/2006/main">
              <a:ext uri="{FF2B5EF4-FFF2-40B4-BE49-F238E27FC236}">
                <a16:creationId xmlns:a16="http://schemas.microsoft.com/office/drawing/2014/main" id="{2736FC32-A471-4F93-9EAD-33C0AC93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23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90550" y="1628775"/>
          <a:ext xmlns:a="http://schemas.openxmlformats.org/drawingml/2006/main" cx="11010900" cy="4105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33650"/>
                <a:gridCol w="4705350"/>
                <a:gridCol w="3771900"/>
              </a:tblGrid>
              <a:tr h="6842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阅读目的</a:t>
                      </a:r>
                    </a:p>
                  </a:txBody>
                  <a:tcPr marL="142875" marR="142875" marT="114300" marB="1143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优先来源</a:t>
                      </a:r>
                    </a:p>
                  </a:txBody>
                  <a:tcPr marL="142875" marR="142875" marT="114300" marB="1143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使用边界</a:t>
                      </a:r>
                    </a:p>
                  </a:txBody>
                  <a:tcPr marL="142875" marR="142875" marT="114300" marB="114300" anchor="ctr">
                    <a:solidFill>
                      <a:srgbClr val="F1F4F6"/>
                    </a:solidFill>
                  </a:tcPr>
                </a:tc>
              </a:tr>
              <a:tr h="684213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接口与公开限制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TypeSafe Introduction / Models / Jaggedness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作为产品契约和已披露限制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</a:tr>
              <a:tr h="684213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架构解释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Hume黑箱研究与开源实现源码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区分行为观察与架构假说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</a:tr>
              <a:tr h="684213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训练与复现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Jev Cookbook / PyTRIO社区配方 / Laya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核对实际损失、数据和读出代码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</a:tr>
              <a:tr h="684213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开放多模态路线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Intern-Decision中文README与评测协议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作者自报结果需独立业务复测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</a:tr>
              <a:tr h="684213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独立研究与应用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两篇Jev评测论文 / JevMade原项目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结论限定到模型、任务和运行设置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517972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附录：实验记录与原始训练截图">
            <a:extLst xmlns:a="http://schemas.openxmlformats.org/drawingml/2006/main">
              <a:ext uri="{FF2B5EF4-FFF2-40B4-BE49-F238E27FC236}">
                <a16:creationId xmlns:a16="http://schemas.microsoft.com/office/drawing/2014/main" id="{D22D5B21-6211-4357-AFE1-83E1937C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991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附录：实验记录与原始训练截图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54FB22-92B0-4FC7-A768-8D53F4C3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3D25F-2F33-4C0D-894F-9A9AFF5B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4" name="原图摘自用户实验记录；数值以JSON / CSV与配置为准">
            <a:extLst xmlns:a="http://schemas.openxmlformats.org/drawingml/2006/main">
              <a:ext uri="{FF2B5EF4-FFF2-40B4-BE49-F238E27FC236}">
                <a16:creationId xmlns:a16="http://schemas.microsoft.com/office/drawing/2014/main" id="{1A3B8FE0-3A92-4997-963D-B4A5E825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原图摘自用户实验记录；数值以JSON / CSV与配置为准</a:t>
            </a:r>
          </a:p>
        </p:txBody>
      </p:sp>
      <p:sp>
        <p:nvSpPr>
          <p:cNvPr id="5" name="24">
            <a:extLst xmlns:a="http://schemas.openxmlformats.org/drawingml/2006/main">
              <a:ext uri="{FF2B5EF4-FFF2-40B4-BE49-F238E27FC236}">
                <a16:creationId xmlns:a16="http://schemas.microsoft.com/office/drawing/2014/main" id="{EB30D8D3-AE38-4384-9582-F9F3880E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24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90550" y="1685925"/>
          <a:ext xmlns:a="http://schemas.openxmlformats.org/drawingml/2006/main" cx="5286375" cy="2676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3524250"/>
              </a:tblGrid>
              <a:tr h="66913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证据</a:t>
                      </a:r>
                    </a:p>
                  </a:txBody>
                  <a:tcPr marL="142875" marR="142875" marT="114300" marB="1143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内容与当前页码</a:t>
                      </a:r>
                    </a:p>
                  </a:txBody>
                  <a:tcPr marL="142875" marR="142875" marT="114300" marB="114300" anchor="ctr">
                    <a:solidFill>
                      <a:srgbClr val="F1F4F6"/>
                    </a:solidFill>
                  </a:tcPr>
                </a:tc>
              </a:tr>
              <a:tr h="66913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E01 / E02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10条smoke响应，第11页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</a:tr>
              <a:tr h="66913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E03 / E04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训练与test，第12–14页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</a:tr>
              <a:tr h="66913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E05 / E06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校准与错例，第15、17–18、31页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Head-only原始训练报告">
            <a:extLst xmlns:a="http://schemas.openxmlformats.org/drawingml/2006/main">
              <a:ext uri="{FF2B5EF4-FFF2-40B4-BE49-F238E27FC236}">
                <a16:creationId xmlns:a16="http://schemas.microsoft.com/office/drawing/2014/main" id="{393B1FBC-B1C3-467C-8D94-BF69B1EF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90675"/>
            <a:ext cx="501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Head-only原始训练报告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9491a312b94e20"/>
          <a:stretch xmlns:a="http://schemas.openxmlformats.org/drawingml/2006/main"/>
        </p:blipFill>
        <p:spPr>
          <a:xfrm xmlns:a="http://schemas.openxmlformats.org/drawingml/2006/main">
            <a:off x="6675885" y="2095500"/>
            <a:ext cx="4840981" cy="3590925"/>
          </a:xfrm>
          <a:prstGeom xmlns:a="http://schemas.openxmlformats.org/drawingml/2006/main" prst="rect">
            <a:avLst/>
          </a:prstGeom>
        </p:spPr>
      </p:pic>
      <p:sp>
        <p:nvSpPr>
          <p:cNvPr id="9" name="截图dev准确率始终54%，">
            <a:extLst xmlns:a="http://schemas.openxmlformats.org/drawingml/2006/main">
              <a:ext uri="{FF2B5EF4-FFF2-40B4-BE49-F238E27FC236}">
                <a16:creationId xmlns:a16="http://schemas.microsoft.com/office/drawing/2014/main" id="{BAC35A0C-D774-4150-9E1B-99FCC96F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67275"/>
            <a:ext cx="5286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截图dev准确率始终54%，</a:t>
            </a:r>
          </a:p>
          <a:p xmlns:a="http://schemas.openxmlformats.org/drawingml/2006/main">
            <a:pPr>
              <a:defRPr sz="187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与第12页重绘曲线一致</a:t>
            </a:r>
          </a:p>
        </p:txBody>
      </p:sp>
    </p:spTree>
    <p:extLst>
      <p:ext uri="{BB962C8B-B14F-4D97-AF65-F5344CB8AC3E}">
        <p14:creationId xmlns:p14="http://schemas.microsoft.com/office/powerpoint/2010/main" val="133660687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附录：训练答案、调整概率，各自改了什么">
            <a:extLst xmlns:a="http://schemas.openxmlformats.org/drawingml/2006/main">
              <a:ext uri="{FF2B5EF4-FFF2-40B4-BE49-F238E27FC236}">
                <a16:creationId xmlns:a16="http://schemas.microsoft.com/office/drawing/2014/main" id="{5C1B6939-E3CD-4D13-9527-C552A7DF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991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附录：训练答案、调整概率，各自改了什么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E8312-996B-419E-A132-D966DD30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6E062-E775-4784-8BAE-87B0A491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4" name="来源：Jev Cookbook、Laya模型卡、NanoJev与PyTRIO社区配方">
            <a:extLst xmlns:a="http://schemas.openxmlformats.org/drawingml/2006/main">
              <a:ext uri="{FF2B5EF4-FFF2-40B4-BE49-F238E27FC236}">
                <a16:creationId xmlns:a16="http://schemas.microsoft.com/office/drawing/2014/main" id="{725E6AB8-47FC-44B2-BEC3-07EBE1C9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来源：Jev Cookbook、Laya模型卡、NanoJev与PyTRIO社区配方</a:t>
            </a:r>
          </a:p>
        </p:txBody>
      </p:sp>
      <p:sp>
        <p:nvSpPr>
          <p:cNvPr id="5" name="25">
            <a:extLst xmlns:a="http://schemas.openxmlformats.org/drawingml/2006/main">
              <a:ext uri="{FF2B5EF4-FFF2-40B4-BE49-F238E27FC236}">
                <a16:creationId xmlns:a16="http://schemas.microsoft.com/office/drawing/2014/main" id="{A42BB690-D52E-4F5D-8243-BFC134E4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25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90550" y="1733550"/>
          <a:ext xmlns:a="http://schemas.openxmlformats.org/drawingml/2006/main" cx="11010900" cy="3400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581400"/>
                <a:gridCol w="4572000"/>
              </a:tblGrid>
              <a:tr h="68008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阶段</a:t>
                      </a:r>
                    </a:p>
                  </a:txBody>
                  <a:tcPr marL="142875" marR="142875" marT="114300" marB="1143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更新对象</a:t>
                      </a:r>
                    </a:p>
                  </a:txBody>
                  <a:tcPr marL="142875" marR="142875" marT="114300" marB="1143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要回答的问题</a:t>
                      </a:r>
                    </a:p>
                  </a:txBody>
                  <a:tcPr marL="142875" marR="142875" marT="114300" marB="114300" anchor="ctr">
                    <a:solidFill>
                      <a:srgbClr val="F1F4F6"/>
                    </a:solidFill>
                  </a:tcPr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监督训练 SFT / CE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权重或任务头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能否学到业务标签边界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温度校准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一个概率变换参数T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分布锐度能否匹配观察频率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阈值选择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接受、澄清或回退门槛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风险与覆盖率如何取舍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RLCD研究扩展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取决于奖励和具体实现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训练信号及泛化是否可验证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平台支持RL，不代表其中的CE训练配方已经使用RL">
            <a:extLst xmlns:a="http://schemas.openxmlformats.org/drawingml/2006/main">
              <a:ext uri="{FF2B5EF4-FFF2-40B4-BE49-F238E27FC236}">
                <a16:creationId xmlns:a16="http://schemas.microsoft.com/office/drawing/2014/main" id="{7FBECCCE-3BDD-40F9-8AF7-9AF845D1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29275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rPr>
              <a:t>平台支持RL，不代表其中的CE训练配方已经使用RL</a:t>
            </a:r>
          </a:p>
        </p:txBody>
      </p:sp>
    </p:spTree>
    <p:extLst>
      <p:ext uri="{BB962C8B-B14F-4D97-AF65-F5344CB8AC3E}">
        <p14:creationId xmlns:p14="http://schemas.microsoft.com/office/powerpoint/2010/main" val="102299238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附录：接口相像，内部可以很不一样">
            <a:extLst xmlns:a="http://schemas.openxmlformats.org/drawingml/2006/main">
              <a:ext uri="{FF2B5EF4-FFF2-40B4-BE49-F238E27FC236}">
                <a16:creationId xmlns:a16="http://schemas.microsoft.com/office/drawing/2014/main" id="{63BFC0CF-89F6-49EA-BE4F-0C0DC27C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991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附录：接口相像，内部可以很不一样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478F25-30EF-4352-B15E-4A8F7181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8AE47-93F7-4676-A79F-84197397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4" name="接口相似不等于架构相同；完整记录owner/repository与checkpoint">
            <a:extLst xmlns:a="http://schemas.openxmlformats.org/drawingml/2006/main">
              <a:ext uri="{FF2B5EF4-FFF2-40B4-BE49-F238E27FC236}">
                <a16:creationId xmlns:a16="http://schemas.microsoft.com/office/drawing/2014/main" id="{37339FA2-A78C-426E-B613-65F5B7DB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接口相似不等于架构相同；完整记录owner/repository与checkpoint</a:t>
            </a:r>
          </a:p>
        </p:txBody>
      </p:sp>
      <p:sp>
        <p:nvSpPr>
          <p:cNvPr id="5" name="26">
            <a:extLst xmlns:a="http://schemas.openxmlformats.org/drawingml/2006/main">
              <a:ext uri="{FF2B5EF4-FFF2-40B4-BE49-F238E27FC236}">
                <a16:creationId xmlns:a16="http://schemas.microsoft.com/office/drawing/2014/main" id="{680F3500-CED9-49DD-A0FD-B9B0AE6A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26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90550" y="1581150"/>
          <a:ext xmlns:a="http://schemas.openxmlformats.org/drawingml/2006/main" cx="110109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4533900"/>
                <a:gridCol w="3524250"/>
              </a:tblGrid>
              <a:tr h="6477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项目</a:t>
                      </a:r>
                    </a:p>
                  </a:txBody>
                  <a:tcPr marL="142875" marR="142875" marT="114300" marB="1143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公开的实现方向</a:t>
                      </a:r>
                    </a:p>
                  </a:txBody>
                  <a:tcPr marL="142875" marR="142875" marT="114300" marB="1143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适合延伸的内容</a:t>
                      </a:r>
                    </a:p>
                  </a:txBody>
                  <a:tcPr marL="142875" marR="142875" marT="114300" marB="114300" anchor="ctr">
                    <a:solidFill>
                      <a:srgbClr val="F1F4F6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Laya multilingual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mmBERT-base双向编码与候选打分</a:t>
                      </a:r>
                    </a:p>
                    <a:p>
                      <a:r>
                        <a:rPr sz="157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约322M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本地多语言决策与业务校准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NanoJev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Qwen3-0.6B加决策头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动态候选与公开训练流程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SemIf（原OpenJev）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冻结语言模型，读取候选logits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直接选项读出与校准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openJev-verdict-2.0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独立社区决策模型项目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核对具体权重与评测协议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layaMOE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共享冻结编码器、路由器、专用头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独立社区领域扩展，非官方Laya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同名confidence可能含义不同：Laya使用1−归一化熵，Jev Choice使用最大概率公式">
            <a:extLst xmlns:a="http://schemas.openxmlformats.org/drawingml/2006/main">
              <a:ext uri="{FF2B5EF4-FFF2-40B4-BE49-F238E27FC236}">
                <a16:creationId xmlns:a16="http://schemas.microsoft.com/office/drawing/2014/main" id="{46F40AF7-CA78-43D5-84D1-94722F49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53100"/>
            <a:ext cx="1101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rPr>
              <a:t>同名confidence可能含义不同：Laya使用1−归一化熵，Jev Choice使用最大概率公式</a:t>
            </a:r>
          </a:p>
        </p:txBody>
      </p:sp>
    </p:spTree>
    <p:extLst>
      <p:ext uri="{BB962C8B-B14F-4D97-AF65-F5344CB8AC3E}">
        <p14:creationId xmlns:p14="http://schemas.microsoft.com/office/powerpoint/2010/main" val="74812281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附录：CLM-8B 用相似度给已有候选排序">
            <a:extLst xmlns:a="http://schemas.openxmlformats.org/drawingml/2006/main">
              <a:ext uri="{FF2B5EF4-FFF2-40B4-BE49-F238E27FC236}">
                <a16:creationId xmlns:a16="http://schemas.microsoft.com/office/drawing/2014/main" id="{B4C25077-CB95-45C2-8D8A-F26DCC14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991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附录：CLM-8B 用相似度给已有候选排序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14F06-C80C-44A4-80B3-A55E1128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2E60DF-7E70-4F5C-90C0-78A98885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4" name="来源：Contrastive-LM模型卡与仓库；概率相对于给定候选集合">
            <a:extLst xmlns:a="http://schemas.openxmlformats.org/drawingml/2006/main">
              <a:ext uri="{FF2B5EF4-FFF2-40B4-BE49-F238E27FC236}">
                <a16:creationId xmlns:a16="http://schemas.microsoft.com/office/drawing/2014/main" id="{3372FB66-0C04-43AE-BA16-4682FF5E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来源：Contrastive-LM模型卡与仓库；概率相对于给定候选集合</a:t>
            </a:r>
          </a:p>
        </p:txBody>
      </p:sp>
      <p:sp>
        <p:nvSpPr>
          <p:cNvPr id="5" name="27">
            <a:extLst xmlns:a="http://schemas.openxmlformats.org/drawingml/2006/main">
              <a:ext uri="{FF2B5EF4-FFF2-40B4-BE49-F238E27FC236}">
                <a16:creationId xmlns:a16="http://schemas.microsoft.com/office/drawing/2014/main" id="{68919D9A-D7B4-4C2E-AA2D-28C50297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27</a:t>
            </a:r>
          </a:p>
        </p:txBody>
      </p:sp>
      <p:sp>
        <p:nvSpPr>
          <p:cNvPr id="6" name="state与候选actions&#10;分别编码">
            <a:extLst xmlns:a="http://schemas.openxmlformats.org/drawingml/2006/main">
              <a:ext uri="{FF2B5EF4-FFF2-40B4-BE49-F238E27FC236}">
                <a16:creationId xmlns:a16="http://schemas.microsoft.com/office/drawing/2014/main" id="{7D736D4B-0CB3-42A1-9296-BB92149D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31146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8616B"/>
            </a:solidFill>
          </a:ln>
        </p:spPr>
        <p:txBody>
          <a:bodyPr xmlns:a="http://schemas.openxmlformats.org/drawingml/2006/main" lIns="114300" tIns="17145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state与候选actions</a:t>
            </a:r>
          </a:p>
          <a:p xmlns:a="http://schemas.openxmlformats.org/drawingml/2006/main">
            <a:pPr algn="ctr">
              <a:defRPr sz="18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分别编码</a:t>
            </a:r>
          </a:p>
        </p:txBody>
      </p:sp>
      <p:sp>
        <p:nvSpPr>
          <p:cNvPr id="7" name="冻结Qwen3-8B&#10;state / action投影头">
            <a:extLst xmlns:a="http://schemas.openxmlformats.org/drawingml/2006/main">
              <a:ext uri="{FF2B5EF4-FFF2-40B4-BE49-F238E27FC236}">
                <a16:creationId xmlns:a16="http://schemas.microsoft.com/office/drawing/2014/main" id="{E92666DB-CF67-4104-8C56-234C9810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343150"/>
            <a:ext cx="31051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8616B"/>
            </a:solidFill>
          </a:ln>
        </p:spPr>
        <p:txBody>
          <a:bodyPr xmlns:a="http://schemas.openxmlformats.org/drawingml/2006/main" lIns="114300" tIns="17145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冻结Qwen3-8B</a:t>
            </a:r>
          </a:p>
          <a:p xmlns:a="http://schemas.openxmlformats.org/drawingml/2006/main">
            <a:pPr algn="ctr">
              <a:defRPr sz="18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state / action投影头</a:t>
            </a:r>
          </a:p>
        </p:txBody>
      </p:sp>
      <p:sp>
        <p:nvSpPr>
          <p:cNvPr id="8" name="候选相似度&#10;softmax分布">
            <a:extLst xmlns:a="http://schemas.openxmlformats.org/drawingml/2006/main">
              <a:ext uri="{FF2B5EF4-FFF2-40B4-BE49-F238E27FC236}">
                <a16:creationId xmlns:a16="http://schemas.microsoft.com/office/drawing/2014/main" id="{0327A25A-FDA5-48FA-89DC-6354A4E4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343150"/>
            <a:ext cx="31146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8616B"/>
            </a:solidFill>
          </a:ln>
        </p:spPr>
        <p:txBody>
          <a:bodyPr xmlns:a="http://schemas.openxmlformats.org/drawingml/2006/main" lIns="114300" tIns="17145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候选相似度</a:t>
            </a:r>
          </a:p>
          <a:p xmlns:a="http://schemas.openxmlformats.org/drawingml/2006/main">
            <a:pPr algn="ctr">
              <a:defRPr sz="18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softmax分布</a:t>
            </a:r>
          </a:p>
        </p:txBody>
      </p:sp>
      <p:cxnSp>
        <p:nvCxnSpPr>
          <p:cNvPr id="2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705225" y="2881313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8616B"/>
            </a:solidFill>
            <a:tailEnd type="arrow" w="sm" len="sm"/>
          </a:ln>
        </p:spPr>
      </p:cxnSp>
      <p:cxnSp>
        <p:nvCxnSpPr>
          <p:cNvPr id="2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648575" y="2881313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8616B"/>
            </a:solidFill>
            <a:tailEnd type="arrow" w="sm" len="sm"/>
          </a:ln>
        </p:spPr>
      </p:cxnSp>
      <p:sp>
        <p:nvSpPr>
          <p:cNvPr id="11" name="训练目标：双向InfoNCE">
            <a:extLst xmlns:a="http://schemas.openxmlformats.org/drawingml/2006/main">
              <a:ext uri="{FF2B5EF4-FFF2-40B4-BE49-F238E27FC236}">
                <a16:creationId xmlns:a16="http://schemas.microsoft.com/office/drawing/2014/main" id="{3CDF4722-846D-48A5-93AE-EE90A247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24025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rPr>
              <a:t>训练目标：双向InfoNCE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590550" y="4038600"/>
          <a:ext xmlns:a="http://schemas.openxmlformats.org/drawingml/2006/main" cx="11010900" cy="1933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05450"/>
                <a:gridCol w="5505450"/>
              </a:tblGrid>
              <a:tr h="48339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可解释的能力</a:t>
                      </a:r>
                    </a:p>
                  </a:txBody>
                  <a:tcPr marL="142875" marR="142875" marT="114300" marB="1143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必要的限制</a:t>
                      </a:r>
                    </a:p>
                  </a:txBody>
                  <a:tcPr marL="142875" marR="142875" marT="114300" marB="114300" anchor="ctr">
                    <a:solidFill>
                      <a:srgbClr val="F1F4F6"/>
                    </a:solidFill>
                  </a:tcPr>
                </a:tc>
              </a:tr>
              <a:tr h="483394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为已有候选排序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不能补出缺失的正确动作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</a:tr>
              <a:tr h="483394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可针对任务训练投影头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公开verifier高分依赖任务微调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</a:tr>
              <a:tr h="483394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可迁移推理runtime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量化或backend变化后仍需复测与校准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07475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附录：OpenAI Decisions API 的官方预览">
            <a:extLst xmlns:a="http://schemas.openxmlformats.org/drawingml/2006/main">
              <a:ext uri="{FF2B5EF4-FFF2-40B4-BE49-F238E27FC236}">
                <a16:creationId xmlns:a16="http://schemas.microsoft.com/office/drawing/2014/main" id="{1C221AAF-D333-4EFA-8C42-788CF802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991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附录：OpenAI Decisions API 的官方预览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DB320-8D9C-4B40-AFE3-347C6C82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421D9B-ED54-4830-84D0-24D6A67C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4" name="来源：OpenAI DevDay 2026 Recap，2026-09-29；公告状态为有限预览">
            <a:extLst xmlns:a="http://schemas.openxmlformats.org/drawingml/2006/main">
              <a:ext uri="{FF2B5EF4-FFF2-40B4-BE49-F238E27FC236}">
                <a16:creationId xmlns:a16="http://schemas.microsoft.com/office/drawing/2014/main" id="{D316AA16-9C43-43AA-B9D9-3F1D267E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来源：OpenAI DevDay 2026 Recap，2026-09-29；公告状态为有限预览</a:t>
            </a:r>
          </a:p>
        </p:txBody>
      </p:sp>
      <p:sp>
        <p:nvSpPr>
          <p:cNvPr id="5" name="28">
            <a:extLst xmlns:a="http://schemas.openxmlformats.org/drawingml/2006/main">
              <a:ext uri="{FF2B5EF4-FFF2-40B4-BE49-F238E27FC236}">
                <a16:creationId xmlns:a16="http://schemas.microsoft.com/office/drawing/2014/main" id="{7157C467-C48D-4DCD-AA6F-30CFE38B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28</a:t>
            </a:r>
          </a:p>
        </p:txBody>
      </p:sp>
      <p:sp>
        <p:nvSpPr>
          <p:cNvPr id="6" name="文本或图片上下文">
            <a:extLst xmlns:a="http://schemas.openxmlformats.org/drawingml/2006/main">
              <a:ext uri="{FF2B5EF4-FFF2-40B4-BE49-F238E27FC236}">
                <a16:creationId xmlns:a16="http://schemas.microsoft.com/office/drawing/2014/main" id="{A1853E7B-5704-4D9D-8173-1EA3929D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14575"/>
            <a:ext cx="3105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8616B"/>
            </a:solidFill>
          </a:ln>
        </p:spPr>
        <p:txBody>
          <a:bodyPr xmlns:a="http://schemas.openxmlformats.org/drawingml/2006/main" lIns="114300" tIns="17145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文本或图片上下文</a:t>
            </a:r>
          </a:p>
        </p:txBody>
      </p:sp>
      <p:sp>
        <p:nvSpPr>
          <p:cNvPr id="7" name="Luna判断接口">
            <a:extLst xmlns:a="http://schemas.openxmlformats.org/drawingml/2006/main">
              <a:ext uri="{FF2B5EF4-FFF2-40B4-BE49-F238E27FC236}">
                <a16:creationId xmlns:a16="http://schemas.microsoft.com/office/drawing/2014/main" id="{059C3D49-2AB6-4510-A1C1-3F8CAAFE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314575"/>
            <a:ext cx="3105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8616B"/>
            </a:solidFill>
          </a:ln>
        </p:spPr>
        <p:txBody>
          <a:bodyPr xmlns:a="http://schemas.openxmlformats.org/drawingml/2006/main" lIns="114300" tIns="17145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Luna判断接口</a:t>
            </a:r>
          </a:p>
        </p:txBody>
      </p:sp>
      <p:sp>
        <p:nvSpPr>
          <p:cNvPr id="8" name="有限预设答案">
            <a:extLst xmlns:a="http://schemas.openxmlformats.org/drawingml/2006/main">
              <a:ext uri="{FF2B5EF4-FFF2-40B4-BE49-F238E27FC236}">
                <a16:creationId xmlns:a16="http://schemas.microsoft.com/office/drawing/2014/main" id="{0C6088E8-7E4A-424A-AA2E-79BC1E6B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14575"/>
            <a:ext cx="3105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8616B"/>
            </a:solidFill>
          </a:ln>
        </p:spPr>
        <p:txBody>
          <a:bodyPr xmlns:a="http://schemas.openxmlformats.org/drawingml/2006/main" lIns="114300" tIns="17145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有限预设答案</a:t>
            </a:r>
          </a:p>
        </p:txBody>
      </p:sp>
      <p:cxnSp>
        <p:nvCxnSpPr>
          <p:cNvPr id="2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95700" y="2828925"/>
            <a:ext cx="8477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8616B"/>
            </a:solidFill>
            <a:tailEnd type="arrow" w="sm" len="sm"/>
          </a:ln>
        </p:spPr>
      </p:cxnSp>
      <p:cxnSp>
        <p:nvCxnSpPr>
          <p:cNvPr id="2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648575" y="2828925"/>
            <a:ext cx="8477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8616B"/>
            </a:solidFill>
            <a:tailEnd type="arrow" w="sm" len="sm"/>
          </a:ln>
        </p:spPr>
      </p:cxnSp>
      <p:sp>
        <p:nvSpPr>
          <p:cNvPr id="11" name="采用前需要核对">
            <a:extLst xmlns:a="http://schemas.openxmlformats.org/drawingml/2006/main">
              <a:ext uri="{FF2B5EF4-FFF2-40B4-BE49-F238E27FC236}">
                <a16:creationId xmlns:a16="http://schemas.microsoft.com/office/drawing/2014/main" id="{3C8DB8B9-98A1-4425-AFB4-89892140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62400"/>
            <a:ext cx="1101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采用前需要核对</a:t>
            </a:r>
          </a:p>
        </p:txBody>
      </p:sp>
      <p:sp>
        <p:nvSpPr>
          <p:cNvPr id="12" name="账户权限、请求格式与价格、分数语义、业务准确率与延迟">
            <a:extLst xmlns:a="http://schemas.openxmlformats.org/drawingml/2006/main">
              <a:ext uri="{FF2B5EF4-FFF2-40B4-BE49-F238E27FC236}">
                <a16:creationId xmlns:a16="http://schemas.microsoft.com/office/drawing/2014/main" id="{4D89B3F7-EAD6-46E2-BD3C-39B98575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6300"/>
            <a:ext cx="110109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账户权限、请求格式与价格、分数语义、业务准确率与延迟</a:t>
            </a:r>
          </a:p>
        </p:txBody>
      </p:sp>
    </p:spTree>
    <p:extLst>
      <p:ext uri="{BB962C8B-B14F-4D97-AF65-F5344CB8AC3E}">
        <p14:creationId xmlns:p14="http://schemas.microsoft.com/office/powerpoint/2010/main" val="65724984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附录：路由、校准与拒答，分别读什么">
            <a:extLst xmlns:a="http://schemas.openxmlformats.org/drawingml/2006/main">
              <a:ext uri="{FF2B5EF4-FFF2-40B4-BE49-F238E27FC236}">
                <a16:creationId xmlns:a16="http://schemas.microsoft.com/office/drawing/2014/main" id="{EE123B13-29D3-4AA0-B1F0-16EB0BE1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991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附录：路由、校准与拒答，分别读什么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76AFC-5584-4109-82F0-AFE15BD4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EEFC6-2F2B-4873-A618-3A5CC012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4" name="这些是相关方向综述，不是Jev专题综述">
            <a:extLst xmlns:a="http://schemas.openxmlformats.org/drawingml/2006/main">
              <a:ext uri="{FF2B5EF4-FFF2-40B4-BE49-F238E27FC236}">
                <a16:creationId xmlns:a16="http://schemas.microsoft.com/office/drawing/2014/main" id="{212E4A6B-45FE-4809-9508-3CF451BE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这些是相关方向综述，不是Jev专题综述</a:t>
            </a:r>
          </a:p>
        </p:txBody>
      </p:sp>
      <p:sp>
        <p:nvSpPr>
          <p:cNvPr id="5" name="29">
            <a:extLst xmlns:a="http://schemas.openxmlformats.org/drawingml/2006/main">
              <a:ext uri="{FF2B5EF4-FFF2-40B4-BE49-F238E27FC236}">
                <a16:creationId xmlns:a16="http://schemas.microsoft.com/office/drawing/2014/main" id="{DE63F6F5-F94A-4C22-A25E-35EC60E9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29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90550" y="1781175"/>
          <a:ext xmlns:a="http://schemas.openxmlformats.org/drawingml/2006/main" cx="11010900" cy="3276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533900"/>
                <a:gridCol w="3905250"/>
              </a:tblGrid>
              <a:tr h="8191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研究方向</a:t>
                      </a:r>
                    </a:p>
                  </a:txBody>
                  <a:tcPr marL="142875" marR="142875" marT="114300" marB="1143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阅读问题</a:t>
                      </a:r>
                    </a:p>
                  </a:txBody>
                  <a:tcPr marL="142875" marR="142875" marT="114300" marB="1143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代表综述</a:t>
                      </a:r>
                    </a:p>
                  </a:txBody>
                  <a:tcPr marL="142875" marR="142875" marT="114300" marB="114300" anchor="ctr">
                    <a:solidFill>
                      <a:srgbClr val="F1F4F6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模型路由与级联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调用前选择模型，还是先试再升级？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Moslem与Kelleher，2026</a:t>
                      </a:r>
                    </a:p>
                    <a:p>
                      <a:r>
                        <a:rPr sz="165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arXiv:2603.04445v3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分类概率校准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怎样检查和改善预测概率？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Silva Filho等，2021 / 2023</a:t>
                      </a:r>
                    </a:p>
                    <a:p>
                      <a:r>
                        <a:rPr sz="165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arXiv:2112.10327v2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拒答与交接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怎样定义不知道、停止与回退出口？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Wen等，2024 / 2025</a:t>
                      </a:r>
                    </a:p>
                    <a:p>
                      <a:r>
                        <a:rPr sz="1650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arXiv:2407.18418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先统一概率与风险的定义，再比较不同接口和模型">
            <a:extLst xmlns:a="http://schemas.openxmlformats.org/drawingml/2006/main">
              <a:ext uri="{FF2B5EF4-FFF2-40B4-BE49-F238E27FC236}">
                <a16:creationId xmlns:a16="http://schemas.microsoft.com/office/drawing/2014/main" id="{786B7BD0-2591-4C27-8E37-8A582795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rPr>
              <a:t>先统一概率与风险的定义，再比较不同接口和模型</a:t>
            </a:r>
          </a:p>
        </p:txBody>
      </p:sp>
    </p:spTree>
    <p:extLst>
      <p:ext uri="{BB962C8B-B14F-4D97-AF65-F5344CB8AC3E}">
        <p14:creationId xmlns:p14="http://schemas.microsoft.com/office/powerpoint/2010/main" val="153643925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附录：独立评测提醒我们补哪些测试">
            <a:extLst xmlns:a="http://schemas.openxmlformats.org/drawingml/2006/main">
              <a:ext uri="{FF2B5EF4-FFF2-40B4-BE49-F238E27FC236}">
                <a16:creationId xmlns:a16="http://schemas.microsoft.com/office/drawing/2014/main" id="{6C9E998D-EEE8-4C6F-A56F-EEDE77D7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991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附录：独立评测提醒我们补哪些测试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D712D-BEC1-4CB8-8428-9DD40047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9F691-14A2-4FEF-AFB0-866440FD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4" name="近期预印本；结论限定到论文使用的模型、任务、数据与设置">
            <a:extLst xmlns:a="http://schemas.openxmlformats.org/drawingml/2006/main">
              <a:ext uri="{FF2B5EF4-FFF2-40B4-BE49-F238E27FC236}">
                <a16:creationId xmlns:a16="http://schemas.microsoft.com/office/drawing/2014/main" id="{1D2E886C-4141-4979-9DBF-B1879917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近期预印本；结论限定到论文使用的模型、任务、数据与设置</a:t>
            </a:r>
          </a:p>
        </p:txBody>
      </p:sp>
      <p:sp>
        <p:nvSpPr>
          <p:cNvPr id="5" name="30">
            <a:extLst xmlns:a="http://schemas.openxmlformats.org/drawingml/2006/main">
              <a:ext uri="{FF2B5EF4-FFF2-40B4-BE49-F238E27FC236}">
                <a16:creationId xmlns:a16="http://schemas.microsoft.com/office/drawing/2014/main" id="{5761AA2C-D7E4-49B8-9851-60BCE190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30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90550" y="1733550"/>
          <a:ext xmlns:a="http://schemas.openxmlformats.org/drawingml/2006/main" cx="11010900" cy="3228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3143250"/>
                <a:gridCol w="3962400"/>
              </a:tblGrid>
              <a:tr h="10763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研究</a:t>
                      </a:r>
                    </a:p>
                  </a:txBody>
                  <a:tcPr marL="142875" marR="142875" marT="114300" marB="1143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关注问题</a:t>
                      </a:r>
                    </a:p>
                  </a:txBody>
                  <a:tcPr marL="142875" marR="142875" marT="114300" marB="1143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对业务验证的启示</a:t>
                      </a:r>
                    </a:p>
                  </a:txBody>
                  <a:tcPr marL="142875" marR="142875" marT="114300" marB="114300" anchor="ctr">
                    <a:solidFill>
                      <a:srgbClr val="F1F4F6"/>
                    </a:solidFill>
                  </a:tcPr>
                </a:tc>
              </a:tr>
              <a:tr h="10763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Deußer、Sparrenberg、Sifa</a:t>
                      </a:r>
                    </a:p>
                    <a:p>
                      <a:r>
                        <a:rPr sz="172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2026-09-29</a:t>
                      </a:r>
                    </a:p>
                    <a:p>
                      <a:r>
                        <a:rPr sz="172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arXiv:2609.37647v1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跨任务表现</a:t>
                      </a:r>
                    </a:p>
                    <a:p>
                      <a:r>
                        <a:rPr sz="172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二元概率阈值的任务差异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固定版本与同一数据</a:t>
                      </a:r>
                    </a:p>
                    <a:p>
                      <a:r>
                        <a:rPr sz="172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单独说明阈值选择方法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</a:tr>
              <a:tr h="10763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Rao与Callison-Burch</a:t>
                      </a:r>
                    </a:p>
                    <a:p>
                      <a:r>
                        <a:rPr sz="172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2026-09-28，v2</a:t>
                      </a:r>
                    </a:p>
                    <a:p>
                      <a:r>
                        <a:rPr sz="172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arXiv:2609.29769v2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rubric评审错例</a:t>
                      </a:r>
                    </a:p>
                    <a:p>
                      <a:r>
                        <a:rPr sz="172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首选与备用模型错误是否相关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逐样本比较回退纠错</a:t>
                      </a:r>
                    </a:p>
                    <a:p>
                      <a:r>
                        <a:rPr sz="1725">
                          <a:solidFill>
                            <a:srgbClr val="2024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同时记录回退引入的新错误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新的比较需统一数据、候选顺序、完整概率与运行条件">
            <a:extLst xmlns:a="http://schemas.openxmlformats.org/drawingml/2006/main">
              <a:ext uri="{FF2B5EF4-FFF2-40B4-BE49-F238E27FC236}">
                <a16:creationId xmlns:a16="http://schemas.microsoft.com/office/drawing/2014/main" id="{7D1B88FA-31F7-4403-B49B-716B59BC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67350"/>
            <a:ext cx="1101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315B81"/>
                </a:solidFill>
                <a:latin typeface="Noto Sans CJK SC"/>
                <a:ea typeface="Noto Sans CJK SC"/>
                <a:cs typeface="Noto Sans CJK SC"/>
              </a:rPr>
              <a:t>新的比较需统一数据、候选顺序、完整概率与运行条件</a:t>
            </a:r>
          </a:p>
        </p:txBody>
      </p:sp>
    </p:spTree>
    <p:extLst>
      <p:ext uri="{BB962C8B-B14F-4D97-AF65-F5344CB8AC3E}">
        <p14:creationId xmlns:p14="http://schemas.microsoft.com/office/powerpoint/2010/main" val="150820052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附录：校准可靠性与风险 / 覆盖率">
            <a:extLst xmlns:a="http://schemas.openxmlformats.org/drawingml/2006/main">
              <a:ext uri="{FF2B5EF4-FFF2-40B4-BE49-F238E27FC236}">
                <a16:creationId xmlns:a16="http://schemas.microsoft.com/office/drawing/2014/main" id="{C2CC2A60-BE09-4471-B005-CAC25CD7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991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附录：校准可靠性与风险 / 覆盖率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636370-4CAD-4605-886F-2EBC2BE8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F24FD1-37F4-4002-AECA-B66E4631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4DA"/>
            </a:solidFill>
          </a:ln>
        </p:spPr>
      </p:sp>
      <p:sp>
        <p:nvSpPr>
          <p:cNvPr id="4" name="E05；50条合成test，T=1.575仅由calibration拟合；以下阈值扫描为事后探索">
            <a:extLst xmlns:a="http://schemas.openxmlformats.org/drawingml/2006/main">
              <a:ext uri="{FF2B5EF4-FFF2-40B4-BE49-F238E27FC236}">
                <a16:creationId xmlns:a16="http://schemas.microsoft.com/office/drawing/2014/main" id="{65A8CAB6-07BC-4EBC-B849-661438BA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E05；50条合成test，T=1.575仅由calibration拟合；以下阈值扫描为事后探索</a:t>
            </a:r>
          </a:p>
        </p:txBody>
      </p:sp>
      <p:sp>
        <p:nvSpPr>
          <p:cNvPr id="5" name="31">
            <a:extLst xmlns:a="http://schemas.openxmlformats.org/drawingml/2006/main">
              <a:ext uri="{FF2B5EF4-FFF2-40B4-BE49-F238E27FC236}">
                <a16:creationId xmlns:a16="http://schemas.microsoft.com/office/drawing/2014/main" id="{FD3E14E5-3960-4F37-AE88-98DB4777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31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90550" y="1657350"/>
          <a:ext xmlns:a="http://schemas.openxmlformats.org/drawingml/2006/main" cx="5286375" cy="3581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226094e7c446ef"/>
          </a:graphicData>
        </a:graphic>
      </p:graphicFrame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391275" y="1657350"/>
          <a:ext xmlns:a="http://schemas.openxmlformats.org/drawingml/2006/main" cx="5210175" cy="3581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5d815e585a847dc"/>
          </a:graphicData>
        </a:graphic>
      </p:graphicFrame>
      <p:sp>
        <p:nvSpPr>
          <p:cNvPr id="8" name="阈值0.90：接受13/50，错2/13（15.4%）">
            <a:extLst xmlns:a="http://schemas.openxmlformats.org/drawingml/2006/main">
              <a:ext uri="{FF2B5EF4-FFF2-40B4-BE49-F238E27FC236}">
                <a16:creationId xmlns:a16="http://schemas.microsoft.com/office/drawing/2014/main" id="{C59BC4B9-4779-4C4D-A4C3-46B68A6B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11010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0242A"/>
                </a:solidFill>
                <a:latin typeface="Noto Sans CJK SC"/>
                <a:ea typeface="Noto Sans CJK SC"/>
                <a:cs typeface="Noto Sans CJK SC"/>
              </a:rPr>
              <a:t>阈值0.90：接受13/50，错2/13（15.4%）</a:t>
            </a:r>
          </a:p>
        </p:txBody>
      </p:sp>
      <p:sp>
        <p:nvSpPr>
          <p:cNvPr id="9" name="阈值0.95的0/10错误不能作为部署保证；小样本风险曲线不必单调">
            <a:extLst xmlns:a="http://schemas.openxmlformats.org/drawingml/2006/main">
              <a:ext uri="{FF2B5EF4-FFF2-40B4-BE49-F238E27FC236}">
                <a16:creationId xmlns:a16="http://schemas.microsoft.com/office/drawing/2014/main" id="{D8EFCDC6-C3D5-433D-9385-0B4F70A3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1010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8616B"/>
                </a:solidFill>
                <a:latin typeface="Noto Sans CJK SC"/>
                <a:ea typeface="Noto Sans CJK SC"/>
                <a:cs typeface="Noto Sans CJK SC"/>
              </a:rPr>
              <a:t>阈值0.95的0/10错误不能作为部署保证；小样本风险曲线不必单调</a:t>
            </a:r>
          </a:p>
        </p:txBody>
      </p:sp>
    </p:spTree>
    <p:extLst>
      <p:ext uri="{BB962C8B-B14F-4D97-AF65-F5344CB8AC3E}">
        <p14:creationId xmlns:p14="http://schemas.microsoft.com/office/powerpoint/2010/main" val="933649003"/>
      </p:ext>
    </p:extLst>
  </p:cSld>
</p:sld>
</file>

<file path=ppt/theme/ref_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2026-10-05T16:25:42.2970000Z</dcterms:created>
  <dcterms:modified xsi:type="dcterms:W3CDTF">2026-10-05T16:25:42.2970000Z</dcterms:modified>
</coreProperties>
</file>